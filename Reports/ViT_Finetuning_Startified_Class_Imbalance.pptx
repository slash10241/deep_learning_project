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Probe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100%</c:v>
                </c:pt>
                <c:pt idx="1">
                  <c:v>50%</c:v>
                </c:pt>
                <c:pt idx="2">
                  <c:v>25%</c:v>
                </c:pt>
                <c:pt idx="3">
                  <c:v>10%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91.61</c:v>
                </c:pt>
                <c:pt idx="1">
                  <c:v>90.81</c:v>
                </c:pt>
                <c:pt idx="2">
                  <c:v>89.47</c:v>
                </c:pt>
                <c:pt idx="3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5-4F22-B988-3D33281D62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 Unfreeze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100%</c:v>
                </c:pt>
                <c:pt idx="1">
                  <c:v>50%</c:v>
                </c:pt>
                <c:pt idx="2">
                  <c:v>25%</c:v>
                </c:pt>
                <c:pt idx="3">
                  <c:v>10%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92.46</c:v>
                </c:pt>
                <c:pt idx="1">
                  <c:v>91.23</c:v>
                </c:pt>
                <c:pt idx="2">
                  <c:v>89.41</c:v>
                </c:pt>
                <c:pt idx="3">
                  <c:v>85.64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5-4F22-B988-3D33281D62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Gradual (3 blk)</c:v>
                </c:pt>
              </c:strCache>
            </c:strRef>
          </c:tx>
          <c:spPr>
            <a:solidFill>
              <a:srgbClr val="5B2D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100%</c:v>
                </c:pt>
                <c:pt idx="1">
                  <c:v>50%</c:v>
                </c:pt>
                <c:pt idx="2">
                  <c:v>25%</c:v>
                </c:pt>
                <c:pt idx="3">
                  <c:v>10%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92.3</c:v>
                </c:pt>
                <c:pt idx="1">
                  <c:v>91.43</c:v>
                </c:pt>
                <c:pt idx="2">
                  <c:v>90.05</c:v>
                </c:pt>
                <c:pt idx="3">
                  <c:v>87.15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45-4F22-B988-3D33281D62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4"/>
          <c:min val="83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wd_standard (1e-4)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 10%</c:v>
                </c:pt>
                <c:pt idx="1">
                  <c:v>Linear 25%</c:v>
                </c:pt>
                <c:pt idx="2">
                  <c:v>Linear 50%</c:v>
                </c:pt>
                <c:pt idx="3">
                  <c:v>Sim 10%</c:v>
                </c:pt>
                <c:pt idx="4">
                  <c:v>Sim 25%</c:v>
                </c:pt>
                <c:pt idx="5">
                  <c:v>Sim 50%</c:v>
                </c:pt>
                <c:pt idx="6">
                  <c:v>Gradual 10%</c:v>
                </c:pt>
                <c:pt idx="7">
                  <c:v>Gradual 25%</c:v>
                </c:pt>
                <c:pt idx="8">
                  <c:v>Gradual 50%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87.67</c:v>
                </c:pt>
                <c:pt idx="1">
                  <c:v>89.24</c:v>
                </c:pt>
                <c:pt idx="2">
                  <c:v>90.59</c:v>
                </c:pt>
                <c:pt idx="3">
                  <c:v>85.61</c:v>
                </c:pt>
                <c:pt idx="4">
                  <c:v>89.32</c:v>
                </c:pt>
                <c:pt idx="5">
                  <c:v>91.47</c:v>
                </c:pt>
                <c:pt idx="6">
                  <c:v>87.03</c:v>
                </c:pt>
                <c:pt idx="7">
                  <c:v>90.44</c:v>
                </c:pt>
                <c:pt idx="8">
                  <c:v>91.64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85-48D5-AF20-09CC9C8954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wd_strong (1e-2)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 10%</c:v>
                </c:pt>
                <c:pt idx="1">
                  <c:v>Linear 25%</c:v>
                </c:pt>
                <c:pt idx="2">
                  <c:v>Linear 50%</c:v>
                </c:pt>
                <c:pt idx="3">
                  <c:v>Sim 10%</c:v>
                </c:pt>
                <c:pt idx="4">
                  <c:v>Sim 25%</c:v>
                </c:pt>
                <c:pt idx="5">
                  <c:v>Sim 50%</c:v>
                </c:pt>
                <c:pt idx="6">
                  <c:v>Gradual 10%</c:v>
                </c:pt>
                <c:pt idx="7">
                  <c:v>Gradual 25%</c:v>
                </c:pt>
                <c:pt idx="8">
                  <c:v>Gradual 50%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87.34</c:v>
                </c:pt>
                <c:pt idx="1">
                  <c:v>89.7</c:v>
                </c:pt>
                <c:pt idx="2">
                  <c:v>91.03</c:v>
                </c:pt>
                <c:pt idx="3">
                  <c:v>85.67</c:v>
                </c:pt>
                <c:pt idx="4">
                  <c:v>89.5</c:v>
                </c:pt>
                <c:pt idx="5">
                  <c:v>91</c:v>
                </c:pt>
                <c:pt idx="6">
                  <c:v>87.27</c:v>
                </c:pt>
                <c:pt idx="7">
                  <c:v>89.67</c:v>
                </c:pt>
                <c:pt idx="8">
                  <c:v>91.22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85-48D5-AF20-09CC9C8954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3"/>
          <c:min val="83"/>
        </c:scaling>
        <c:delete val="0"/>
        <c:axPos val="b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Augmentation</c:v>
                </c:pt>
              </c:strCache>
            </c:strRef>
          </c:tx>
          <c:spPr>
            <a:solidFill>
              <a:srgbClr val="8FA3B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
Baseline</c:v>
                </c:pt>
                <c:pt idx="1">
                  <c:v>Linear
Weighted CE</c:v>
                </c:pt>
                <c:pt idx="2">
                  <c:v>Linear
Oversampling</c:v>
                </c:pt>
                <c:pt idx="3">
                  <c:v>Sim
Baseline</c:v>
                </c:pt>
                <c:pt idx="4">
                  <c:v>Sim
Weighted CE</c:v>
                </c:pt>
                <c:pt idx="5">
                  <c:v>Sim
Oversampling</c:v>
                </c:pt>
                <c:pt idx="6">
                  <c:v>Gradual
Baseline</c:v>
                </c:pt>
                <c:pt idx="7">
                  <c:v>Gradual
Weighted CE</c:v>
                </c:pt>
                <c:pt idx="8">
                  <c:v>Gradual
Oversampling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88.93</c:v>
                </c:pt>
                <c:pt idx="1">
                  <c:v>88.44</c:v>
                </c:pt>
                <c:pt idx="2">
                  <c:v>90.24</c:v>
                </c:pt>
                <c:pt idx="3">
                  <c:v>88.63</c:v>
                </c:pt>
                <c:pt idx="4">
                  <c:v>89.64</c:v>
                </c:pt>
                <c:pt idx="5">
                  <c:v>89.26</c:v>
                </c:pt>
                <c:pt idx="6">
                  <c:v>91.09</c:v>
                </c:pt>
                <c:pt idx="7">
                  <c:v>89.51</c:v>
                </c:pt>
                <c:pt idx="8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0C-438D-926F-B4623EF16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Augmentation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
Baseline</c:v>
                </c:pt>
                <c:pt idx="1">
                  <c:v>Linear
Weighted CE</c:v>
                </c:pt>
                <c:pt idx="2">
                  <c:v>Linear
Oversampling</c:v>
                </c:pt>
                <c:pt idx="3">
                  <c:v>Sim
Baseline</c:v>
                </c:pt>
                <c:pt idx="4">
                  <c:v>Sim
Weighted CE</c:v>
                </c:pt>
                <c:pt idx="5">
                  <c:v>Sim
Oversampling</c:v>
                </c:pt>
                <c:pt idx="6">
                  <c:v>Gradual
Baseline</c:v>
                </c:pt>
                <c:pt idx="7">
                  <c:v>Gradual
Weighted CE</c:v>
                </c:pt>
                <c:pt idx="8">
                  <c:v>Gradual
Oversampling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89.21</c:v>
                </c:pt>
                <c:pt idx="1">
                  <c:v>89.18</c:v>
                </c:pt>
                <c:pt idx="2">
                  <c:v>89.92</c:v>
                </c:pt>
                <c:pt idx="3">
                  <c:v>90.57</c:v>
                </c:pt>
                <c:pt idx="4">
                  <c:v>90.19</c:v>
                </c:pt>
                <c:pt idx="5">
                  <c:v>90.3</c:v>
                </c:pt>
                <c:pt idx="6">
                  <c:v>90.3</c:v>
                </c:pt>
                <c:pt idx="7">
                  <c:v>89.64</c:v>
                </c:pt>
                <c:pt idx="8">
                  <c:v>90.68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0C-438D-926F-B4623EF164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87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89.21</c:v>
                </c:pt>
                <c:pt idx="1">
                  <c:v>90.57</c:v>
                </c:pt>
                <c:pt idx="2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0-4306-8444-F9577FADD8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CE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89.18</c:v>
                </c:pt>
                <c:pt idx="1">
                  <c:v>90.19</c:v>
                </c:pt>
                <c:pt idx="2">
                  <c:v>89.64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0-4306-8444-F9577FADD8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Oversampling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89.92</c:v>
                </c:pt>
                <c:pt idx="1">
                  <c:v>90.3</c:v>
                </c:pt>
                <c:pt idx="2">
                  <c:v>90.68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D0-4306-8444-F9577FADD8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1.5"/>
          <c:min val="88.5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Dog breeds avg F1</c:v>
                </c:pt>
              </c:strCache>
            </c:strRef>
          </c:tx>
          <c:spPr>
            <a:solidFill>
              <a:srgbClr val="E8913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Grad-OS</c:v>
                </c:pt>
                <c:pt idx="1">
                  <c:v>Grad-WCE</c:v>
                </c:pt>
                <c:pt idx="2">
                  <c:v>Grad-Base</c:v>
                </c:pt>
                <c:pt idx="3">
                  <c:v>Sim-OS</c:v>
                </c:pt>
                <c:pt idx="4">
                  <c:v>Sim-WCE</c:v>
                </c:pt>
                <c:pt idx="5">
                  <c:v>Sim-Base</c:v>
                </c:pt>
                <c:pt idx="6">
                  <c:v>Lin-OS</c:v>
                </c:pt>
                <c:pt idx="7">
                  <c:v>Lin-WCE</c:v>
                </c:pt>
                <c:pt idx="8">
                  <c:v>Lin-Base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0.93769999999999998</c:v>
                </c:pt>
                <c:pt idx="1">
                  <c:v>0.93130000000000002</c:v>
                </c:pt>
                <c:pt idx="2">
                  <c:v>0.93640000000000001</c:v>
                </c:pt>
                <c:pt idx="3">
                  <c:v>0.93</c:v>
                </c:pt>
                <c:pt idx="4">
                  <c:v>0.94</c:v>
                </c:pt>
                <c:pt idx="5">
                  <c:v>0.9385</c:v>
                </c:pt>
                <c:pt idx="6">
                  <c:v>0.9375</c:v>
                </c:pt>
                <c:pt idx="7">
                  <c:v>0.93369999999999997</c:v>
                </c:pt>
                <c:pt idx="8">
                  <c:v>0.93559999999999999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AA-470B-9377-1E41AC2FDF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 breeds avg F1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Grad-OS</c:v>
                </c:pt>
                <c:pt idx="1">
                  <c:v>Grad-WCE</c:v>
                </c:pt>
                <c:pt idx="2">
                  <c:v>Grad-Base</c:v>
                </c:pt>
                <c:pt idx="3">
                  <c:v>Sim-OS</c:v>
                </c:pt>
                <c:pt idx="4">
                  <c:v>Sim-WCE</c:v>
                </c:pt>
                <c:pt idx="5">
                  <c:v>Sim-Base</c:v>
                </c:pt>
                <c:pt idx="6">
                  <c:v>Lin-OS</c:v>
                </c:pt>
                <c:pt idx="7">
                  <c:v>Lin-WCE</c:v>
                </c:pt>
                <c:pt idx="8">
                  <c:v>Lin-Base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0.83679999999999999</c:v>
                </c:pt>
                <c:pt idx="1">
                  <c:v>0.82189999999999996</c:v>
                </c:pt>
                <c:pt idx="2">
                  <c:v>0.82750000000000001</c:v>
                </c:pt>
                <c:pt idx="3">
                  <c:v>0.84209999999999996</c:v>
                </c:pt>
                <c:pt idx="4">
                  <c:v>0.81859999999999999</c:v>
                </c:pt>
                <c:pt idx="5">
                  <c:v>0.83240000000000003</c:v>
                </c:pt>
                <c:pt idx="6">
                  <c:v>0.81479999999999997</c:v>
                </c:pt>
                <c:pt idx="7">
                  <c:v>0.79930000000000001</c:v>
                </c:pt>
                <c:pt idx="8">
                  <c:v>0.79469999999999996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AA-470B-9377-1E41AC2FD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7"/>
          <c:min val="0.75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0.80900000000000005</c:v>
                </c:pt>
                <c:pt idx="1">
                  <c:v>0.79200000000000004</c:v>
                </c:pt>
                <c:pt idx="2">
                  <c:v>0.72199999999999998</c:v>
                </c:pt>
                <c:pt idx="3">
                  <c:v>0.876</c:v>
                </c:pt>
                <c:pt idx="4">
                  <c:v>0.81</c:v>
                </c:pt>
                <c:pt idx="5">
                  <c:v>0.83599999999999997</c:v>
                </c:pt>
                <c:pt idx="6">
                  <c:v>0.86499999999999999</c:v>
                </c:pt>
                <c:pt idx="7">
                  <c:v>0.93300000000000005</c:v>
                </c:pt>
                <c:pt idx="8">
                  <c:v>0.64500000000000002</c:v>
                </c:pt>
                <c:pt idx="9">
                  <c:v>0.79300000000000004</c:v>
                </c:pt>
                <c:pt idx="10">
                  <c:v>0.91200000000000003</c:v>
                </c:pt>
                <c:pt idx="11">
                  <c:v>0.995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9A-425F-8B25-B629693D95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CE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0.81399999999999995</c:v>
                </c:pt>
                <c:pt idx="1">
                  <c:v>0.69099999999999995</c:v>
                </c:pt>
                <c:pt idx="2">
                  <c:v>0.76600000000000001</c:v>
                </c:pt>
                <c:pt idx="3">
                  <c:v>0.88</c:v>
                </c:pt>
                <c:pt idx="4">
                  <c:v>0.79</c:v>
                </c:pt>
                <c:pt idx="5">
                  <c:v>0.81</c:v>
                </c:pt>
                <c:pt idx="6">
                  <c:v>0.81200000000000006</c:v>
                </c:pt>
                <c:pt idx="7">
                  <c:v>0.91200000000000003</c:v>
                </c:pt>
                <c:pt idx="8">
                  <c:v>0.65900000000000003</c:v>
                </c:pt>
                <c:pt idx="9">
                  <c:v>0.754</c:v>
                </c:pt>
                <c:pt idx="10">
                  <c:v>0.95</c:v>
                </c:pt>
                <c:pt idx="11">
                  <c:v>0.98499999999999999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9A-425F-8B25-B629693D95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Oversampling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0.85899999999999999</c:v>
                </c:pt>
                <c:pt idx="1">
                  <c:v>0.81599999999999995</c:v>
                </c:pt>
                <c:pt idx="2">
                  <c:v>0.73399999999999999</c:v>
                </c:pt>
                <c:pt idx="3">
                  <c:v>0.89600000000000002</c:v>
                </c:pt>
                <c:pt idx="4">
                  <c:v>0.81</c:v>
                </c:pt>
                <c:pt idx="5">
                  <c:v>0.878</c:v>
                </c:pt>
                <c:pt idx="6">
                  <c:v>0.85399999999999998</c:v>
                </c:pt>
                <c:pt idx="7">
                  <c:v>0.93100000000000005</c:v>
                </c:pt>
                <c:pt idx="8">
                  <c:v>0.65</c:v>
                </c:pt>
                <c:pt idx="9">
                  <c:v>0.79100000000000004</c:v>
                </c:pt>
                <c:pt idx="10">
                  <c:v>0.91500000000000004</c:v>
                </c:pt>
                <c:pt idx="11">
                  <c:v>0.97099999999999997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9A-425F-8B25-B629693D9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5000000000000004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2004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32004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32004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32004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2004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978408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978408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978408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978408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978408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636776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636776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636776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1636776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36776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295144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295144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2295144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2295144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295144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953512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2953512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953512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2953512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2953512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61188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361188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61188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361188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611880"/>
            <a:ext cx="91440" cy="91440"/>
          </a:xfrm>
          <a:prstGeom prst="ellipse">
            <a:avLst/>
          </a:prstGeom>
          <a:solidFill>
            <a:srgbClr val="5BA4CF">
              <a:alpha val="45000"/>
            </a:srgbClr>
          </a:solidFill>
          <a:ln w="12700">
            <a:solidFill>
              <a:srgbClr val="5BA4CF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502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ViT Fine-Tuning Analysis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75488" y="111556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Oxford-IIIT Pet Dataset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5488" y="1554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1"/>
                </a:solidFill>
              </a:rPr>
              <a:t>Part II: Limited Data &amp; Class Imbalance Studies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5488" y="1993392"/>
            <a:ext cx="2011680" cy="0"/>
          </a:xfrm>
          <a:prstGeom prst="line">
            <a:avLst/>
          </a:prstGeom>
          <a:noFill/>
          <a:ln w="19050">
            <a:solidFill>
              <a:srgbClr val="0E8A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2212848"/>
            <a:ext cx="55778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162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2267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Limited Data (10%–100%)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" y="25420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How performance degrades with fewer labels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" y="3017520"/>
            <a:ext cx="55778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162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072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L2 Regularisation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1792" y="33467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Whether stronger decay helps small sets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" y="3822192"/>
            <a:ext cx="5577840" cy="658368"/>
          </a:xfrm>
          <a:prstGeom prst="rect">
            <a:avLst/>
          </a:prstGeom>
          <a:solidFill>
            <a:srgbClr val="162B45"/>
          </a:solidFill>
          <a:ln w="12700">
            <a:solidFill>
              <a:srgbClr val="162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877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🐱 Class Imbalance (20% cats)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1792" y="41513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Baseline, weighted CE, oversampling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Model: vit_base_patch16_224  |  3 Training Strategies Compared  |  All numbers verified against experiment CSVs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Data Study — Setup &amp; Key Numbers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Stratified subsets preserve class proportions at every fraction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2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~5,900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Full train set (100%)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~1,472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 subset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7D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~736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 subset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 subset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1938528"/>
            <a:ext cx="411480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1938528"/>
            <a:ext cx="4114800" cy="27249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011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Experimental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237744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Data fractions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100%, 50%, 25%, 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L2 regimes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2743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wd_standard (1e-4), wd_strong (1e-2)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10896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Methods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65960" y="3108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Linear Probe, Sim Unfreeze, Gradual (3 blocks)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Aug experiments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4 selected per fraction (no_augs, basic, erasing_jitter_low/high)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4048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Val / Test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65960" y="38404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Always full unmodified splits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Stratification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65960" y="4206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StratifiedShuffleSplit on breed labels (37 classes)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938528"/>
            <a:ext cx="397764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938528"/>
            <a:ext cx="3977640" cy="27249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20116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Drops (avg accuracy 100%→10%)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2423160"/>
            <a:ext cx="397764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468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FA4"/>
                </a:solidFill>
              </a:rPr>
              <a:t>Linear Probe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91.61% → 87.50%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6609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−4.11 pp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54880" y="3081528"/>
            <a:ext cx="397764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1272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A7B"/>
                </a:solidFill>
              </a:rPr>
              <a:t>Sim Unfreeze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355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92.46% → 85.64%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0664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−6.83 pp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754880" y="3739896"/>
            <a:ext cx="3977640" cy="594360"/>
          </a:xfrm>
          <a:prstGeom prst="rect">
            <a:avLst/>
          </a:prstGeom>
          <a:solidFill>
            <a:srgbClr val="D9C8F0"/>
          </a:solidFill>
          <a:ln w="12700">
            <a:solidFill>
              <a:srgbClr val="D9C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785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Gradual (3 blk)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40142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92.30% → 87.15%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3977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−5.15 pp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892040" y="42245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D0E"/>
                </a:solidFill>
              </a:rPr>
              <a:t>⚡ Sim Unfreeze is most sensitive to data size (−6.83 pp)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Accuracy vs. Training Data Fraction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All three methods degrade — but at different rates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3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00584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005840"/>
            <a:ext cx="251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005840"/>
            <a:ext cx="2514600" cy="37490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0789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Observations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517904"/>
            <a:ext cx="109728" cy="109728"/>
          </a:xfrm>
          <a:prstGeom prst="ellipse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8816" y="1463040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Sim Unfreeze highest at 100% (92.46%) but steepest drop to 10% (85.64%)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55080" y="2139696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28816" y="2084832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most stable at low data — best at 25% (90.05%) and 10% (87.15%)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55080" y="2761488"/>
            <a:ext cx="109728" cy="10972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8816" y="270662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Probe most consistent decline, smallest absolute drop (−4.11 pp)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3383280"/>
            <a:ext cx="109728" cy="109728"/>
          </a:xfrm>
          <a:prstGeom prst="ellipse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8816" y="3328416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All methods within 1.5 pp at 100%, gap widens to 1.86 pp at 10%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4005072"/>
            <a:ext cx="109728" cy="109728"/>
          </a:xfrm>
          <a:prstGeom prst="ellipse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28816" y="395020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10% = 294 samples — stratification ensures ≥1 sample per breed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 Benefit Across Data Fractions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Does augmentation matter more when data is scarce?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4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8412480" cy="28346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87552"/>
            <a:ext cx="91440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89888" y="987552"/>
            <a:ext cx="5029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9875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Frac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11096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96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no_augs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52344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basic_augs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93592" y="987552"/>
            <a:ext cx="8686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9875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aug acc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987552"/>
            <a:ext cx="23317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98755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config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30568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Gain (no→best)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131673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31673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89888" y="131673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9888" y="13167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11096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11096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52344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91.61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93592" y="131673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131673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92.04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131673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131673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30568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0568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+0.84 pp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163677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63677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89888" y="163677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89888" y="163677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11096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11096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90.19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52344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93592" y="163677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93592" y="163677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91.47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163677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163677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erasing+jitter+cutmix_low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30568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+1.28 pp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195681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195681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89888" y="195681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89888" y="195681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11096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1096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88.66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52344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52344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89.53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93592" y="195681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93592" y="195681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89.53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80560" y="195681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195681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basic_augs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30568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30568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+0.87 pp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227685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227685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89888" y="227685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89888" y="227685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911096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11096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87.16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52344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52344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87.74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593592" y="227685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93592" y="227685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88.44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480560" y="227685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227685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erasing+jitter+cutmix_high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830568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30568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+1.28 pp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259689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259689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389888" y="259689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389888" y="259689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911096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11096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91.50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52344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52344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92.26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593592" y="259689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93592" y="259689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93.16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480560" y="259689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259689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 (no aug wins!)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30568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30568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+1.66 pp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7200" y="291693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291693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89888" y="291693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389888" y="29169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911096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11096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52344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52344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593592" y="291693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593592" y="291693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91.85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480560" y="291693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80560" y="291693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830568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30568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</a:rPr>
              <a:t>+0.00 pp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57200" y="323697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323697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89888" y="323697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389888" y="323697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911096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911096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752344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752344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593592" y="323697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93592" y="323697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480560" y="323697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80560" y="323697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830568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30568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</a:rPr>
              <a:t>+0.00 pp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57200" y="355701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355701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389888" y="355701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389888" y="355701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911096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911096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86.64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752344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752344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86.45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593592" y="355701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593592" y="355701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87.54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480560" y="355701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480560" y="355701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erasing+jitter+cutmix_low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6830568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30568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+0.90 pp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365760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65760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365760" y="3950208"/>
            <a:ext cx="54864" cy="8961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3776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Probe: augs consistently help (+0.84–1.28 pp). Benefit roughly stable across fractions.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182112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82112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3182112" y="3950208"/>
            <a:ext cx="54864" cy="8961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10128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Gradual: no_augs wins at 100%–25% (pretrained features + phased unfreezing already regularises). Augs help only at 10%.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998464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98464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5998464" y="3950208"/>
            <a:ext cx="54864" cy="89611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26480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Augmentation becomes critical for all methods only at 10% data, where the model is most at risk of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Regularisation: Standard (1e-4) vs Strong (1e-2)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Does stronger weight decay help when training data is limited?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5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00584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005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005840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078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 Strong L2 helps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25%: +0.46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50%: +0.44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Sim @ 25%: +0.18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10%: +0.24 pp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63640" y="2304288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2304288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2377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A2A"/>
                </a:solidFill>
              </a:rPr>
              <a:t>✗ Strong L2 hurts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670048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25%: −0.77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50%: −0.42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Sim @ 50%: −0.47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10%: −0.33 pp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63640" y="3602736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3602736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D0E"/>
                </a:solidFill>
              </a:rPr>
              <a:t>⚡ Verdict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968496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Benefits are small and inconsistent. Gradual Unfreeze already regularises through phased unfreezing — extra L2 is mostly redundant or harmful.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Data — Summary &amp; Conclusions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3 strategies × 4 fractions × aug + L2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6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4160520" cy="126187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24128"/>
            <a:ext cx="54864" cy="1261872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7B"/>
                </a:solidFill>
              </a:rPr>
              <a:t>Gradual Unfreeze is most robust to data reduction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142646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Best avg at 10% (87.15%) and 25% (90.05%). The phased unfreezing schedule acts as built-in regularisation. Recommended strategy for limited-data regimes.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2412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24128"/>
            <a:ext cx="4160520" cy="126187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24128"/>
            <a:ext cx="54864" cy="12618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</a:rPr>
              <a:t>Linear Probe degrades most gracefully (−4.11 pp)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42646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Freezing all backbone layers prevents overfitting on small datasets. A strong choice when labelled data is very scarce — less than 10% of training 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41448"/>
            <a:ext cx="4160520" cy="126187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41448"/>
            <a:ext cx="54864" cy="1261872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532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A2A"/>
                </a:solidFill>
              </a:rPr>
              <a:t>Simultaneous Unfreeze is most data-hungry (−6.83 pp drop)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284378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Unfreezing multiple blocks at once amplifies overfitting risk when data is limited. Avoid at 10–25% unless paired with aggressive augmentation and strong regularisation.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414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441448"/>
            <a:ext cx="4160520" cy="126187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41448"/>
            <a:ext cx="54864" cy="126187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532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D0E"/>
                </a:solidFill>
              </a:rPr>
              <a:t>Augmentation benefit is method-dependent and fraction-dependent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284378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Linear Probe gains consistently from augmentation at all fractions. Gradual Unfreeze only benefits at 10% — the phased schedule is sufficient regularisation above that. aug helps most where the training loop provides least regularisation.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58768"/>
            <a:ext cx="8412480" cy="126187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858768"/>
            <a:ext cx="54864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95020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</a:rPr>
              <a:t>Strong L2 (1e-2) gives small and inconsistent gains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" y="4261104"/>
            <a:ext cx="81838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No method benefits reliably from wd=1e-2 across all fractions. Gradual Unfreeze is hurt at 25–50%. Not recommended as a primary strategy — prefer augmentation over stronger L2.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II: Fine-Tuning with Class Imbalance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</a:rPr>
              <a:t>Oxford-IIIT Pet — 20% cat-breed training images retained (all dog images kept)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4572000" cy="36576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76272"/>
            <a:ext cx="8229600" cy="566928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311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D0E"/>
                </a:solidFill>
              </a:rPr>
              <a:t>📊  Aug Effect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2311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</a:rPr>
              <a:t>Does augmentation help or hurt imbalanced training?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8229600" cy="566928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9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D0E"/>
                </a:solidFill>
              </a:rPr>
              <a:t>🔀  Training Strategy Comparison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89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</a:rPr>
              <a:t>Linear Probe vs Sim vs Gradual × 3 strategies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93008"/>
            <a:ext cx="8229600" cy="566928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47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D0E"/>
                </a:solidFill>
              </a:rPr>
              <a:t>🐱  Per-Class Cat Breed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547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</a:rPr>
              <a:t>Which breeds recover — and which don't?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151376"/>
            <a:ext cx="8229600" cy="566928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D0E"/>
                </a:solidFill>
              </a:rPr>
              <a:t>📋  Summary &amp; 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206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</a:rPr>
              <a:t>Best combination for imbalanced 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7731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4A0"/>
                </a:solidFill>
              </a:rPr>
              <a:t>Model: vit_base_patch16_224  |  Aug: basic_augs_rnd_erase_jitter  |  All numbers verified from CSVs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 of Augmentation on Imbalanced Training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no_augs vs basic_augs_rnd_erase_jitter  ·  All strategies  ·  20% cat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8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01330262"/>
              </p:ext>
            </p:extLst>
          </p:nvPr>
        </p:nvGraphicFramePr>
        <p:xfrm>
          <a:off x="274320" y="868680"/>
          <a:ext cx="5486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68680"/>
            <a:ext cx="288036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868680"/>
            <a:ext cx="28803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8686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Aug Δ (aug − no_aug)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1261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03720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No Aug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35240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+ Aug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148132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5179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Lin/Base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931152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88.9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607808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84464" y="151790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+0.28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1819656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8562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Lin/WCE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31152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07808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84464" y="185623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+0.74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2157984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1945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931152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90.2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607808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89.9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84464" y="219456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52A2A"/>
                </a:solidFill>
              </a:rPr>
              <a:t>-0.32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2496312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2532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Sim/Base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931152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07808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84464" y="2532888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+1.94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89320" y="2834640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35040" y="28712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Sim/WCE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931152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89.6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607808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84464" y="2871216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+0.55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989320" y="3172968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35040" y="32095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Sim/OS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31152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89.3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607808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90.3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284464" y="320954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+1.04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989320" y="3511296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35040" y="35478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Grad/Base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31152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91.1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607808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90.3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84464" y="354787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-0.79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989320" y="3849624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35040" y="38862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Grad/WCE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931152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89.5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607808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89.6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284464" y="388620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+0.13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989320" y="4187952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035040" y="42245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Grad/OS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931152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90.3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607808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90.7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284464" y="4224528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+0.38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Key finding: Augmentation most benefits Sim Unfreeze (up to +1.94pp for baseline) and has mixed effects on Gradual (−0.79pp for baseline, which already regularises via phased unfreezing). Linear Probe sees modest gains.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Type × Strategy: Accuracy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only  ·  20% cat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9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029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868680"/>
            <a:ext cx="3383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868680"/>
            <a:ext cx="338328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868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 / Dog F1 Gap (aug only)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32120" y="1261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550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Cat F1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0408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Dog F1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266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Gap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0" y="1481328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15179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Lin/Base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327648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0.795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22592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0.936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17536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0.141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1819656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18562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Lin/WCE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27648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0.799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022592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717536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0.134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0" y="2157984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32120" y="21945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Lin/OS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327648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0.815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022592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17536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0.123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0" y="2496312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2532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Sim/Base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0.832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022592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0.939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17536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0.106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0" y="283464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32120" y="28712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Sim/WCE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327648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0.819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022592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0.940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17536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0.121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86400" y="3172968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2120" y="320954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Sim/OS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7648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0.842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022592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17536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0.088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486400" y="3511296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32120" y="35478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Grad/Base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327648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0.828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22592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0.936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717536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0.109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486400" y="3849624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3212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Grad/WCE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327648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0.822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022592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717536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0.109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486400" y="4187952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32120" y="4224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Grad/OS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327648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0.837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022592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0.938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717536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0.101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</a:rPr>
              <a:t>★  Best overall accuracy: Gradual+Oversampling (90.68%)   ★  Smallest cat-dog gap: Sim+Oversampling (0.088)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Per-Class Analysis: Cat vs Dog Breed F1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 ·  Avg over 12 cat breeds vs 25 dog breeds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10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486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68680"/>
            <a:ext cx="2880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868680"/>
            <a:ext cx="64008" cy="896112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923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A7B"/>
                </a:solidFill>
              </a:rPr>
              <a:t>Best cat recovery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44768" y="1179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Sim+Oversampling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44768" y="14721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4A0"/>
                </a:solidFill>
              </a:rPr>
              <a:t>cat F1 = 0.842 (gap = 0.088)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1856232"/>
            <a:ext cx="2880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856232"/>
            <a:ext cx="64008" cy="896112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19110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2A2A"/>
                </a:solidFill>
              </a:rPr>
              <a:t>Worst cat gap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44768" y="2167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Linear+Baseline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44768" y="245973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4A0"/>
                </a:solidFill>
              </a:rPr>
              <a:t>cat F1 = 0.795 (gap = 0.141)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2880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843784"/>
            <a:ext cx="64008" cy="8961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289864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Most consistent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44768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Gradual (all strats)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44768" y="34472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4A0"/>
                </a:solidFill>
              </a:rPr>
              <a:t>cat F1 range: 0.822–0.837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89320" y="3831336"/>
            <a:ext cx="2880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89320" y="3831336"/>
            <a:ext cx="64008" cy="89611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44768" y="38862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D0E"/>
                </a:solidFill>
              </a:rPr>
              <a:t>Cat-dog gap persists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44768" y="4142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Min gap = 0.088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44768" y="443484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4A0"/>
                </a:solidFill>
              </a:rPr>
              <a:t>Even best strategy still ~0.09 gap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Cat breeds suffer a persistent F1 deficit (~0.09–0.14) vs dog breeds across all methods and strategies — the imbalance is a fundamentally harder problem than species-level accuracy suggests.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Cat Breed F1: Sim Unfreeze (aug only)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 ·  Baseline 90.57%  WCE 90.19%  Oversampling 90.30%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11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804672"/>
          <a:ext cx="8595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Ragdoll and Bengal remain lowest across all strategies. Oversampling helps Bengal (+0.024) most. WCE helps Siamese (+0.038) and Birman (+0.044) but hurts Bengal (−0.101).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Top-3 Improved &amp; Deteriorated per Strategy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 ·  vs Baseline within each training type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12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41648" cy="310896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Weighted CE vs 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25296"/>
            <a:ext cx="54864" cy="11704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261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</a:rPr>
              <a:t>Linear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1499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Abyssinian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13432" y="1536192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153619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+0.074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8056" y="1764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Ragdoll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13432" y="1801368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180136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+0.029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" y="20299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Bengal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13432" y="2066544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206654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26664" y="14996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Birman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42232" y="1536192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5361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26664" y="17647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Am.Pit.Bull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42232" y="1801368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80136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26664" y="20299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Siamese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42232" y="2066544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06654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-0.029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487168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487168"/>
            <a:ext cx="54864" cy="1170432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2523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7B"/>
                </a:solidFill>
              </a:rPr>
              <a:t>Sim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" y="2761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Birman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313432" y="2798064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13432" y="27980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" y="30266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Siamese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3063240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3432" y="306324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+0.038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056" y="32918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Beagle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13432" y="3328416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13432" y="332841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+0.037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26664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Bengal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42232" y="2798064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279806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-0.101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26664" y="3026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Maine_Coon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42232" y="3063240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306324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-0.052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26664" y="32918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Russian_Blue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42232" y="3328416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3284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-0.039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749040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3749040"/>
            <a:ext cx="54864" cy="11704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" y="3785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</a:rPr>
              <a:t>Gradual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8056" y="4023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Bombay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13432" y="4059936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13432" y="405993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48056" y="4288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Ragdoll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313432" y="4325112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13432" y="432511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+0.033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8056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Egyptian_Mau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13432" y="4590288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13432" y="45902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+0.032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026664" y="4023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Russian_Blue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142232" y="4059936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60520" y="405993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-0.069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026664" y="42885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Birman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42232" y="4325112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60520" y="432511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-0.050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026664" y="4553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Am.Pit.Bull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42232" y="4590288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60520" y="459028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-0.046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0" y="868680"/>
            <a:ext cx="4041648" cy="310896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868680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Oversampling vs Base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0" y="1225296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1225296"/>
            <a:ext cx="54864" cy="11704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0016" y="1261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</a:rPr>
              <a:t>Linear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700016" y="1499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Abyssinian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565392" y="1536192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65392" y="153619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+0.076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00016" y="1764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Brit.Shorthair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65392" y="1801368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65392" y="180136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700016" y="20299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Ragdoll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565392" y="2066544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65392" y="206654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+0.037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278624" y="14996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Keeshond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394192" y="1536192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0" y="15361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-0.020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278624" y="176479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Samoyed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394192" y="1801368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12480" y="180136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-0.020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78624" y="20299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Wheaten_Terr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8394192" y="2066544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12480" y="206654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-0.016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0" y="2487168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72000" y="2487168"/>
            <a:ext cx="54864" cy="1170432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00016" y="2523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7B"/>
                </a:solidFill>
              </a:rPr>
              <a:t>Sim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700016" y="2761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Abyssinian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565392" y="2798064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65392" y="27980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+0.050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700016" y="30266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Egyptian_Mau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565392" y="3063240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5392" y="306324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700016" y="32918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Bengal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565392" y="3328416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65392" y="332841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+0.024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278624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Am.Bulldog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394192" y="2798064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412480" y="279806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-0.049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278624" y="3026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Boxer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8394192" y="3063240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12480" y="306324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-0.043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278624" y="32918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Stafford.Bull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394192" y="3328416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412480" y="33284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-0.031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572000" y="3749040"/>
            <a:ext cx="404164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572000" y="3749040"/>
            <a:ext cx="54864" cy="11704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700016" y="3785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</a:rPr>
              <a:t>Gradual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00016" y="4023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Egyptian_Mau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565392" y="4059936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565392" y="405993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+0.058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4700016" y="4288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Stafford.Bull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6565392" y="4325112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565392" y="432511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+0.042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4700016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Bengal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6565392" y="4590288"/>
            <a:ext cx="621792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565392" y="45902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+0.041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278624" y="4023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🐶 Am.Pit.Bull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8394192" y="4059936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412480" y="405993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-0.039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7278624" y="42885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Abyssinian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8394192" y="4325112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412480" y="432511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-0.032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7278624" y="4553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🐱 Russian_Blue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8394192" y="4590288"/>
            <a:ext cx="146304" cy="18288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412480" y="459028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2A2A"/>
                </a:solidFill>
              </a:rPr>
              <a:t>-0.030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— Summary &amp; Conclusions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Verified numbers · Aug: basic_augs_rnd_erase_jitter · 20% cat-breed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13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54864" cy="1316736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896112"/>
            <a:ext cx="274320" cy="274320"/>
          </a:xfrm>
          <a:prstGeom prst="rect">
            <a:avLst/>
          </a:prstGeom>
          <a:solidFill>
            <a:srgbClr val="B52A2A"/>
          </a:solidFill>
          <a:ln w="12700">
            <a:solidFill>
              <a:srgbClr val="B5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896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896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A2A"/>
                </a:solidFill>
              </a:rPr>
              <a:t>Cat breeds suffer a persistent F1 deficit (~0.09–0.14 vs dogs)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1225296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Under imbalanced training all 12 cat breeds avg 0.795–0.842 vs 0.930–0.940 for dog breeds. Ragdoll (0.645) and Bengal (0.792) are worst under Sim baseline.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22960"/>
            <a:ext cx="54864" cy="1316736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896112"/>
            <a:ext cx="274320" cy="27432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896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0368" y="896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7B"/>
                </a:solidFill>
              </a:rPr>
              <a:t>Augmentation helps most for Sim Unfreeze (+1.94pp baseline)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2896" y="1225296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Sim baseline jumps from 88.63→90.57% with aug. Gradual baseline slightly hurts (−0.79pp) — phased unfreezing already regularises. Linear sees modest gains (+0.28pp baseline).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49424"/>
            <a:ext cx="54864" cy="1316736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2322576"/>
            <a:ext cx="274320" cy="274320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2322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D0E"/>
                </a:solidFill>
              </a:rPr>
              <a:t>Oversampling is the best single strategy overall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" y="2651760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Gradual+OS achieves highest accuracy (90.68%). Sim+OS achieves smallest cat-dog gap (0.088). Oversampling consistently helps or is neutral across all training types.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49424"/>
            <a:ext cx="54864" cy="13167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2322576"/>
            <a:ext cx="274320" cy="274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322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</a:rPr>
              <a:t>Weighted CE has mixed effects — helps some breeds, hurts others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82896" y="2651760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WCE helps Siamese (+0.038) and Birman (+0.044) under Sim but severely hurts Bengal (−0.101). Not reliable as a universal fix without per-breed tuning.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75888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75888"/>
            <a:ext cx="54864" cy="131673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3749040"/>
            <a:ext cx="27432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</a:rPr>
              <a:t>Gradual Unfreeze most robust baseline under imbalance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" y="4078224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Gradual baseline (90.30%) beats Sim (90.57% with aug, 88.63% without) and Linear (89.21%). Phased unfreezing provides implicit regularisation that limits overfit to majority class.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75888"/>
            <a:ext cx="416052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75888"/>
            <a:ext cx="54864" cy="13167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3749040"/>
            <a:ext cx="2743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Recommendation: Gradual + Oversampling + Augmentation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82896" y="4078224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5166"/>
                </a:solidFill>
              </a:rPr>
              <a:t>Best accuracy (90.68%), good cat recovery (0.837), smallest overall gap. Avoid Weighted CE alone — its class-specific inconsistency makes it unpredictable for 37-class imbalance.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937760"/>
            <a:ext cx="8503920" cy="16459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946904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4A0"/>
                </a:solidFill>
              </a:rPr>
              <a:t>Source: all_experiment_results_{gradual,linear,sim}_class_imbalance.csv — avg/best computed over matching aug experiments. 20% cat-breed per-breed subsampling.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1980</Words>
  <Application>Microsoft Office PowerPoint</Application>
  <PresentationFormat>On-screen Show (16:9)</PresentationFormat>
  <Paragraphs>382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Bhaswat Raj</cp:lastModifiedBy>
  <cp:revision>8</cp:revision>
  <dcterms:modified xsi:type="dcterms:W3CDTF">2026-05-08T08:55:57Z</dcterms:modified>
</cp:coreProperties>
</file>