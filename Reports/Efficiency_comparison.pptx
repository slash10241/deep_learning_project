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Teacher (ViT-Base)</c:v>
                </c:pt>
              </c:strCache>
            </c:strRef>
          </c:tx>
          <c:spPr>
            <a:solidFill>
              <a:srgbClr val="065A82"/>
            </a:solidFill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BS=1</c:v>
                  </c:pt>
                  <c:pt idx="1">
                    <c:v>BS=8</c:v>
                  </c:pt>
                  <c:pt idx="2">
                    <c:v>BS=32</c:v>
                  </c:pt>
                  <c:pt idx="3">
                    <c:v>BS=64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140.6</c:v>
                </c:pt>
                <c:pt idx="1">
                  <c:v>208.6</c:v>
                </c:pt>
                <c:pt idx="2">
                  <c:v>207.5</c:v>
                </c:pt>
                <c:pt idx="3">
                  <c:v>157.8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Student (ViT-Tiny)</c:v>
                </c:pt>
              </c:strCache>
            </c:strRef>
          </c:tx>
          <c:spPr>
            <a:solidFill>
              <a:srgbClr val="0F766E"/>
            </a:solidFill>
            <a:ln w="31750" cap="flat">
              <a:solidFill>
                <a:srgbClr val="0F76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66E"/>
              </a:solidFill>
              <a:ln w="9525" cap="flat">
                <a:solidFill>
                  <a:srgbClr val="0F76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BS=1</c:v>
                  </c:pt>
                  <c:pt idx="1">
                    <c:v>BS=8</c:v>
                  </c:pt>
                  <c:pt idx="2">
                    <c:v>BS=32</c:v>
                  </c:pt>
                  <c:pt idx="3">
                    <c:v>BS=64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155.2</c:v>
                </c:pt>
                <c:pt idx="1">
                  <c:v>1164.9</c:v>
                </c:pt>
                <c:pt idx="2">
                  <c:v>1341.7</c:v>
                </c:pt>
                <c:pt idx="3">
                  <c:v>1404.2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Efficiency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vs Student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Parameters · FLOPs · Latency · Throughput · Memory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91840" y="3703320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47872" y="36393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Teacher — ViT-Base (86M)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0" y="3703320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99632" y="36393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Student — ViT-Tiny (5.6M)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 — parameters, FLOPs, and disk footprint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20040" y="841248"/>
            <a:ext cx="22860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41248"/>
            <a:ext cx="2286000" cy="640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15.2×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20040" y="2121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parameters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42032"/>
            <a:ext cx="1920240" cy="0"/>
          </a:xfrm>
          <a:prstGeom prst="line">
            <a:avLst/>
          </a:prstGeom>
          <a:noFill/>
          <a:ln w="6350">
            <a:solidFill>
              <a:srgbClr val="D0D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066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fewer FLOPs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(16.87G → 1.08G)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33284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6393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smaller on disk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(344 MB → 23 MB)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950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42611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less GPU memory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(361.7 → 35.6 MB)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834640" y="841248"/>
            <a:ext cx="59893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7792" y="84124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25112" y="84124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(ViT-Base)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79592" y="84124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(ViT-Tiny)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34072" y="84124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834640" y="1225296"/>
            <a:ext cx="598932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0DA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07792" y="1353312"/>
            <a:ext cx="1252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Parameters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325112" y="1353312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86.0M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879592" y="1353312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5.6M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434072" y="135331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15.2×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834640" y="1911096"/>
            <a:ext cx="5989320" cy="621792"/>
          </a:xfrm>
          <a:prstGeom prst="rect">
            <a:avLst/>
          </a:prstGeom>
          <a:solidFill>
            <a:srgbClr val="F6F9FB"/>
          </a:solidFill>
          <a:ln w="3810">
            <a:solidFill>
              <a:srgbClr val="D0DA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07792" y="2039112"/>
            <a:ext cx="1252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FLOPs (BS=1)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325112" y="2039112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16.87G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879592" y="2039112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1.08G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434072" y="203911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15.6×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834640" y="2596896"/>
            <a:ext cx="598932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0DA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07792" y="2724912"/>
            <a:ext cx="1252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Disk size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325112" y="2724912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344 MB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879592" y="2724912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23 MB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434072" y="272491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15.2×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834640" y="3282696"/>
            <a:ext cx="5989320" cy="621792"/>
          </a:xfrm>
          <a:prstGeom prst="rect">
            <a:avLst/>
          </a:prstGeom>
          <a:solidFill>
            <a:srgbClr val="F6F9FB"/>
          </a:solidFill>
          <a:ln w="3810">
            <a:solidFill>
              <a:srgbClr val="D0DA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07792" y="3410712"/>
            <a:ext cx="1252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GPU memory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325112" y="3410712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361.7 MB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879592" y="3410712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35.6 MB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434072" y="341071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10.2×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 — single image and small batch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20040" y="841248"/>
            <a:ext cx="40233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41248"/>
            <a:ext cx="402336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=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Teacher mean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97480" y="13716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7.12 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Student mean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16459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6.45 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Speedup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19202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1.1×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Teacher p95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21945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7.69 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468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Student p95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24688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8.58 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Teacher tput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27432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140.6 img/s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017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Student tput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97480" y="30175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155.2 img/s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3749040" cy="146304"/>
          </a:xfrm>
          <a:prstGeom prst="rect">
            <a:avLst/>
          </a:prstGeom>
          <a:solidFill>
            <a:srgbClr val="FFF3E0"/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00400"/>
            <a:ext cx="3749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Near-identical at BS=1 — both ~7ms on GPU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841248"/>
            <a:ext cx="40233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841248"/>
            <a:ext cx="4023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960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= 8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1371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Teacher mean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13716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38.34 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16459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Student mean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0" y="16459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6.87 ms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19202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Speedup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40880" y="19202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5.6×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2194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Teacher p95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0880" y="21945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39.03 ms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2468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Student p95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24688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8.63 ms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2743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Teacher tput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40880" y="27432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208.6 img/s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3017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Student tput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40880" y="30175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1,164.9 img/s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00600" y="3200400"/>
            <a:ext cx="3749040" cy="146304"/>
          </a:xfrm>
          <a:prstGeom prst="rect">
            <a:avLst/>
          </a:prstGeom>
          <a:solidFill>
            <a:srgbClr val="ECFDF5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200400"/>
            <a:ext cx="3749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Diverges fast — student handles parallel batches far better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3493008"/>
            <a:ext cx="850392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75488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BS=1 latencies are close but BS=8+ diverges sharply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5488" y="387705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 BS=1, both models are GPU-bound by kernel launch overhead and memory transfer — the size difference is masked. As batch size grows, the teacher's 16× higher compute per image compounds: 86M parameters × 8 images = 14.5× more arithmetic than the student, and the GPU cannot hide it. The student's 1.08G FLOPs per image scales efficiently; the teacher's 16.87G does not.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scaling — images per second across batch sizes</a:t>
            </a:r>
            <a:endParaRPr lang="en-US" sz="21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20040" y="822960"/>
          <a:ext cx="53035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06440" y="822960"/>
            <a:ext cx="2971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806440" y="822960"/>
            <a:ext cx="297180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34456" y="969264"/>
            <a:ext cx="2715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1.1×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934456" y="1499616"/>
            <a:ext cx="2715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speedup at BS=1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(near-identical)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06440" y="1847088"/>
            <a:ext cx="2971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1847088"/>
            <a:ext cx="29718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34456" y="1993392"/>
            <a:ext cx="2715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5.6×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934456" y="2523744"/>
            <a:ext cx="2715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faster at BS=8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(student advantage emerges)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06440" y="2871216"/>
            <a:ext cx="2971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06440" y="2871216"/>
            <a:ext cx="297180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34456" y="3017520"/>
            <a:ext cx="2715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6.5×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5934456" y="3547872"/>
            <a:ext cx="2715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faster at BS=32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(1,342 vs 208 img/s)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806440" y="3895344"/>
            <a:ext cx="2971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06440" y="3895344"/>
            <a:ext cx="2971800" cy="640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34456" y="4041648"/>
            <a:ext cx="2715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8.9×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5934456" y="4572000"/>
            <a:ext cx="2715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faster at BS=64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(1,404 vs 158 img/s)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percentiles — mean, p50, p95, p99 across batch sizes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85039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82296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490472" y="82296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359152" y="82296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10712" y="82296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70832" y="8229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76672" y="8229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82512" y="8229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207008"/>
            <a:ext cx="8503920" cy="420624"/>
          </a:xfrm>
          <a:prstGeom prst="rect">
            <a:avLst/>
          </a:prstGeom>
          <a:solidFill>
            <a:srgbClr val="EBF3FB"/>
          </a:solidFill>
          <a:ln w="3810">
            <a:solidFill>
              <a:srgbClr val="D0DA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207008"/>
            <a:ext cx="54864" cy="42062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27101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Teacher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08760" y="1271016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1271016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7.12ms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29000" y="127101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7.01ms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89120" y="127101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7.69ms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94960" y="127101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8.37ms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127101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140.6 img/s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1673352"/>
            <a:ext cx="8503920" cy="420624"/>
          </a:xfrm>
          <a:prstGeom prst="rect">
            <a:avLst/>
          </a:prstGeom>
          <a:solidFill>
            <a:srgbClr val="EBF8F2"/>
          </a:solidFill>
          <a:ln w="3810">
            <a:solidFill>
              <a:srgbClr val="D0DA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673352"/>
            <a:ext cx="54864" cy="42062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7373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508760" y="173736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377440" y="173736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6.45ms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29000" y="17373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6.15ms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389120" y="173736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8.58ms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94960" y="173736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9.45ms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0" y="17373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155.2 img/s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2139696"/>
            <a:ext cx="8503920" cy="420624"/>
          </a:xfrm>
          <a:prstGeom prst="rect">
            <a:avLst/>
          </a:prstGeom>
          <a:solidFill>
            <a:srgbClr val="EBF3FB"/>
          </a:solidFill>
          <a:ln w="3810">
            <a:solidFill>
              <a:srgbClr val="D0DA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2139696"/>
            <a:ext cx="54864" cy="42062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220370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Teacher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508760" y="2203704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377440" y="2203704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38.34ms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429000" y="220370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38.38ms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389120" y="220370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39.03ms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94960" y="220370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39.38ms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00800" y="2203704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208.6 img/s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" y="2606040"/>
            <a:ext cx="8503920" cy="420624"/>
          </a:xfrm>
          <a:prstGeom prst="rect">
            <a:avLst/>
          </a:prstGeom>
          <a:solidFill>
            <a:srgbClr val="EBF8F2"/>
          </a:solidFill>
          <a:ln w="3810">
            <a:solidFill>
              <a:srgbClr val="D0DA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2606040"/>
            <a:ext cx="54864" cy="42062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67004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Student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508760" y="267004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377440" y="267004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6.87ms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429000" y="267004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6.77ms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389120" y="267004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8.63ms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394960" y="267004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9.94ms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400800" y="267004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1,164.9 img/s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20040" y="3072384"/>
            <a:ext cx="8503920" cy="420624"/>
          </a:xfrm>
          <a:prstGeom prst="rect">
            <a:avLst/>
          </a:prstGeom>
          <a:solidFill>
            <a:srgbClr val="EBF3FB"/>
          </a:solidFill>
          <a:ln w="3810">
            <a:solidFill>
              <a:srgbClr val="D0DA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3072384"/>
            <a:ext cx="54864" cy="42062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31363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Teacher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508760" y="3136392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32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377440" y="313639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154.2ms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429000" y="313639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149.4ms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389120" y="313639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166.6ms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394960" y="313639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171.6ms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400800" y="313639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207.5 img/s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20040" y="3538728"/>
            <a:ext cx="8503920" cy="420624"/>
          </a:xfrm>
          <a:prstGeom prst="rect">
            <a:avLst/>
          </a:prstGeom>
          <a:solidFill>
            <a:srgbClr val="EBF8F2"/>
          </a:solidFill>
          <a:ln w="3810">
            <a:solidFill>
              <a:srgbClr val="D0DAE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0040" y="3538728"/>
            <a:ext cx="54864" cy="42062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" y="360273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Student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1508760" y="3602736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32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2377440" y="3602736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23.85ms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3429000" y="360273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23.82ms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4389120" y="360273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24.16ms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394960" y="360273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25.18ms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400800" y="36027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1,341.7 img/s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320040" y="4005072"/>
            <a:ext cx="8503920" cy="420624"/>
          </a:xfrm>
          <a:prstGeom prst="rect">
            <a:avLst/>
          </a:prstGeom>
          <a:solidFill>
            <a:srgbClr val="EBF3FB"/>
          </a:solidFill>
          <a:ln w="3810">
            <a:solidFill>
              <a:srgbClr val="D0DAE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0040" y="4005072"/>
            <a:ext cx="54864" cy="42062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1480" y="40690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Teacher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1508760" y="406908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64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2377440" y="406908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405.5ms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3429000" y="406908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409.3ms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4389120" y="40690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453.5ms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394960" y="40690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467.0ms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400800" y="406908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157.8 img/s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320040" y="4471416"/>
            <a:ext cx="8503920" cy="420624"/>
          </a:xfrm>
          <a:prstGeom prst="rect">
            <a:avLst/>
          </a:prstGeom>
          <a:solidFill>
            <a:srgbClr val="EBF8F2"/>
          </a:solidFill>
          <a:ln w="3810">
            <a:solidFill>
              <a:srgbClr val="D0DAE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20040" y="4471416"/>
            <a:ext cx="54864" cy="42062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11480" y="453542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Student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1508760" y="4535424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64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2377440" y="4535424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45.58ms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3429000" y="453542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45.32ms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4389120" y="453542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47.12ms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5394960" y="453542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49.17ms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6400800" y="4535424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1,404.2 img/s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859536"/>
          </a:xfrm>
          <a:prstGeom prst="rect">
            <a:avLst/>
          </a:prstGeom>
          <a:solidFill>
            <a:srgbClr val="FFFFFF">
              <a:alpha val="9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64008" cy="859536"/>
          </a:xfrm>
          <a:prstGeom prst="rect">
            <a:avLst/>
          </a:prstGeom>
          <a:solidFill>
            <a:srgbClr val="7EDDD5"/>
          </a:solidFill>
          <a:ln w="12700">
            <a:solidFill>
              <a:srgbClr val="7EDD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E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24128" y="1051560"/>
            <a:ext cx="7498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E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15× compression with minimal latency penalty at BS=1 (7.12ms → 6.45ms, effectively identical). The teacher's parameter advantage does not translate to single-image speed due to GPU kernel overhead.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1947672"/>
            <a:ext cx="8321040" cy="859536"/>
          </a:xfrm>
          <a:prstGeom prst="rect">
            <a:avLst/>
          </a:prstGeom>
          <a:solidFill>
            <a:srgbClr val="FFFFFF">
              <a:alpha val="9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947672"/>
            <a:ext cx="64008" cy="859536"/>
          </a:xfrm>
          <a:prstGeom prst="rect">
            <a:avLst/>
          </a:prstGeom>
          <a:solidFill>
            <a:srgbClr val="F5C97A"/>
          </a:solidFill>
          <a:ln w="12700">
            <a:solidFill>
              <a:srgbClr val="F5C9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9339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24128" y="2039112"/>
            <a:ext cx="7498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E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Throughput diverges dramatically at scale: 8.9× more images/second at BS=64 (1,404 vs 158 img/s). The student's 1.08G FLOPs per image scales efficiently as batches grow; the teacher's 16.87G does not.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2935224"/>
            <a:ext cx="8321040" cy="859536"/>
          </a:xfrm>
          <a:prstGeom prst="rect">
            <a:avLst/>
          </a:prstGeom>
          <a:solidFill>
            <a:srgbClr val="FFFFFF">
              <a:alpha val="9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935224"/>
            <a:ext cx="64008" cy="859536"/>
          </a:xfrm>
          <a:prstGeom prst="rect">
            <a:avLst/>
          </a:prstGeom>
          <a:solidFill>
            <a:srgbClr val="A0D9B0"/>
          </a:solidFill>
          <a:ln w="12700">
            <a:solidFill>
              <a:srgbClr val="A0D9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80944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0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24128" y="3026664"/>
            <a:ext cx="7498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E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10× less GPU memory (35.6 MB vs 361.7 MB). The student fits comfortably on edge GPU budgets where the teacher would not — a critical advantage for deployment.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922776"/>
            <a:ext cx="8321040" cy="859536"/>
          </a:xfrm>
          <a:prstGeom prst="rect">
            <a:avLst/>
          </a:prstGeom>
          <a:solidFill>
            <a:srgbClr val="FFFFFF">
              <a:alpha val="9000"/>
            </a:srgbClr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22776"/>
            <a:ext cx="64008" cy="859536"/>
          </a:xfrm>
          <a:prstGeom prst="rect">
            <a:avLst/>
          </a:prstGeom>
          <a:solidFill>
            <a:srgbClr val="B8A0F0"/>
          </a:solidFill>
          <a:ln w="12700">
            <a:solidFill>
              <a:srgbClr val="B8A0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968496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A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24128" y="4014216"/>
            <a:ext cx="7498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E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15× smaller on disk (23 MB vs 344 MB) makes the student practical for mobile deployment, model serving, and over-the-air updates.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2026-05-17T13:36:05Z</dcterms:created>
  <dcterms:modified xsi:type="dcterms:W3CDTF">2026-05-17T13:36:05Z</dcterms:modified>
</cp:coreProperties>
</file>