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ViT-B/16</c:v>
                </c:pt>
              </c:strCache>
            </c:strRef>
          </c:tx>
          <c:spPr>
            <a:solidFill>
              <a:srgbClr val="0D4F8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Macro F1</c:v>
                  </c:pt>
                  <c:pt idx="2">
                    <c:v>Macro Precision</c:v>
                  </c:pt>
                  <c:pt idx="3">
                    <c:v>Macro Recall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92.59</c:v>
                </c:pt>
                <c:pt idx="1">
                  <c:v>92.51</c:v>
                </c:pt>
                <c:pt idx="2">
                  <c:v>92.89</c:v>
                </c:pt>
                <c:pt idx="3">
                  <c:v>92.5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ResNet-RS152</c:v>
                </c:pt>
              </c:strCache>
            </c:strRef>
          </c:tx>
          <c:spPr>
            <a:solidFill>
              <a:srgbClr val="0E8A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Macro F1</c:v>
                  </c:pt>
                  <c:pt idx="2">
                    <c:v>Macro Precision</c:v>
                  </c:pt>
                  <c:pt idx="3">
                    <c:v>Macro Recall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90.46</c:v>
                </c:pt>
                <c:pt idx="1">
                  <c:v>90.22</c:v>
                </c:pt>
                <c:pt idx="2">
                  <c:v>90.67</c:v>
                </c:pt>
                <c:pt idx="3">
                  <c:v>90.4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4"/>
          <c:min val="88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B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ViT-B/16</c:v>
                </c:pt>
              </c:strCache>
            </c:strRef>
          </c:tx>
          <c:spPr>
            <a:solidFill>
              <a:srgbClr val="0D4F8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 Time (min)</c:v>
                  </c:pt>
                  <c:pt idx="1">
                    <c:v>Epochs Run</c:v>
                  </c:pt>
                  <c:pt idx="2">
                    <c:v>Phases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49.37</c:v>
                </c:pt>
                <c:pt idx="1">
                  <c:v>59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ResNet-RS152</c:v>
                </c:pt>
              </c:strCache>
            </c:strRef>
          </c:tx>
          <c:spPr>
            <a:solidFill>
              <a:srgbClr val="0E8A7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Train Time (min)</c:v>
                  </c:pt>
                  <c:pt idx="1">
                    <c:v>Epochs Run</c:v>
                  </c:pt>
                  <c:pt idx="2">
                    <c:v>Phases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41.84</c:v>
                </c:pt>
                <c:pt idx="1">
                  <c:v>47</c:v>
                </c:pt>
                <c:pt idx="2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A162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B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 vs ResNet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A8C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Fine-Tuning Comparison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2487168"/>
            <a:ext cx="4114800" cy="36576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51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ADC8"/>
                </a:solidFill>
              </a:rPr>
              <a:t>Accuracy  ·  Training Efficiency  ·  LR Schedule Sensitivity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1828800" cy="402336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004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ViT-B/16 (Gradual Unfreeze)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3200400"/>
            <a:ext cx="2011680" cy="402336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32004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ResNet-RS152 (Gradual Unfreeze)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8862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4A0"/>
                </a:solidFill>
              </a:rPr>
              <a:t>Oxford-IIIT Pet  ·  37 breeds  ·  ~7,400 train images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16052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84A0"/>
                </a:solidFill>
              </a:rPr>
              <a:t>Aug: erasing + jitter + mixup + cutmix (mod prob)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4A0"/>
                </a:solidFill>
              </a:rPr>
              <a:t>Gradual unfreeze  ·  same augmentation config  ·  same dataset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877824"/>
            <a:ext cx="2057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77824"/>
            <a:ext cx="20574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778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225296"/>
            <a:ext cx="2057400" cy="1316736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8B"/>
                </a:solidFill>
              </a:rPr>
              <a:t>ViT-B/16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499616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4F8B"/>
                </a:solidFill>
              </a:rPr>
              <a:t>92.59%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47472" y="2542032"/>
            <a:ext cx="2057400" cy="1316736"/>
          </a:xfrm>
          <a:prstGeom prst="rect">
            <a:avLst/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57860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A7B"/>
                </a:solidFill>
              </a:rPr>
              <a:t>ResNet-RS152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281635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A7B"/>
                </a:solidFill>
              </a:rPr>
              <a:t>90.46%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76072" y="3858768"/>
            <a:ext cx="1600200" cy="256032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8587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ViT +2.13pp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32888" y="877824"/>
            <a:ext cx="2057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32888" y="877824"/>
            <a:ext cx="20574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2888" y="8778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Macro F1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32888" y="1225296"/>
            <a:ext cx="2057400" cy="1316736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1261872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8B"/>
                </a:solidFill>
              </a:rPr>
              <a:t>ViT-B/16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32888" y="1499616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4F8B"/>
                </a:solidFill>
              </a:rPr>
              <a:t>92.51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2532888" y="2542032"/>
            <a:ext cx="2057400" cy="1316736"/>
          </a:xfrm>
          <a:prstGeom prst="rect">
            <a:avLst/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257860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A7B"/>
                </a:solidFill>
              </a:rPr>
              <a:t>ResNet-RS152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32888" y="281635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A7B"/>
                </a:solidFill>
              </a:rPr>
              <a:t>90.22</a:t>
            </a:r>
            <a:endParaRPr lang="en-US" sz="3000" dirty="0"/>
          </a:p>
        </p:txBody>
      </p:sp>
      <p:sp>
        <p:nvSpPr>
          <p:cNvPr id="24" name="Shape 22"/>
          <p:cNvSpPr/>
          <p:nvPr/>
        </p:nvSpPr>
        <p:spPr>
          <a:xfrm>
            <a:off x="2761488" y="3858768"/>
            <a:ext cx="1600200" cy="256032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61488" y="38587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ViT +2.29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18304" y="877824"/>
            <a:ext cx="2057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18304" y="877824"/>
            <a:ext cx="20574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8778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 Time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18304" y="1225296"/>
            <a:ext cx="2057400" cy="1316736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1261872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8B"/>
                </a:solidFill>
              </a:rPr>
              <a:t>ViT-B/16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18304" y="1499616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4F8B"/>
                </a:solidFill>
              </a:rPr>
              <a:t>49.4 min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4718304" y="2542032"/>
            <a:ext cx="2057400" cy="1316736"/>
          </a:xfrm>
          <a:prstGeom prst="rect">
            <a:avLst/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257860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A7B"/>
                </a:solidFill>
              </a:rPr>
              <a:t>ResNet-RS152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18304" y="281635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A7B"/>
                </a:solidFill>
              </a:rPr>
              <a:t>41.8 min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4946904" y="3858768"/>
            <a:ext cx="1600200" cy="256032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46904" y="38587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ViT +7.6 min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03720" y="877824"/>
            <a:ext cx="20574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03720" y="877824"/>
            <a:ext cx="20574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03720" y="877824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Epochs Run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903720" y="1225296"/>
            <a:ext cx="2057400" cy="1316736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1261872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4F8B"/>
                </a:solidFill>
              </a:rPr>
              <a:t>ViT-B/16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1499616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4F8B"/>
                </a:solidFill>
              </a:rPr>
              <a:t>59</a:t>
            </a:r>
            <a:endParaRPr lang="en-US" sz="3000" dirty="0"/>
          </a:p>
        </p:txBody>
      </p:sp>
      <p:sp>
        <p:nvSpPr>
          <p:cNvPr id="43" name="Shape 41"/>
          <p:cNvSpPr/>
          <p:nvPr/>
        </p:nvSpPr>
        <p:spPr>
          <a:xfrm>
            <a:off x="6903720" y="2542032"/>
            <a:ext cx="2057400" cy="1316736"/>
          </a:xfrm>
          <a:prstGeom prst="rect">
            <a:avLst/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2578608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8A7B"/>
                </a:solidFill>
              </a:rPr>
              <a:t>ResNet-RS152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03720" y="281635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8A7B"/>
                </a:solidFill>
              </a:rPr>
              <a:t>47</a:t>
            </a:r>
            <a:endParaRPr lang="en-US" sz="3000" dirty="0"/>
          </a:p>
        </p:txBody>
      </p:sp>
      <p:sp>
        <p:nvSpPr>
          <p:cNvPr id="46" name="Shape 44"/>
          <p:cNvSpPr/>
          <p:nvPr/>
        </p:nvSpPr>
        <p:spPr>
          <a:xfrm>
            <a:off x="7132320" y="3858768"/>
            <a:ext cx="1600200" cy="256032"/>
          </a:xfrm>
          <a:prstGeom prst="rect">
            <a:avLst/>
          </a:prstGeom>
          <a:solidFill>
            <a:srgbClr val="3D5166"/>
          </a:solidFill>
          <a:ln w="12700">
            <a:solidFill>
              <a:srgbClr val="3D51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0" y="38587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ViT +12 ep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7472" y="427939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A1628"/>
                </a:solidFill>
              </a:rPr>
              <a:t>★  ViT-B/16 wins on accuracy and F1, at the cost of ~18% more training 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Accuracy &amp; F1 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4A0"/>
                </a:solidFill>
              </a:rPr>
              <a:t>Both metrics consistent — ViT leads by ~2pp across the board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4864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89320" y="914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Per-Class F1 Range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89320" y="1298448"/>
            <a:ext cx="2926080" cy="1417320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37160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F8B"/>
                </a:solidFill>
              </a:rPr>
              <a:t>ViT-B/16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80760" y="16642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4A0"/>
                </a:solidFill>
              </a:rPr>
              <a:t>Min F1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080760" y="186537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4F8B"/>
                </a:solidFill>
              </a:rPr>
              <a:t>0.675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022592" y="16642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4A0"/>
                </a:solidFill>
              </a:rPr>
              <a:t>Mean F1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022592" y="186537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4F8B"/>
                </a:solidFill>
              </a:rPr>
              <a:t>0.925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64424" y="1664208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4A0"/>
                </a:solidFill>
              </a:rPr>
              <a:t>Max F1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964424" y="186537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4F8B"/>
                </a:solidFill>
              </a:rPr>
              <a:t>0.995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989320" y="2304288"/>
            <a:ext cx="2743200" cy="201168"/>
          </a:xfrm>
          <a:prstGeom prst="rect">
            <a:avLst/>
          </a:prstGeom>
          <a:solidFill>
            <a:srgbClr val="E0E8E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9440" y="2304288"/>
            <a:ext cx="1755648" cy="201168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02752" y="2267712"/>
            <a:ext cx="36576" cy="274320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89320" y="2889504"/>
            <a:ext cx="2926080" cy="1417320"/>
          </a:xfrm>
          <a:prstGeom prst="rect">
            <a:avLst/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80760" y="29626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7B"/>
                </a:solidFill>
              </a:rPr>
              <a:t>ResNet-RS152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80760" y="325526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4A0"/>
                </a:solidFill>
              </a:rPr>
              <a:t>Min F1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080760" y="345643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8A7B"/>
                </a:solidFill>
              </a:rPr>
              <a:t>0.513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022592" y="325526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4A0"/>
                </a:solidFill>
              </a:rPr>
              <a:t>Mean F1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022592" y="345643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8A7B"/>
                </a:solidFill>
              </a:rPr>
              <a:t>0.902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964424" y="3255264"/>
            <a:ext cx="868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4A0"/>
                </a:solidFill>
              </a:rPr>
              <a:t>Max F1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7964424" y="3456432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8A7B"/>
                </a:solidFill>
              </a:rPr>
              <a:t>0.990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989320" y="3895344"/>
            <a:ext cx="2743200" cy="201168"/>
          </a:xfrm>
          <a:prstGeom prst="rect">
            <a:avLst/>
          </a:prstGeom>
          <a:solidFill>
            <a:srgbClr val="E0E8EF"/>
          </a:solidFill>
          <a:ln w="12700">
            <a:solidFill>
              <a:srgbClr val="E0E8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60643" y="3895344"/>
            <a:ext cx="2617013" cy="201168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76565" y="3858768"/>
            <a:ext cx="36576" cy="274320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0" y="44622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47D0E"/>
                </a:solidFill>
              </a:rPr>
              <a:t>◆ = mean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47472" y="47731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D5166"/>
                </a:solidFill>
              </a:rPr>
              <a:t>ViT's worst-class F1 (0.675) is 31% better than ResNet's (0.513) — more consistent across difficult breeds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Efficiency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4A0"/>
                </a:solidFill>
              </a:rPr>
              <a:t>ViT converges more slowly but achieves higher accuracy — accuracy per minute tells the real story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77824"/>
          <a:ext cx="51206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877824"/>
            <a:ext cx="333756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50992" y="93268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Acc / Minute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650992" y="113385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4A0"/>
                </a:solidFill>
              </a:rPr>
              <a:t>% / min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596128" y="1335024"/>
            <a:ext cx="1463040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50992" y="133502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4F8B"/>
                </a:solidFill>
              </a:rPr>
              <a:t>ViT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650992" y="1499616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F8B"/>
                </a:solidFill>
              </a:rPr>
              <a:t>1.88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693408" y="1353312"/>
            <a:ext cx="237744" cy="164592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1353312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★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251192" y="1335024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8A7B"/>
                </a:solidFill>
              </a:rPr>
              <a:t>ResNet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251192" y="1499616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8A7B"/>
                </a:solidFill>
              </a:rPr>
              <a:t>2.16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650992" y="17922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4A0"/>
                </a:solidFill>
              </a:rPr>
              <a:t>ViT earns more accuracy per minute despite slower clock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577840" y="2139696"/>
            <a:ext cx="333756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0992" y="21945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Acc / Epoch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50992" y="23957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4A0"/>
                </a:solidFill>
              </a:rPr>
              <a:t>% / epoch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650992" y="259689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4F8B"/>
                </a:solidFill>
              </a:rPr>
              <a:t>ViT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650992" y="276148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F8B"/>
                </a:solidFill>
              </a:rPr>
              <a:t>1.57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196328" y="2596896"/>
            <a:ext cx="1463040" cy="420624"/>
          </a:xfrm>
          <a:prstGeom prst="rect">
            <a:avLst/>
          </a:prstGeom>
          <a:solidFill>
            <a:srgbClr val="E8F5F3"/>
          </a:solidFill>
          <a:ln w="12700">
            <a:solidFill>
              <a:srgbClr val="E8F5F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51192" y="2596896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8A7B"/>
                </a:solidFill>
              </a:rPr>
              <a:t>ResNet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251192" y="2761488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8A7B"/>
                </a:solidFill>
              </a:rPr>
              <a:t>1.92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293608" y="2615184"/>
            <a:ext cx="237744" cy="164592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93608" y="2615184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★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650992" y="305409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4A0"/>
                </a:solidFill>
              </a:rPr>
              <a:t>ResNet converges to a higher accuracy per epoch trained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77840" y="3401568"/>
            <a:ext cx="3337560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50992" y="345643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Val Loss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50992" y="3657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4A0"/>
                </a:solidFill>
              </a:rPr>
              <a:t>(lower = better)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596128" y="3858768"/>
            <a:ext cx="1463040" cy="420624"/>
          </a:xfrm>
          <a:prstGeom prst="rect">
            <a:avLst/>
          </a:prstGeom>
          <a:solidFill>
            <a:srgbClr val="EBF3FB"/>
          </a:solidFill>
          <a:ln w="12700">
            <a:solidFill>
              <a:srgbClr val="EBF3F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50992" y="385876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4F8B"/>
                </a:solidFill>
              </a:rPr>
              <a:t>ViT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650992" y="4023360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F8B"/>
                </a:solidFill>
              </a:rPr>
              <a:t>0.8629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693408" y="3877056"/>
            <a:ext cx="237744" cy="164592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93408" y="3877056"/>
            <a:ext cx="2377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★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251192" y="3858768"/>
            <a:ext cx="13533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8A7B"/>
                </a:solidFill>
              </a:rPr>
              <a:t>ResNet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251192" y="4023360"/>
            <a:ext cx="13533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8A7B"/>
                </a:solidFill>
              </a:rPr>
              <a:t>0.8986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650992" y="4315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4A0"/>
                </a:solidFill>
              </a:rPr>
              <a:t>ViT achieves lower final validation loss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LR Schedule: Sensitivity &amp;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4A0"/>
                </a:solidFill>
              </a:rPr>
              <a:t>ViT requires a finer 4-phase schedule with decaying LR; ResNet converges in 2 phases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</a:rPr>
              <a:t>ViT-B/16  (4 phases, 3 block groups unfrozen)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43584"/>
            <a:ext cx="1993392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43584"/>
            <a:ext cx="54864" cy="1481328"/>
          </a:xfrm>
          <a:prstGeom prst="rect">
            <a:avLst/>
          </a:prstGeom>
          <a:solidFill>
            <a:srgbClr val="1D4E8A"/>
          </a:solidFill>
          <a:ln w="12700">
            <a:solidFill>
              <a:srgbClr val="1D4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80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8A"/>
                </a:solidFill>
              </a:rPr>
              <a:t>ep 1–20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" y="1517904"/>
            <a:ext cx="1691640" cy="310896"/>
          </a:xfrm>
          <a:prstGeom prst="rect">
            <a:avLst/>
          </a:prstGeom>
          <a:solidFill>
            <a:srgbClr val="1D4E8A"/>
          </a:solidFill>
          <a:ln w="12700">
            <a:solidFill>
              <a:srgbClr val="1D4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17904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LR = 1×10⁻³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8836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D4E8A"/>
                </a:solidFill>
              </a:rPr>
              <a:t>Head only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D4E8A"/>
                </a:solidFill>
              </a:rPr>
              <a:t>(frozen backbone)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67712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84A0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96312" y="1243584"/>
            <a:ext cx="1993392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6312" y="1243584"/>
            <a:ext cx="54864" cy="1481328"/>
          </a:xfrm>
          <a:prstGeom prst="rect">
            <a:avLst/>
          </a:prstGeom>
          <a:solidFill>
            <a:srgbClr val="1A6FA4"/>
          </a:solidFill>
          <a:ln w="12700">
            <a:solidFill>
              <a:srgbClr val="1A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1280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FA4"/>
                </a:solidFill>
              </a:rPr>
              <a:t>ep 21–40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24328" y="1517904"/>
            <a:ext cx="1691640" cy="310896"/>
          </a:xfrm>
          <a:prstGeom prst="rect">
            <a:avLst/>
          </a:prstGeom>
          <a:solidFill>
            <a:srgbClr val="1A6FA4"/>
          </a:solidFill>
          <a:ln w="12700">
            <a:solidFill>
              <a:srgbClr val="1A6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1517904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LR = 1×10⁻⁴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24328" y="18836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6FA4"/>
                </a:solidFill>
              </a:rPr>
              <a:t>+1 block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6FA4"/>
                </a:solidFill>
              </a:rPr>
              <a:t>unfrozen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16552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84A0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45152" y="1243584"/>
            <a:ext cx="1993392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45152" y="1243584"/>
            <a:ext cx="54864" cy="1481328"/>
          </a:xfrm>
          <a:prstGeom prst="rect">
            <a:avLst/>
          </a:prstGeom>
          <a:solidFill>
            <a:srgbClr val="1A8FAF"/>
          </a:solidFill>
          <a:ln w="12700">
            <a:solidFill>
              <a:srgbClr val="1A8F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280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8FAF"/>
                </a:solidFill>
              </a:rPr>
              <a:t>ep 41–60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1517904"/>
            <a:ext cx="1691640" cy="310896"/>
          </a:xfrm>
          <a:prstGeom prst="rect">
            <a:avLst/>
          </a:prstGeom>
          <a:solidFill>
            <a:srgbClr val="1A8FAF"/>
          </a:solidFill>
          <a:ln w="12700">
            <a:solidFill>
              <a:srgbClr val="1A8F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1517904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LR = 1×10⁻⁴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18836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8FAF"/>
                </a:solidFill>
              </a:rPr>
              <a:t>+2 blocks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8FAF"/>
                </a:solidFill>
              </a:rPr>
              <a:t>unfrozen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65392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84A0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93992" y="1243584"/>
            <a:ext cx="1993392" cy="148132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93992" y="1243584"/>
            <a:ext cx="54864" cy="1481328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12801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8A7B"/>
                </a:solidFill>
              </a:rPr>
              <a:t>ep 41–59†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22008" y="1517904"/>
            <a:ext cx="1691640" cy="310896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2008" y="1517904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LR = 5×10⁻⁵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22008" y="188366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E8A7B"/>
                </a:solidFill>
              </a:rPr>
              <a:t>+3 blocks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E8A7B"/>
                </a:solidFill>
              </a:rPr>
              <a:t>(early stop)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" y="2724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4A0"/>
                </a:solidFill>
              </a:rPr>
              <a:t>† Early stop at ep 59 of max 80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5760" y="29809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B"/>
                </a:solidFill>
              </a:rPr>
              <a:t>ResNet-RS152  (2 phases, 1 block group unfrozen)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7472" y="3310128"/>
            <a:ext cx="2148840" cy="13350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3310128"/>
            <a:ext cx="54864" cy="1335024"/>
          </a:xfrm>
          <a:prstGeom prst="rect">
            <a:avLst/>
          </a:prstGeom>
          <a:solidFill>
            <a:srgbClr val="0A6B5C"/>
          </a:solidFill>
          <a:ln w="12700">
            <a:solidFill>
              <a:srgbClr val="0A6B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3346704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6B5C"/>
                </a:solidFill>
              </a:rPr>
              <a:t>ep 1–20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" y="3584448"/>
            <a:ext cx="1929384" cy="310896"/>
          </a:xfrm>
          <a:prstGeom prst="rect">
            <a:avLst/>
          </a:prstGeom>
          <a:solidFill>
            <a:srgbClr val="0A6B5C"/>
          </a:solidFill>
          <a:ln w="12700">
            <a:solidFill>
              <a:srgbClr val="0A6B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584448"/>
            <a:ext cx="1929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LR = 1×10⁻³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75488" y="3950208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6B5C"/>
                </a:solidFill>
              </a:rPr>
              <a:t>Head only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A6B5C"/>
                </a:solidFill>
              </a:rPr>
              <a:t>(frozen backbone)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04872" y="37307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84A0"/>
                </a:solidFill>
              </a:rPr>
              <a:t>→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651760" y="3310128"/>
            <a:ext cx="2148840" cy="13350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651760" y="3310128"/>
            <a:ext cx="54864" cy="1335024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79776" y="3346704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8A7B"/>
                </a:solidFill>
              </a:rPr>
              <a:t>ep 21–80†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779776" y="3584448"/>
            <a:ext cx="1929384" cy="310896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79776" y="3584448"/>
            <a:ext cx="19293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LR = 1×10⁻⁴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79776" y="3950208"/>
            <a:ext cx="19293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E8A7B"/>
                </a:solidFill>
              </a:rPr>
              <a:t>+1 block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0E8A7B"/>
                </a:solidFill>
              </a:rPr>
              <a:t>(early stop ep 47)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47472" y="47000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84A0"/>
                </a:solidFill>
              </a:rPr>
              <a:t>† Early stop at ep 47 of max 80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956048" y="3310128"/>
            <a:ext cx="3931920" cy="148132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84064" y="34015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7D0E"/>
                </a:solidFill>
              </a:rPr>
              <a:t>Key Takeaway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84064" y="3675888"/>
            <a:ext cx="365760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E8"/>
                </a:solidFill>
              </a:rPr>
              <a:t>ViT needs fine-grained LR decay </a:t>
            </a:r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C47D0E"/>
                </a:solidFill>
              </a:rPr>
              <a:t>(1e-3 → 1e-4 → 5e-5)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8C8E8"/>
                </a:solidFill>
              </a:rPr>
              <a:t> to avoid disrupting pretrained attention patterns. ResNet tolerates a single step-down — its convolutional features are more robust to aggressive unfreezing.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2743200" cy="36576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32688"/>
            <a:ext cx="4160520" cy="18836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64008" cy="1883664"/>
          </a:xfrm>
          <a:prstGeom prst="rect">
            <a:avLst/>
          </a:prstGeom>
          <a:solidFill>
            <a:srgbClr val="0D4F8B"/>
          </a:solidFill>
          <a:ln w="12700">
            <a:solidFill>
              <a:srgbClr val="0D4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241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4F8B"/>
                </a:solidFill>
              </a:rPr>
              <a:t>🏆  ViT-B/16 wins on accuracy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DD5EC"/>
                </a:solidFill>
              </a:rPr>
              <a:t>92.59% vs 90.46% — a 2.13pp gap that holds consistently across F1, precision, and recall. ViT's global attention captures inter-patch breed patterns ResNet misses.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32688"/>
            <a:ext cx="4160520" cy="18836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932688"/>
            <a:ext cx="64008" cy="1883664"/>
          </a:xfrm>
          <a:prstGeom prst="rect">
            <a:avLst/>
          </a:prstGeom>
          <a:solidFill>
            <a:srgbClr val="0E8A7B"/>
          </a:solidFill>
          <a:ln w="12700">
            <a:solidFill>
              <a:srgbClr val="0E8A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0241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A7B"/>
                </a:solidFill>
              </a:rPr>
              <a:t>⏱  ResNet is ~18% faster to train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389888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DD5EC"/>
                </a:solidFill>
              </a:rPr>
              <a:t>41.8 vs 49.4 min total. If compute is the bottleneck and 90% accuracy is sufficient, ResNet is the pragmatic choice. ViT earns the accuracy cost.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962656"/>
            <a:ext cx="4160520" cy="18836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962656"/>
            <a:ext cx="64008" cy="1883664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540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7D0E"/>
                </a:solidFill>
              </a:rPr>
              <a:t>📉  ViT needs careful LR decay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419856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DD5EC"/>
                </a:solidFill>
              </a:rPr>
              <a:t>4 phases with 1e-3 → 1e-4 → 5e-5 decay are required to preserve pretrained attention. ResNet tolerates a single step to 1e-4 across 2 phases.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962656"/>
            <a:ext cx="4160520" cy="18836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962656"/>
            <a:ext cx="64008" cy="1883664"/>
          </a:xfrm>
          <a:prstGeom prst="rect">
            <a:avLst/>
          </a:prstGeom>
          <a:solidFill>
            <a:srgbClr val="7BADC8"/>
          </a:solidFill>
          <a:ln w="12700">
            <a:solidFill>
              <a:srgbClr val="7BAD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305409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ADC8"/>
                </a:solidFill>
              </a:rPr>
              <a:t>📊  ViT more consistent across classes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419856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DD5EC"/>
                </a:solidFill>
              </a:rPr>
              <a:t>Worst-class F1: ViT 0.675 vs ResNet 0.513. ViT handles visually ambiguous breeds (Am.Pit.Bull, Ragdoll) more reliably.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7183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4A0"/>
                </a:solidFill>
              </a:rPr>
              <a:t>Both models benefit from the same augmentation stack — erasing + jitter + mixup + cutmix — with ViT showing stronger response to moderate probabilities.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2026-05-07T23:04:39Z</dcterms:created>
  <dcterms:modified xsi:type="dcterms:W3CDTF">2026-05-07T23:04:39Z</dcterms:modified>
</cp:coreProperties>
</file>