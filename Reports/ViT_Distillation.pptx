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pretrained+gradual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0.87760000000000005</c:v>
                </c:pt>
                <c:pt idx="1">
                  <c:v>0.74039999999999995</c:v>
                </c:pt>
                <c:pt idx="2">
                  <c:v>0.58750000000000002</c:v>
                </c:pt>
                <c:pt idx="3">
                  <c:v>0.87439999999999996</c:v>
                </c:pt>
                <c:pt idx="4">
                  <c:v>0.84789999999999999</c:v>
                </c:pt>
                <c:pt idx="5">
                  <c:v>0.83330000000000004</c:v>
                </c:pt>
                <c:pt idx="6">
                  <c:v>0.79049999999999998</c:v>
                </c:pt>
                <c:pt idx="7">
                  <c:v>0.94510000000000005</c:v>
                </c:pt>
                <c:pt idx="8">
                  <c:v>0.86539999999999995</c:v>
                </c:pt>
                <c:pt idx="9">
                  <c:v>0.87760000000000005</c:v>
                </c:pt>
                <c:pt idx="10">
                  <c:v>0.82679999999999998</c:v>
                </c:pt>
                <c:pt idx="11">
                  <c:v>0.88770000000000004</c:v>
                </c:pt>
                <c:pt idx="12">
                  <c:v>0.8821</c:v>
                </c:pt>
                <c:pt idx="13">
                  <c:v>0.89690000000000003</c:v>
                </c:pt>
                <c:pt idx="14">
                  <c:v>0.89910000000000001</c:v>
                </c:pt>
                <c:pt idx="15">
                  <c:v>0.91790000000000005</c:v>
                </c:pt>
                <c:pt idx="16">
                  <c:v>0.91</c:v>
                </c:pt>
                <c:pt idx="17">
                  <c:v>0.90100000000000002</c:v>
                </c:pt>
                <c:pt idx="18">
                  <c:v>0.96909999999999996</c:v>
                </c:pt>
                <c:pt idx="19">
                  <c:v>0.94059999999999999</c:v>
                </c:pt>
                <c:pt idx="20">
                  <c:v>0.86699999999999999</c:v>
                </c:pt>
                <c:pt idx="21">
                  <c:v>0.90159999999999996</c:v>
                </c:pt>
                <c:pt idx="22">
                  <c:v>0.93069999999999997</c:v>
                </c:pt>
                <c:pt idx="23">
                  <c:v>0.86339999999999995</c:v>
                </c:pt>
                <c:pt idx="24">
                  <c:v>0.92779999999999996</c:v>
                </c:pt>
                <c:pt idx="25">
                  <c:v>0.96909999999999996</c:v>
                </c:pt>
                <c:pt idx="26">
                  <c:v>0.80210000000000004</c:v>
                </c:pt>
                <c:pt idx="27">
                  <c:v>0.8901</c:v>
                </c:pt>
                <c:pt idx="28">
                  <c:v>0.88349999999999995</c:v>
                </c:pt>
                <c:pt idx="29">
                  <c:v>0.91259999999999997</c:v>
                </c:pt>
                <c:pt idx="30">
                  <c:v>0.95</c:v>
                </c:pt>
                <c:pt idx="31">
                  <c:v>0.91349999999999998</c:v>
                </c:pt>
                <c:pt idx="32">
                  <c:v>0.89659999999999995</c:v>
                </c:pt>
                <c:pt idx="33">
                  <c:v>0.91869999999999996</c:v>
                </c:pt>
                <c:pt idx="34">
                  <c:v>0.58330000000000004</c:v>
                </c:pt>
                <c:pt idx="35">
                  <c:v>0.89</c:v>
                </c:pt>
                <c:pt idx="36">
                  <c:v>0.94850000000000001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43-414D-9447-982DE1E6E9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pretrained+no_gradual</c:v>
                </c:pt>
              </c:strCache>
            </c:strRef>
          </c:tx>
          <c:spPr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0.59</c:v>
                </c:pt>
                <c:pt idx="1">
                  <c:v>0.53939999999999999</c:v>
                </c:pt>
                <c:pt idx="2">
                  <c:v>0.1898</c:v>
                </c:pt>
                <c:pt idx="3">
                  <c:v>0.51529999999999998</c:v>
                </c:pt>
                <c:pt idx="4">
                  <c:v>0.49349999999999999</c:v>
                </c:pt>
                <c:pt idx="5">
                  <c:v>0.73729999999999996</c:v>
                </c:pt>
                <c:pt idx="6">
                  <c:v>0.67330000000000001</c:v>
                </c:pt>
                <c:pt idx="7">
                  <c:v>0.75739999999999996</c:v>
                </c:pt>
                <c:pt idx="8">
                  <c:v>0.53520000000000001</c:v>
                </c:pt>
                <c:pt idx="9">
                  <c:v>0.57520000000000004</c:v>
                </c:pt>
                <c:pt idx="10">
                  <c:v>0.2949</c:v>
                </c:pt>
                <c:pt idx="11">
                  <c:v>0.79330000000000001</c:v>
                </c:pt>
                <c:pt idx="12">
                  <c:v>0.38669999999999999</c:v>
                </c:pt>
                <c:pt idx="13">
                  <c:v>0.51060000000000005</c:v>
                </c:pt>
                <c:pt idx="14">
                  <c:v>0.62549999999999994</c:v>
                </c:pt>
                <c:pt idx="15">
                  <c:v>0.55030000000000001</c:v>
                </c:pt>
                <c:pt idx="16">
                  <c:v>0.46789999999999998</c:v>
                </c:pt>
                <c:pt idx="17">
                  <c:v>0.72199999999999998</c:v>
                </c:pt>
                <c:pt idx="18">
                  <c:v>0.82979999999999998</c:v>
                </c:pt>
                <c:pt idx="19">
                  <c:v>0.79369999999999996</c:v>
                </c:pt>
                <c:pt idx="20">
                  <c:v>0.55169999999999997</c:v>
                </c:pt>
                <c:pt idx="21">
                  <c:v>0.61450000000000005</c:v>
                </c:pt>
                <c:pt idx="22">
                  <c:v>0.5786</c:v>
                </c:pt>
                <c:pt idx="23">
                  <c:v>0.56599999999999995</c:v>
                </c:pt>
                <c:pt idx="24">
                  <c:v>0.70930000000000004</c:v>
                </c:pt>
                <c:pt idx="25">
                  <c:v>0.67710000000000004</c:v>
                </c:pt>
                <c:pt idx="26">
                  <c:v>0.60819999999999996</c:v>
                </c:pt>
                <c:pt idx="27">
                  <c:v>0.54139999999999999</c:v>
                </c:pt>
                <c:pt idx="28">
                  <c:v>0.58199999999999996</c:v>
                </c:pt>
                <c:pt idx="29">
                  <c:v>0.69769999999999999</c:v>
                </c:pt>
                <c:pt idx="30">
                  <c:v>0.53159999999999996</c:v>
                </c:pt>
                <c:pt idx="31">
                  <c:v>0.62260000000000004</c:v>
                </c:pt>
                <c:pt idx="32">
                  <c:v>0.6986</c:v>
                </c:pt>
                <c:pt idx="33">
                  <c:v>0.68720000000000003</c:v>
                </c:pt>
                <c:pt idx="34">
                  <c:v>0.35799999999999998</c:v>
                </c:pt>
                <c:pt idx="35">
                  <c:v>0.49349999999999999</c:v>
                </c:pt>
                <c:pt idx="36">
                  <c:v>0.69230000000000003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43-414D-9447-982DE1E6E9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scratch+gradual</c:v>
                </c:pt>
              </c:strCache>
            </c:strRef>
          </c:tx>
          <c:spPr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0.12089999999999999</c:v>
                </c:pt>
                <c:pt idx="1">
                  <c:v>5.9200000000000003E-2</c:v>
                </c:pt>
                <c:pt idx="2">
                  <c:v>3.2800000000000003E-2</c:v>
                </c:pt>
                <c:pt idx="3">
                  <c:v>0.16669999999999999</c:v>
                </c:pt>
                <c:pt idx="4">
                  <c:v>7.46E-2</c:v>
                </c:pt>
                <c:pt idx="5">
                  <c:v>0.25659999999999999</c:v>
                </c:pt>
                <c:pt idx="6">
                  <c:v>0.29559999999999997</c:v>
                </c:pt>
                <c:pt idx="7">
                  <c:v>0.3911</c:v>
                </c:pt>
                <c:pt idx="8">
                  <c:v>0.10059999999999999</c:v>
                </c:pt>
                <c:pt idx="9">
                  <c:v>0.15</c:v>
                </c:pt>
                <c:pt idx="11">
                  <c:v>0.31869999999999998</c:v>
                </c:pt>
                <c:pt idx="13">
                  <c:v>0.1326</c:v>
                </c:pt>
                <c:pt idx="14">
                  <c:v>0.17319999999999999</c:v>
                </c:pt>
                <c:pt idx="15">
                  <c:v>0.24410000000000001</c:v>
                </c:pt>
                <c:pt idx="16">
                  <c:v>0.1183</c:v>
                </c:pt>
                <c:pt idx="17">
                  <c:v>0.1472</c:v>
                </c:pt>
                <c:pt idx="18">
                  <c:v>0.29670000000000002</c:v>
                </c:pt>
                <c:pt idx="19">
                  <c:v>0.22220000000000001</c:v>
                </c:pt>
                <c:pt idx="20">
                  <c:v>0.1046</c:v>
                </c:pt>
                <c:pt idx="21">
                  <c:v>4.4200000000000003E-2</c:v>
                </c:pt>
                <c:pt idx="22">
                  <c:v>0.2079</c:v>
                </c:pt>
                <c:pt idx="23">
                  <c:v>0.16170000000000001</c:v>
                </c:pt>
                <c:pt idx="24">
                  <c:v>0.24729999999999999</c:v>
                </c:pt>
                <c:pt idx="25">
                  <c:v>9.4600000000000004E-2</c:v>
                </c:pt>
                <c:pt idx="26">
                  <c:v>0.2883</c:v>
                </c:pt>
                <c:pt idx="27">
                  <c:v>0.2424</c:v>
                </c:pt>
                <c:pt idx="28">
                  <c:v>0.17419999999999999</c:v>
                </c:pt>
                <c:pt idx="29">
                  <c:v>0.29060000000000002</c:v>
                </c:pt>
                <c:pt idx="30">
                  <c:v>0.1232</c:v>
                </c:pt>
                <c:pt idx="31">
                  <c:v>0.1</c:v>
                </c:pt>
                <c:pt idx="32">
                  <c:v>0.2165</c:v>
                </c:pt>
                <c:pt idx="33">
                  <c:v>0.16270000000000001</c:v>
                </c:pt>
                <c:pt idx="34">
                  <c:v>8.8700000000000001E-2</c:v>
                </c:pt>
                <c:pt idx="35">
                  <c:v>0.13980000000000001</c:v>
                </c:pt>
                <c:pt idx="36">
                  <c:v>0.1011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43-414D-9447-982DE1E6E9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scratch+no_gradual</c:v>
                </c:pt>
              </c:strCache>
            </c:strRef>
          </c:tx>
          <c:spPr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Sheet1!$E$2:$E$38</c:f>
              <c:numCache>
                <c:formatCode>General</c:formatCode>
                <c:ptCount val="37"/>
                <c:pt idx="0">
                  <c:v>0.1429</c:v>
                </c:pt>
                <c:pt idx="1">
                  <c:v>9.9500000000000005E-2</c:v>
                </c:pt>
                <c:pt idx="2">
                  <c:v>1.61E-2</c:v>
                </c:pt>
                <c:pt idx="3">
                  <c:v>0.1787</c:v>
                </c:pt>
                <c:pt idx="4">
                  <c:v>0.1111</c:v>
                </c:pt>
                <c:pt idx="5">
                  <c:v>0.23400000000000001</c:v>
                </c:pt>
                <c:pt idx="6">
                  <c:v>0.21510000000000001</c:v>
                </c:pt>
                <c:pt idx="7">
                  <c:v>0.43680000000000002</c:v>
                </c:pt>
                <c:pt idx="8">
                  <c:v>4.7199999999999999E-2</c:v>
                </c:pt>
                <c:pt idx="9">
                  <c:v>0.1807</c:v>
                </c:pt>
                <c:pt idx="11">
                  <c:v>0.2447</c:v>
                </c:pt>
                <c:pt idx="13">
                  <c:v>0.1028</c:v>
                </c:pt>
                <c:pt idx="14">
                  <c:v>0.1673</c:v>
                </c:pt>
                <c:pt idx="15">
                  <c:v>0.1961</c:v>
                </c:pt>
                <c:pt idx="16">
                  <c:v>9.1600000000000001E-2</c:v>
                </c:pt>
                <c:pt idx="17">
                  <c:v>8.8099999999999998E-2</c:v>
                </c:pt>
                <c:pt idx="18">
                  <c:v>0.2802</c:v>
                </c:pt>
                <c:pt idx="19">
                  <c:v>0.2273</c:v>
                </c:pt>
                <c:pt idx="20">
                  <c:v>8.43E-2</c:v>
                </c:pt>
                <c:pt idx="21">
                  <c:v>8.9200000000000002E-2</c:v>
                </c:pt>
                <c:pt idx="22">
                  <c:v>0.191</c:v>
                </c:pt>
                <c:pt idx="23">
                  <c:v>0.18640000000000001</c:v>
                </c:pt>
                <c:pt idx="24">
                  <c:v>0.23910000000000001</c:v>
                </c:pt>
                <c:pt idx="25">
                  <c:v>0.16569999999999999</c:v>
                </c:pt>
                <c:pt idx="26">
                  <c:v>0.22409999999999999</c:v>
                </c:pt>
                <c:pt idx="27">
                  <c:v>0.2336</c:v>
                </c:pt>
                <c:pt idx="28">
                  <c:v>0.1285</c:v>
                </c:pt>
                <c:pt idx="29">
                  <c:v>0.29220000000000002</c:v>
                </c:pt>
                <c:pt idx="30">
                  <c:v>0.1154</c:v>
                </c:pt>
                <c:pt idx="31">
                  <c:v>0.1169</c:v>
                </c:pt>
                <c:pt idx="32">
                  <c:v>0.23580000000000001</c:v>
                </c:pt>
                <c:pt idx="33">
                  <c:v>0.191</c:v>
                </c:pt>
                <c:pt idx="34">
                  <c:v>0.1143</c:v>
                </c:pt>
                <c:pt idx="35">
                  <c:v>9.9000000000000005E-2</c:v>
                </c:pt>
                <c:pt idx="36">
                  <c:v>0.1067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943-414D-9447-982DE1E6E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B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ViT-Tiny
(gradual All L)</c:v>
                </c:pt>
                <c:pt idx="1">
                  <c:v>ResNet-10t
(gradual All L)</c:v>
                </c:pt>
                <c:pt idx="2">
                  <c:v>ResNet-10t
(gradual)</c:v>
                </c:pt>
                <c:pt idx="3">
                  <c:v>ViT-Tiny
(gradual 3L)</c:v>
                </c:pt>
                <c:pt idx="4">
                  <c:v>ViT-Tiny-Distilled
(Student)</c:v>
                </c:pt>
                <c:pt idx="5">
                  <c:v>ViT-Base (Teacher)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84.46</c:v>
                </c:pt>
                <c:pt idx="1">
                  <c:v>82.31</c:v>
                </c:pt>
                <c:pt idx="2">
                  <c:v>81.819999999999993</c:v>
                </c:pt>
                <c:pt idx="3">
                  <c:v>78.2</c:v>
                </c:pt>
                <c:pt idx="4">
                  <c:v>87.54</c:v>
                </c:pt>
                <c:pt idx="5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B-4E9F-8279-10C0C2E2D2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B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ViT-Tiny
(gradual All L)</c:v>
                </c:pt>
                <c:pt idx="1">
                  <c:v>ResNet-10t
(gradual All L)</c:v>
                </c:pt>
                <c:pt idx="2">
                  <c:v>ResNet-10t
(gradual)</c:v>
                </c:pt>
                <c:pt idx="3">
                  <c:v>ViT-Tiny
(gradual 3L)</c:v>
                </c:pt>
                <c:pt idx="4">
                  <c:v>ViT-Tiny-Distilled
(Student)</c:v>
                </c:pt>
                <c:pt idx="5">
                  <c:v>ViT-Base (Teacher)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84.23</c:v>
                </c:pt>
                <c:pt idx="1">
                  <c:v>82.07</c:v>
                </c:pt>
                <c:pt idx="2">
                  <c:v>81.48</c:v>
                </c:pt>
                <c:pt idx="3">
                  <c:v>77.95</c:v>
                </c:pt>
                <c:pt idx="4">
                  <c:v>87.35</c:v>
                </c:pt>
                <c:pt idx="5">
                  <c:v>92.86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AB-4E9F-8279-10C0C2E2D2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ViT-Tiny distilled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0.87760000000000005</c:v>
                </c:pt>
                <c:pt idx="1">
                  <c:v>0.74039999999999995</c:v>
                </c:pt>
                <c:pt idx="2">
                  <c:v>0.58750000000000002</c:v>
                </c:pt>
                <c:pt idx="3">
                  <c:v>0.87439999999999996</c:v>
                </c:pt>
                <c:pt idx="4">
                  <c:v>0.84789999999999999</c:v>
                </c:pt>
                <c:pt idx="5">
                  <c:v>0.83330000000000004</c:v>
                </c:pt>
                <c:pt idx="6">
                  <c:v>0.79049999999999998</c:v>
                </c:pt>
                <c:pt idx="7">
                  <c:v>0.94510000000000005</c:v>
                </c:pt>
                <c:pt idx="8">
                  <c:v>0.86539999999999995</c:v>
                </c:pt>
                <c:pt idx="9">
                  <c:v>0.87760000000000005</c:v>
                </c:pt>
                <c:pt idx="10">
                  <c:v>0.82679999999999998</c:v>
                </c:pt>
                <c:pt idx="11">
                  <c:v>0.88770000000000004</c:v>
                </c:pt>
                <c:pt idx="12">
                  <c:v>0.8821</c:v>
                </c:pt>
                <c:pt idx="13">
                  <c:v>0.89690000000000003</c:v>
                </c:pt>
                <c:pt idx="14">
                  <c:v>0.89910000000000001</c:v>
                </c:pt>
                <c:pt idx="15">
                  <c:v>0.91790000000000005</c:v>
                </c:pt>
                <c:pt idx="16">
                  <c:v>0.91</c:v>
                </c:pt>
                <c:pt idx="17">
                  <c:v>0.90100000000000002</c:v>
                </c:pt>
                <c:pt idx="18">
                  <c:v>0.96909999999999996</c:v>
                </c:pt>
                <c:pt idx="19">
                  <c:v>0.94059999999999999</c:v>
                </c:pt>
                <c:pt idx="20">
                  <c:v>0.86699999999999999</c:v>
                </c:pt>
                <c:pt idx="21">
                  <c:v>0.90159999999999996</c:v>
                </c:pt>
                <c:pt idx="22">
                  <c:v>0.93069999999999997</c:v>
                </c:pt>
                <c:pt idx="23">
                  <c:v>0.86339999999999995</c:v>
                </c:pt>
                <c:pt idx="24">
                  <c:v>0.92779999999999996</c:v>
                </c:pt>
                <c:pt idx="25">
                  <c:v>0.96909999999999996</c:v>
                </c:pt>
                <c:pt idx="26">
                  <c:v>0.80210000000000004</c:v>
                </c:pt>
                <c:pt idx="27">
                  <c:v>0.8901</c:v>
                </c:pt>
                <c:pt idx="28">
                  <c:v>0.88349999999999995</c:v>
                </c:pt>
                <c:pt idx="29">
                  <c:v>0.91259999999999997</c:v>
                </c:pt>
                <c:pt idx="30">
                  <c:v>0.95</c:v>
                </c:pt>
                <c:pt idx="31">
                  <c:v>0.91349999999999998</c:v>
                </c:pt>
                <c:pt idx="32">
                  <c:v>0.89659999999999995</c:v>
                </c:pt>
                <c:pt idx="33">
                  <c:v>0.91869999999999996</c:v>
                </c:pt>
                <c:pt idx="34">
                  <c:v>0.58330000000000004</c:v>
                </c:pt>
                <c:pt idx="35">
                  <c:v>0.89</c:v>
                </c:pt>
                <c:pt idx="36">
                  <c:v>0.94850000000000001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9A-48B9-835E-8FD938C0E9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ViT-Base (full)</c:v>
                </c:pt>
              </c:strCache>
            </c:strRef>
          </c:tx>
          <c:spPr>
            <a:ln w="25400" cap="flat">
              <a:solidFill>
                <a:srgbClr val="0F34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3460"/>
              </a:solidFill>
              <a:ln w="9525" cap="flat">
                <a:solidFill>
                  <a:srgbClr val="0F3460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0.88890000000000002</c:v>
                </c:pt>
                <c:pt idx="1">
                  <c:v>0.74550000000000005</c:v>
                </c:pt>
                <c:pt idx="2">
                  <c:v>0.56140000000000001</c:v>
                </c:pt>
                <c:pt idx="3">
                  <c:v>0.87619999999999998</c:v>
                </c:pt>
                <c:pt idx="4">
                  <c:v>0.76919999999999999</c:v>
                </c:pt>
                <c:pt idx="5">
                  <c:v>0.83540000000000003</c:v>
                </c:pt>
                <c:pt idx="6">
                  <c:v>0.75470000000000004</c:v>
                </c:pt>
                <c:pt idx="7">
                  <c:v>0.91749999999999998</c:v>
                </c:pt>
                <c:pt idx="8">
                  <c:v>0.78480000000000005</c:v>
                </c:pt>
                <c:pt idx="9">
                  <c:v>0.82979999999999998</c:v>
                </c:pt>
                <c:pt idx="10">
                  <c:v>0.74</c:v>
                </c:pt>
                <c:pt idx="11">
                  <c:v>0.88729999999999998</c:v>
                </c:pt>
                <c:pt idx="12">
                  <c:v>0.84209999999999996</c:v>
                </c:pt>
                <c:pt idx="13">
                  <c:v>0.83330000000000004</c:v>
                </c:pt>
                <c:pt idx="14">
                  <c:v>0.8649</c:v>
                </c:pt>
                <c:pt idx="15">
                  <c:v>0.93330000000000002</c:v>
                </c:pt>
                <c:pt idx="16">
                  <c:v>0.91180000000000005</c:v>
                </c:pt>
                <c:pt idx="17">
                  <c:v>0.89290000000000003</c:v>
                </c:pt>
                <c:pt idx="18">
                  <c:v>0.95740000000000003</c:v>
                </c:pt>
                <c:pt idx="19">
                  <c:v>0.94740000000000002</c:v>
                </c:pt>
                <c:pt idx="20">
                  <c:v>0.85709999999999997</c:v>
                </c:pt>
                <c:pt idx="21">
                  <c:v>0.86050000000000004</c:v>
                </c:pt>
                <c:pt idx="22">
                  <c:v>0.91839999999999999</c:v>
                </c:pt>
                <c:pt idx="23">
                  <c:v>0.8478</c:v>
                </c:pt>
                <c:pt idx="24">
                  <c:v>0.92679999999999996</c:v>
                </c:pt>
                <c:pt idx="25">
                  <c:v>0.95120000000000005</c:v>
                </c:pt>
                <c:pt idx="26">
                  <c:v>0.73799999999999999</c:v>
                </c:pt>
                <c:pt idx="27">
                  <c:v>0.89190000000000003</c:v>
                </c:pt>
                <c:pt idx="28">
                  <c:v>0.85709999999999997</c:v>
                </c:pt>
                <c:pt idx="29">
                  <c:v>0.90910000000000002</c:v>
                </c:pt>
                <c:pt idx="30">
                  <c:v>0.91569999999999996</c:v>
                </c:pt>
                <c:pt idx="31">
                  <c:v>0.91669999999999996</c:v>
                </c:pt>
                <c:pt idx="32">
                  <c:v>0.8276</c:v>
                </c:pt>
                <c:pt idx="33">
                  <c:v>0.90910000000000002</c:v>
                </c:pt>
                <c:pt idx="34">
                  <c:v>0.52380000000000004</c:v>
                </c:pt>
                <c:pt idx="35">
                  <c:v>0.83330000000000004</c:v>
                </c:pt>
                <c:pt idx="36">
                  <c:v>0.92859999999999998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9A-48B9-835E-8FD938C0E9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ResNet-10t (full)</c:v>
                </c:pt>
              </c:strCache>
            </c:strRef>
          </c:tx>
          <c:spPr>
            <a:ln w="25400" cap="flat">
              <a:solidFill>
                <a:srgbClr val="7B519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B5198"/>
              </a:solidFill>
              <a:ln w="9525" cap="flat">
                <a:solidFill>
                  <a:srgbClr val="7B5198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0.8</c:v>
                </c:pt>
                <c:pt idx="1">
                  <c:v>0.73680000000000001</c:v>
                </c:pt>
                <c:pt idx="2">
                  <c:v>0.3836</c:v>
                </c:pt>
                <c:pt idx="3">
                  <c:v>0.81630000000000003</c:v>
                </c:pt>
                <c:pt idx="4">
                  <c:v>0.75470000000000004</c:v>
                </c:pt>
                <c:pt idx="5">
                  <c:v>0.81479999999999997</c:v>
                </c:pt>
                <c:pt idx="6">
                  <c:v>0.78049999999999997</c:v>
                </c:pt>
                <c:pt idx="7">
                  <c:v>0.88539999999999996</c:v>
                </c:pt>
                <c:pt idx="8">
                  <c:v>0.71550000000000002</c:v>
                </c:pt>
                <c:pt idx="9">
                  <c:v>0.82599999999999996</c:v>
                </c:pt>
                <c:pt idx="10">
                  <c:v>0.74</c:v>
                </c:pt>
                <c:pt idx="11">
                  <c:v>0.84930000000000005</c:v>
                </c:pt>
                <c:pt idx="12">
                  <c:v>0.79120000000000001</c:v>
                </c:pt>
                <c:pt idx="13">
                  <c:v>0.8125</c:v>
                </c:pt>
                <c:pt idx="14">
                  <c:v>0.83330000000000004</c:v>
                </c:pt>
                <c:pt idx="15">
                  <c:v>0.86019999999999996</c:v>
                </c:pt>
                <c:pt idx="16">
                  <c:v>0.82950000000000002</c:v>
                </c:pt>
                <c:pt idx="17">
                  <c:v>0.84619999999999995</c:v>
                </c:pt>
                <c:pt idx="18">
                  <c:v>0.90380000000000005</c:v>
                </c:pt>
                <c:pt idx="19">
                  <c:v>0.90910000000000002</c:v>
                </c:pt>
                <c:pt idx="20">
                  <c:v>0.81079999999999997</c:v>
                </c:pt>
                <c:pt idx="21">
                  <c:v>0.83330000000000004</c:v>
                </c:pt>
                <c:pt idx="22">
                  <c:v>0.89290000000000003</c:v>
                </c:pt>
                <c:pt idx="23">
                  <c:v>0.80649999999999999</c:v>
                </c:pt>
                <c:pt idx="24">
                  <c:v>0.91490000000000005</c:v>
                </c:pt>
                <c:pt idx="25">
                  <c:v>0.95240000000000002</c:v>
                </c:pt>
                <c:pt idx="26">
                  <c:v>0.64410000000000001</c:v>
                </c:pt>
                <c:pt idx="27">
                  <c:v>0.82189999999999996</c:v>
                </c:pt>
                <c:pt idx="28">
                  <c:v>0.8</c:v>
                </c:pt>
                <c:pt idx="29">
                  <c:v>0.85709999999999997</c:v>
                </c:pt>
                <c:pt idx="30">
                  <c:v>0.84850000000000003</c:v>
                </c:pt>
                <c:pt idx="31">
                  <c:v>0.90910000000000002</c:v>
                </c:pt>
                <c:pt idx="32">
                  <c:v>0.85709999999999997</c:v>
                </c:pt>
                <c:pt idx="33">
                  <c:v>0.8649</c:v>
                </c:pt>
                <c:pt idx="34">
                  <c:v>0.51849999999999996</c:v>
                </c:pt>
                <c:pt idx="35">
                  <c:v>0.7843</c:v>
                </c:pt>
                <c:pt idx="36">
                  <c:v>0.89290000000000003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9A-48B9-835E-8FD938C0E9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ResNet-10t (gradual)</c:v>
                </c:pt>
              </c:strCache>
            </c:strRef>
          </c:tx>
          <c:spPr>
            <a:ln w="25400" cap="flat">
              <a:solidFill>
                <a:srgbClr val="9D6F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D6FB5"/>
              </a:solidFill>
              <a:ln w="9525" cap="flat">
                <a:solidFill>
                  <a:srgbClr val="9D6FB5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Sheet1!$E$2:$E$38</c:f>
              <c:numCache>
                <c:formatCode>General</c:formatCode>
                <c:ptCount val="37"/>
                <c:pt idx="0">
                  <c:v>0.76919999999999999</c:v>
                </c:pt>
                <c:pt idx="1">
                  <c:v>0.72729999999999995</c:v>
                </c:pt>
                <c:pt idx="2">
                  <c:v>0.3478</c:v>
                </c:pt>
                <c:pt idx="3">
                  <c:v>0.81630000000000003</c:v>
                </c:pt>
                <c:pt idx="4">
                  <c:v>0.75470000000000004</c:v>
                </c:pt>
                <c:pt idx="5">
                  <c:v>0.79590000000000005</c:v>
                </c:pt>
                <c:pt idx="6">
                  <c:v>0.8</c:v>
                </c:pt>
                <c:pt idx="7">
                  <c:v>0.873</c:v>
                </c:pt>
                <c:pt idx="8">
                  <c:v>0.70209999999999995</c:v>
                </c:pt>
                <c:pt idx="9">
                  <c:v>0.8</c:v>
                </c:pt>
                <c:pt idx="10">
                  <c:v>0.72219999999999995</c:v>
                </c:pt>
                <c:pt idx="11">
                  <c:v>0.8367</c:v>
                </c:pt>
                <c:pt idx="12">
                  <c:v>0.74509999999999998</c:v>
                </c:pt>
                <c:pt idx="13">
                  <c:v>0.81079999999999997</c:v>
                </c:pt>
                <c:pt idx="14">
                  <c:v>0.81479999999999997</c:v>
                </c:pt>
                <c:pt idx="15">
                  <c:v>0.86670000000000003</c:v>
                </c:pt>
                <c:pt idx="16">
                  <c:v>0.8</c:v>
                </c:pt>
                <c:pt idx="17">
                  <c:v>0.84209999999999996</c:v>
                </c:pt>
                <c:pt idx="18">
                  <c:v>0.90380000000000005</c:v>
                </c:pt>
                <c:pt idx="19">
                  <c:v>0.90480000000000005</c:v>
                </c:pt>
                <c:pt idx="20">
                  <c:v>0.81079999999999997</c:v>
                </c:pt>
                <c:pt idx="21">
                  <c:v>0.85709999999999997</c:v>
                </c:pt>
                <c:pt idx="22">
                  <c:v>0.85709999999999997</c:v>
                </c:pt>
                <c:pt idx="23">
                  <c:v>0.71430000000000005</c:v>
                </c:pt>
                <c:pt idx="24">
                  <c:v>0.94120000000000004</c:v>
                </c:pt>
                <c:pt idx="25">
                  <c:v>0.9677</c:v>
                </c:pt>
                <c:pt idx="26">
                  <c:v>0.65659999999999996</c:v>
                </c:pt>
                <c:pt idx="27">
                  <c:v>0.78380000000000005</c:v>
                </c:pt>
                <c:pt idx="28">
                  <c:v>0.77780000000000005</c:v>
                </c:pt>
                <c:pt idx="29">
                  <c:v>0.83020000000000005</c:v>
                </c:pt>
                <c:pt idx="30">
                  <c:v>0.8649</c:v>
                </c:pt>
                <c:pt idx="31">
                  <c:v>0.88890000000000002</c:v>
                </c:pt>
                <c:pt idx="32">
                  <c:v>0.83330000000000004</c:v>
                </c:pt>
                <c:pt idx="33">
                  <c:v>0.8649</c:v>
                </c:pt>
                <c:pt idx="34">
                  <c:v>0.5161</c:v>
                </c:pt>
                <c:pt idx="35">
                  <c:v>0.77780000000000005</c:v>
                </c:pt>
                <c:pt idx="36">
                  <c:v>0.86419999999999997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C9A-48B9-835E-8FD938C0E9C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ViT-Tiny (gradual 3L)</c:v>
                </c:pt>
              </c:strCache>
            </c:strRef>
          </c:tx>
          <c:spPr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Sheet1!$F$2:$F$38</c:f>
              <c:numCache>
                <c:formatCode>General</c:formatCode>
                <c:ptCount val="37"/>
                <c:pt idx="0">
                  <c:v>0.8</c:v>
                </c:pt>
                <c:pt idx="1">
                  <c:v>0.6552</c:v>
                </c:pt>
                <c:pt idx="2">
                  <c:v>0.37619999999999998</c:v>
                </c:pt>
                <c:pt idx="3">
                  <c:v>0.80510000000000004</c:v>
                </c:pt>
                <c:pt idx="4">
                  <c:v>0.72729999999999995</c:v>
                </c:pt>
                <c:pt idx="5">
                  <c:v>0.78849999999999998</c:v>
                </c:pt>
                <c:pt idx="6">
                  <c:v>0.72729999999999995</c:v>
                </c:pt>
                <c:pt idx="7">
                  <c:v>0.85370000000000001</c:v>
                </c:pt>
                <c:pt idx="8">
                  <c:v>0.63160000000000005</c:v>
                </c:pt>
                <c:pt idx="9">
                  <c:v>0.78259999999999996</c:v>
                </c:pt>
                <c:pt idx="10">
                  <c:v>0.6512</c:v>
                </c:pt>
                <c:pt idx="11">
                  <c:v>0.84209999999999996</c:v>
                </c:pt>
                <c:pt idx="12">
                  <c:v>0.78259999999999996</c:v>
                </c:pt>
                <c:pt idx="13">
                  <c:v>0.76190000000000002</c:v>
                </c:pt>
                <c:pt idx="14">
                  <c:v>0.7742</c:v>
                </c:pt>
                <c:pt idx="15">
                  <c:v>0.89359999999999995</c:v>
                </c:pt>
                <c:pt idx="16">
                  <c:v>0.83020000000000005</c:v>
                </c:pt>
                <c:pt idx="17">
                  <c:v>0.86209999999999998</c:v>
                </c:pt>
                <c:pt idx="18">
                  <c:v>0.90910000000000002</c:v>
                </c:pt>
                <c:pt idx="19">
                  <c:v>0.92300000000000004</c:v>
                </c:pt>
                <c:pt idx="20">
                  <c:v>0.7742</c:v>
                </c:pt>
                <c:pt idx="21">
                  <c:v>0.81820000000000004</c:v>
                </c:pt>
                <c:pt idx="22">
                  <c:v>0.88890000000000002</c:v>
                </c:pt>
                <c:pt idx="23">
                  <c:v>0.79369999999999996</c:v>
                </c:pt>
                <c:pt idx="24">
                  <c:v>0.85370000000000001</c:v>
                </c:pt>
                <c:pt idx="25">
                  <c:v>0.94120000000000004</c:v>
                </c:pt>
                <c:pt idx="26">
                  <c:v>0.65569999999999995</c:v>
                </c:pt>
                <c:pt idx="27">
                  <c:v>0.81079999999999997</c:v>
                </c:pt>
                <c:pt idx="28">
                  <c:v>0.78259999999999996</c:v>
                </c:pt>
                <c:pt idx="29">
                  <c:v>0.84850000000000003</c:v>
                </c:pt>
                <c:pt idx="30">
                  <c:v>0.8</c:v>
                </c:pt>
                <c:pt idx="31">
                  <c:v>0.90910000000000002</c:v>
                </c:pt>
                <c:pt idx="32">
                  <c:v>0.83020000000000005</c:v>
                </c:pt>
                <c:pt idx="33">
                  <c:v>0.84</c:v>
                </c:pt>
                <c:pt idx="34">
                  <c:v>0.46589999999999998</c:v>
                </c:pt>
                <c:pt idx="35">
                  <c:v>0.78049999999999997</c:v>
                </c:pt>
                <c:pt idx="36">
                  <c:v>0.92310000000000003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C9A-48B9-835E-8FD938C0E9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 → ViT-Tiny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D4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Oxford-IIIT Pet Dataset · 37 Breed Classes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Procedure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knowledge distillation?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idea
</a:t>
            </a:r>
            <a:r>
              <a:rPr lang="en-US" sz="13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smaller student model learns from a larger, pre-trained teacher. Rather than learning only from hard labels, the student also mimics the teacher's output distribution and internal representations.
</a:t>
            </a:r>
            <a:r>
              <a:rPr lang="en-US" sz="14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works
</a:t>
            </a:r>
            <a:r>
              <a:rPr lang="en-US" sz="13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soft probabilities reveal class similarity structure (e.g. the model is 70% Pug, 20% Bulldog) — richer signal than a one-hot label. Intermediate features transfer spatial understanding.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 ·  ViT-Base (86M params)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1828800"/>
            <a:ext cx="0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 labels +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3840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·  ViT-Tiny (5.7M params)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3383280"/>
            <a:ext cx="18288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15× parameter compression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840480"/>
            <a:ext cx="3840480" cy="640080"/>
          </a:xfrm>
          <a:prstGeom prst="rect">
            <a:avLst/>
          </a:prstGeom>
          <a:solidFill>
            <a:srgbClr val="FFF9E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backbone is fully frozen. Only the student (and its projector) receive gradient updates.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feature distillation — shared projection space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39"/>
            <a:ext cx="2743200" cy="3598815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58091" cy="384048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0580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 0–4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1058091" cy="384048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03120"/>
            <a:ext cx="10580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 5  ◀ hook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058091" cy="384048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06040"/>
            <a:ext cx="10580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 6–11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154680"/>
            <a:ext cx="1058091" cy="320040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54680"/>
            <a:ext cx="10580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 + Head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81051" y="2109651"/>
            <a:ext cx="1058091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1050" y="2109651"/>
            <a:ext cx="10580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JL Projector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768 → 256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005839"/>
            <a:ext cx="2788920" cy="3598813"/>
          </a:xfrm>
          <a:prstGeom prst="rect">
            <a:avLst/>
          </a:prstGeom>
          <a:solidFill>
            <a:srgbClr val="EBF8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005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ViT-Tiny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50330" y="1600200"/>
            <a:ext cx="953589" cy="384048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0330" y="1600200"/>
            <a:ext cx="9535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 0–4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50330" y="2103120"/>
            <a:ext cx="95359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0330" y="2103120"/>
            <a:ext cx="9535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 5  ◀ hook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50330" y="2606040"/>
            <a:ext cx="953589" cy="384048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0330" y="2606040"/>
            <a:ext cx="9535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 6–11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50330" y="3154680"/>
            <a:ext cx="953590" cy="320040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0330" y="3154680"/>
            <a:ext cx="9535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 + Head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70170" y="2116836"/>
            <a:ext cx="95359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0170" y="2116836"/>
            <a:ext cx="9535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Projector (trainable)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192 → 256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2701" y="1245641"/>
            <a:ext cx="1838597" cy="658368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2292" y="1285483"/>
            <a:ext cx="183859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Space  256-dim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2701" y="1565681"/>
            <a:ext cx="183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53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cosine similarity loss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V="1">
            <a:off x="3005271" y="1565681"/>
            <a:ext cx="627839" cy="758201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0480" y="1565681"/>
            <a:ext cx="596000" cy="75820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1262" y="2007859"/>
            <a:ext cx="2037806" cy="502920"/>
          </a:xfrm>
          <a:prstGeom prst="rect">
            <a:avLst/>
          </a:prstGeom>
          <a:solidFill>
            <a:srgbClr val="FFF9E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2292" y="1992836"/>
            <a:ext cx="18405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 loss gated off until block 5 is unfrozen — prevents projector learning stale representations</a:t>
            </a:r>
            <a:endParaRPr lang="en-US" sz="900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107434D6-AB06-0FB1-6BC3-913592D3B10E}"/>
              </a:ext>
            </a:extLst>
          </p:cNvPr>
          <p:cNvSpPr/>
          <p:nvPr/>
        </p:nvSpPr>
        <p:spPr>
          <a:xfrm>
            <a:off x="1701163" y="2304288"/>
            <a:ext cx="88449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7B0A7EBF-60F7-9971-7F56-EC1A84C2C0A4}"/>
              </a:ext>
            </a:extLst>
          </p:cNvPr>
          <p:cNvSpPr/>
          <p:nvPr/>
        </p:nvSpPr>
        <p:spPr>
          <a:xfrm>
            <a:off x="7291251" y="2305159"/>
            <a:ext cx="1676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8B6402B4-62D3-A938-9845-808524E7845A}"/>
              </a:ext>
            </a:extLst>
          </p:cNvPr>
          <p:cNvSpPr/>
          <p:nvPr/>
        </p:nvSpPr>
        <p:spPr>
          <a:xfrm>
            <a:off x="594360" y="3665429"/>
            <a:ext cx="1058091" cy="320040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D79088F5-56F2-6A09-0F4A-5DD091CE2CF0}"/>
              </a:ext>
            </a:extLst>
          </p:cNvPr>
          <p:cNvSpPr/>
          <p:nvPr/>
        </p:nvSpPr>
        <p:spPr>
          <a:xfrm>
            <a:off x="594360" y="3665429"/>
            <a:ext cx="10580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Logits</a:t>
            </a:r>
            <a:endParaRPr lang="en-US" sz="100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00D3C3F9-004B-3584-F1B6-C39AA6B5B2F0}"/>
              </a:ext>
            </a:extLst>
          </p:cNvPr>
          <p:cNvSpPr/>
          <p:nvPr/>
        </p:nvSpPr>
        <p:spPr>
          <a:xfrm>
            <a:off x="7550331" y="3672840"/>
            <a:ext cx="953590" cy="320040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5DD3F345-CEED-9F84-9885-06469733BF2F}"/>
              </a:ext>
            </a:extLst>
          </p:cNvPr>
          <p:cNvSpPr/>
          <p:nvPr/>
        </p:nvSpPr>
        <p:spPr>
          <a:xfrm>
            <a:off x="7550331" y="3672840"/>
            <a:ext cx="9535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Logits</a:t>
            </a:r>
            <a:endParaRPr lang="en-US" sz="10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0F63692E-BD36-35B6-2ABC-63D177BCE1CE}"/>
              </a:ext>
            </a:extLst>
          </p:cNvPr>
          <p:cNvSpPr/>
          <p:nvPr/>
        </p:nvSpPr>
        <p:spPr>
          <a:xfrm>
            <a:off x="594360" y="4155075"/>
            <a:ext cx="1058091" cy="320040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0F4757C-C83F-FB42-1D9B-3074E9039DDB}"/>
              </a:ext>
            </a:extLst>
          </p:cNvPr>
          <p:cNvSpPr/>
          <p:nvPr/>
        </p:nvSpPr>
        <p:spPr>
          <a:xfrm>
            <a:off x="594360" y="4155075"/>
            <a:ext cx="10580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 Probabilities</a:t>
            </a:r>
            <a:endParaRPr lang="en-US" sz="10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52998833-4A7C-C08C-19FE-42441730450E}"/>
              </a:ext>
            </a:extLst>
          </p:cNvPr>
          <p:cNvSpPr/>
          <p:nvPr/>
        </p:nvSpPr>
        <p:spPr>
          <a:xfrm>
            <a:off x="7517675" y="4163781"/>
            <a:ext cx="1058091" cy="320040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19FE1523-268F-D0B3-993A-0BB890649763}"/>
              </a:ext>
            </a:extLst>
          </p:cNvPr>
          <p:cNvSpPr/>
          <p:nvPr/>
        </p:nvSpPr>
        <p:spPr>
          <a:xfrm>
            <a:off x="7517675" y="4163781"/>
            <a:ext cx="1058091" cy="320040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 Probabilities</a:t>
            </a:r>
            <a:endParaRPr lang="en-US" sz="1000" dirty="0"/>
          </a:p>
        </p:txBody>
      </p:sp>
      <p:sp>
        <p:nvSpPr>
          <p:cNvPr id="45" name="Shape 29">
            <a:extLst>
              <a:ext uri="{FF2B5EF4-FFF2-40B4-BE49-F238E27FC236}">
                <a16:creationId xmlns:a16="http://schemas.microsoft.com/office/drawing/2014/main" id="{9C6B8378-58EA-FCDE-AFBD-65C03BAD6681}"/>
              </a:ext>
            </a:extLst>
          </p:cNvPr>
          <p:cNvSpPr/>
          <p:nvPr/>
        </p:nvSpPr>
        <p:spPr>
          <a:xfrm flipV="1">
            <a:off x="1701163" y="3154680"/>
            <a:ext cx="2367914" cy="6932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9D10E615-059E-4713-9EAE-DEC52E764096}"/>
              </a:ext>
            </a:extLst>
          </p:cNvPr>
          <p:cNvSpPr/>
          <p:nvPr/>
        </p:nvSpPr>
        <p:spPr>
          <a:xfrm>
            <a:off x="5084446" y="3154680"/>
            <a:ext cx="2367914" cy="69320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42FC0B66-B800-8CC9-3E89-105536A2BE70}"/>
              </a:ext>
            </a:extLst>
          </p:cNvPr>
          <p:cNvSpPr/>
          <p:nvPr/>
        </p:nvSpPr>
        <p:spPr>
          <a:xfrm>
            <a:off x="4092754" y="2989201"/>
            <a:ext cx="960123" cy="330041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9434037A-331C-18F9-B99F-E400644A3278}"/>
              </a:ext>
            </a:extLst>
          </p:cNvPr>
          <p:cNvSpPr/>
          <p:nvPr/>
        </p:nvSpPr>
        <p:spPr>
          <a:xfrm>
            <a:off x="3847825" y="3035235"/>
            <a:ext cx="1546318" cy="243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</a:t>
            </a:r>
            <a:endParaRPr lang="en-US" sz="1100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68921769-2ABA-A47F-1E10-4B17A769FDA4}"/>
              </a:ext>
            </a:extLst>
          </p:cNvPr>
          <p:cNvSpPr/>
          <p:nvPr/>
        </p:nvSpPr>
        <p:spPr>
          <a:xfrm flipV="1">
            <a:off x="1701162" y="3614591"/>
            <a:ext cx="2358393" cy="596417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1" name="Shape 30">
            <a:extLst>
              <a:ext uri="{FF2B5EF4-FFF2-40B4-BE49-F238E27FC236}">
                <a16:creationId xmlns:a16="http://schemas.microsoft.com/office/drawing/2014/main" id="{623A1BC7-2974-59BA-D0D4-8E4D48AC4D2F}"/>
              </a:ext>
            </a:extLst>
          </p:cNvPr>
          <p:cNvSpPr/>
          <p:nvPr/>
        </p:nvSpPr>
        <p:spPr>
          <a:xfrm>
            <a:off x="5093967" y="3621777"/>
            <a:ext cx="2389961" cy="58923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5D87B15F-5D8C-A6E9-AECC-3530575EBBF3}"/>
              </a:ext>
            </a:extLst>
          </p:cNvPr>
          <p:cNvSpPr/>
          <p:nvPr/>
        </p:nvSpPr>
        <p:spPr>
          <a:xfrm>
            <a:off x="4092754" y="3482322"/>
            <a:ext cx="960123" cy="330041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D7C3C60E-F883-E18C-5C4F-69051E6C9B71}"/>
              </a:ext>
            </a:extLst>
          </p:cNvPr>
          <p:cNvSpPr/>
          <p:nvPr/>
        </p:nvSpPr>
        <p:spPr>
          <a:xfrm>
            <a:off x="3799656" y="3517808"/>
            <a:ext cx="1546318" cy="243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 Loss</a:t>
            </a:r>
            <a:b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(KL(teacher, student))</a:t>
            </a:r>
            <a:endParaRPr lang="en-US" sz="700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9CB12002-DC11-438E-749D-B32538E5FE02}"/>
              </a:ext>
            </a:extLst>
          </p:cNvPr>
          <p:cNvSpPr/>
          <p:nvPr/>
        </p:nvSpPr>
        <p:spPr>
          <a:xfrm flipV="1">
            <a:off x="1700347" y="4384109"/>
            <a:ext cx="2348874" cy="3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F085F6F4-B360-F881-5620-CDAE2F715D2F}"/>
              </a:ext>
            </a:extLst>
          </p:cNvPr>
          <p:cNvSpPr/>
          <p:nvPr/>
        </p:nvSpPr>
        <p:spPr>
          <a:xfrm>
            <a:off x="5093967" y="4375599"/>
            <a:ext cx="2389145" cy="851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A01D6BCD-B6D3-7333-45E4-AF7F9355425A}"/>
              </a:ext>
            </a:extLst>
          </p:cNvPr>
          <p:cNvSpPr/>
          <p:nvPr/>
        </p:nvSpPr>
        <p:spPr>
          <a:xfrm>
            <a:off x="4091124" y="4106190"/>
            <a:ext cx="960123" cy="330041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79E58DCA-5CC9-C705-136C-D9E612E00DF9}"/>
              </a:ext>
            </a:extLst>
          </p:cNvPr>
          <p:cNvSpPr/>
          <p:nvPr/>
        </p:nvSpPr>
        <p:spPr>
          <a:xfrm>
            <a:off x="3798026" y="4141676"/>
            <a:ext cx="1546318" cy="243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loss</a:t>
            </a:r>
            <a:b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(CE(student, teacher))</a:t>
            </a:r>
            <a:endParaRPr lang="en-US" sz="400" dirty="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F7F0524D-2714-8F49-CA3B-CF77D5E0A0B7}"/>
              </a:ext>
            </a:extLst>
          </p:cNvPr>
          <p:cNvSpPr/>
          <p:nvPr/>
        </p:nvSpPr>
        <p:spPr>
          <a:xfrm>
            <a:off x="7615643" y="4741708"/>
            <a:ext cx="960123" cy="330041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03CDD31E-5EEF-91F4-1ED7-C5210092A0D5}"/>
              </a:ext>
            </a:extLst>
          </p:cNvPr>
          <p:cNvSpPr/>
          <p:nvPr/>
        </p:nvSpPr>
        <p:spPr>
          <a:xfrm>
            <a:off x="7322545" y="4777194"/>
            <a:ext cx="1546318" cy="243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loss</a:t>
            </a:r>
            <a:b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(CE(student, labels))</a:t>
            </a:r>
            <a:endParaRPr lang="en-US" sz="400" dirty="0"/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CCD834CA-5F0A-582D-F204-0859B90F9657}"/>
              </a:ext>
            </a:extLst>
          </p:cNvPr>
          <p:cNvSpPr/>
          <p:nvPr/>
        </p:nvSpPr>
        <p:spPr>
          <a:xfrm>
            <a:off x="8090672" y="4533178"/>
            <a:ext cx="0" cy="14295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distillation loss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73152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61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Cross-entropy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143000"/>
            <a:ext cx="1097280" cy="310896"/>
          </a:xfrm>
          <a:prstGeom prst="rect">
            <a:avLst/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1430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 = 0.3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80136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 label supervision. Keeps the student anchored to ground truth. Label smoothing 0.1 applied (Only in cases where </a:t>
            </a:r>
            <a:r>
              <a:rPr lang="en-US" sz="1100" dirty="0" err="1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cutmix</a:t>
            </a: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</a:t>
            </a:r>
            <a:r>
              <a:rPr lang="en-US" sz="1100" dirty="0" err="1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mixup</a:t>
            </a: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is not applied).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61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L_KL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5604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 divergence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1143000"/>
            <a:ext cx="1097280" cy="310896"/>
          </a:xfrm>
          <a:prstGeom prst="rect">
            <a:avLst/>
          </a:prstGeom>
          <a:solidFill>
            <a:srgbClr val="1C7293">
              <a:alpha val="12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1430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 = 0.5  ·  T =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56048" y="180136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Soft-label distillation. Softened teacher probs reveal class similarity structure.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L_MSE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Logit MSE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0" y="3017520"/>
            <a:ext cx="1097280" cy="310896"/>
          </a:xfrm>
          <a:prstGeom prst="rect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0175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 = 0.1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36758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Matches absolute logit magnitudes — complements KL which only cares about relative ordering.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26080"/>
            <a:ext cx="73152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L_feat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56048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017520"/>
            <a:ext cx="1097280" cy="310896"/>
          </a:xfrm>
          <a:prstGeom prst="rect">
            <a:avLst/>
          </a:prstGeom>
          <a:solidFill>
            <a:srgbClr val="0F766E">
              <a:alpha val="12000"/>
            </a:srgbClr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0175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 = 0.1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6048" y="36758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– cos(student_proj, teacher_proj). Bounded [0, 2]. Active only once hook block is unfrozen.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17720"/>
            <a:ext cx="836676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617720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 =  0.3 · L_CE  +  0.5 · L_KL  +  0.1 · L_MSE  +  0.1 · L_feat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unfreeze training schedule — 13 phases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10058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9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20ep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051560"/>
            <a:ext cx="25146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0698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11–7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3533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10ep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051560"/>
            <a:ext cx="15087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0698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6–4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1353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051560"/>
            <a:ext cx="150876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0698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3–1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1353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10ep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1051560"/>
            <a:ext cx="150876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0698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 + full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13533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30ep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87452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gradual?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23134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Freezing all but the head initially protects ImageNet representations. Each newly unfrozen block adapts to Pets before the next opens, preventing catastrophic interference.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87452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9472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rebuild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23134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Adam is re-instantiated after each unfreeze so newly trainable parameters enter the optimizer with fresh momentum state — no stale gradients carried over.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 loss gating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" y="38221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L_feat stays zero until block 5 is unfrozen (phase 8). This prevents the projector from learning to align frozen representations that will later shift.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3832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9472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9472" y="38221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Counter resets at each phase boundary. ES patience = 6 epochs. On intermediate phases, triggering early stopping advances to the next block rather than terminating.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four distillation configurations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experiments: pretrained × gradual unfreeze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148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33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+ gradual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115568"/>
            <a:ext cx="914400" cy="292608"/>
          </a:xfrm>
          <a:prstGeom prst="rect">
            <a:avLst/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1155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 87.35%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136 epochs  ·  111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overall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33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+ no gradual unfreezing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92040" y="20848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 58.9%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113 epochs  ·  74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Representations degraded early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71800"/>
            <a:ext cx="41148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99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+ gradual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02920" y="40507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 16.5%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23160" y="3721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144 epochs  ·  81 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325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≠ pretraining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71800"/>
            <a:ext cx="41148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99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+ no gradual unfreezing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892040" y="40507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 15.9%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12280" y="3721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136 epochs  ·  79 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325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Worst configuration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across 37 breeds — four distillation configurations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009242225"/>
              </p:ext>
            </p:extLst>
          </p:nvPr>
        </p:nvGraphicFramePr>
        <p:xfrm>
          <a:off x="365760" y="960120"/>
          <a:ext cx="84124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ablation tells 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3667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is the dominant factor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8988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pretrained vs scratch gap is ~70 points. Distillation alone cannot replace ImageNet pretraining — it is a fine-tuning technique, not a training-from-scratch technique.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83667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75104"/>
            <a:ext cx="73152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08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0391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unfreeze matters — but only with pretraining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3591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pretrained+gradual beats pretrained+full by 28 points. For scratch students there is virtually no difference (0.7pt gap), since there are no learned representations to protect.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83667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44368"/>
            <a:ext cx="73152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90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0083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Multi-loss distillation amplifies interference in full unfreeze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2841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standard finetuning, full unfreeze typically costs 10–15pt. The extra 15pt penalty here is from KL and feat losses destabilising block 5 representations before they can settle.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83667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13632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9776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 loss gating is essential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2976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cosine similarity loss must be gated until the hook block (block 5) is unfrozen. Without gating, the projector learns a stale mapping and weakens later gradient flow.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distilled student vs baseline models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005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1005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1005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005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1005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(min)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18120" y="10058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89888"/>
            <a:ext cx="85039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444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</a:t>
            </a: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-Tiny (gradual All-layers)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2152" y="144475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5.7M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87952" y="1444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02352" y="1444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84.46%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752" y="1444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84.23%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31152" y="1444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142.6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45552" y="14447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1956816"/>
            <a:ext cx="8503920" cy="530352"/>
          </a:xfrm>
          <a:prstGeom prst="rect">
            <a:avLst/>
          </a:prstGeom>
          <a:solidFill>
            <a:srgbClr val="F7FB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0116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ResNet-10t (gradual All-layers)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02152" y="20116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5.4M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87952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02352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82.31%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16752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82.07%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48.5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45552" y="20116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523744"/>
            <a:ext cx="85039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5786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ResNet-10t (gradual 1-layer)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02152" y="257860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5.4M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87952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02352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81.82%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16752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81.48%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31152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16.4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45552" y="25786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090672"/>
            <a:ext cx="8503920" cy="530352"/>
          </a:xfrm>
          <a:prstGeom prst="rect">
            <a:avLst/>
          </a:prstGeom>
          <a:solidFill>
            <a:srgbClr val="F7FB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1455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ViT-Tiny (gradual 3-layer)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02152" y="314553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5.7M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87952" y="3145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02352" y="3145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78.20%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16752" y="3145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77.95%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31152" y="3145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40.9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45552" y="314553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657600"/>
            <a:ext cx="8503920" cy="530352"/>
          </a:xfrm>
          <a:prstGeom prst="rect">
            <a:avLst/>
          </a:prstGeom>
          <a:solidFill>
            <a:srgbClr val="EBF8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3657600"/>
            <a:ext cx="54864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7124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ViT-Tiny (distilled, best)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502152" y="371246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5.7M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87952" y="3712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02352" y="3712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87.54%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16752" y="3712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87.35%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31152" y="3712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111.2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845552" y="37124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136</a:t>
            </a:r>
            <a:endParaRPr 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F8915F-CA4E-8653-C29F-27D69FC30156}"/>
              </a:ext>
            </a:extLst>
          </p:cNvPr>
          <p:cNvSpPr txBox="1"/>
          <p:nvPr/>
        </p:nvSpPr>
        <p:spPr>
          <a:xfrm>
            <a:off x="1471198" y="4561609"/>
            <a:ext cx="6183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We distil only 1 layer of resnet10t to compare to 3 layers of </a:t>
            </a:r>
            <a:r>
              <a:rPr lang="en-IN" sz="1200" dirty="0" err="1"/>
              <a:t>ViT</a:t>
            </a:r>
            <a:r>
              <a:rPr lang="en-IN" sz="1200" dirty="0"/>
              <a:t>-Tiny to match parameter counts.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macro F1 — all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859324327"/>
              </p:ext>
            </p:extLst>
          </p:nvPr>
        </p:nvGraphicFramePr>
        <p:xfrm>
          <a:off x="365760" y="960120"/>
          <a:ext cx="84124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efficiency — accuracy vs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vs accuracy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26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ResNet-10t (gradual)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4264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16.4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42646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ViT-Tiny (gradual 3L)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0482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40.9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04825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700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ResNet-10t (gradual full)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6700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48.5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67004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4114800" cy="530352"/>
          </a:xfrm>
          <a:prstGeom prst="rect">
            <a:avLst/>
          </a:prstGeom>
          <a:solidFill>
            <a:srgbClr val="EBF8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ViT-Tiny (distilled)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291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111.2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2918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58768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136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</a:t>
            </a: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-Tiny (gradual full)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39136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142.6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91363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234440"/>
            <a:ext cx="64008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271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-5.5pt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92040" y="1673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 loss vs ViT-Base (teacher)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194560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194560"/>
            <a:ext cx="64008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31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+3pt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92040" y="2633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 gain vs ViT-Tiny (no distil. Full finetune)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154680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154680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1912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+5.7pt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892040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 gain vs ResNet-10t (fastest)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114800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114800"/>
            <a:ext cx="64008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151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 fewer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892040" y="4553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Parameter efficiency vs ViT-Base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distilled ViT-Tiny vs all baselines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743708612"/>
              </p:ext>
            </p:extLst>
          </p:nvPr>
        </p:nvGraphicFramePr>
        <p:xfrm>
          <a:off x="365760" y="960120"/>
          <a:ext cx="84124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classes — consistent across all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366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Classes 2 and 34 are the weakest for every model, suggesting genuine visual ambiguity in the dataset rather than model-specific failure.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771656"/>
              </p:ext>
            </p:extLst>
          </p:nvPr>
        </p:nvGraphicFramePr>
        <p:xfrm>
          <a:off x="457200" y="1866900"/>
          <a:ext cx="8229600" cy="190195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Class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ViT-Tiny distilled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ViT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-tiny (full)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ResNet-10t (full)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ViT-Tiny (gradual)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Class 2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0.588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0.561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0.384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0.376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Class 34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0.583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0.524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0.518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0.466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Class 26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0. 802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0.738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0.644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B38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0.656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160520"/>
            <a:ext cx="8366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student achieves the highest F1 on all 3 hard classes — the teacher's soft label knowledge helps more on visually ambiguous breeds.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332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8992" y="10972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distilled ViT-Tiny (87.54%) outperforms every baseline - knowledge distillation with gradual unfreezing exceeds direct finetuning.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822960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75104"/>
            <a:ext cx="64008" cy="84124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025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15× fewer parameters than the teacher with slightly lower performance— the student captures the teacher's class-similarity knowledge via soft labels and intermediate features.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822960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44368"/>
            <a:ext cx="64008" cy="841248"/>
          </a:xfrm>
          <a:prstGeom prst="rect">
            <a:avLst/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992" y="303580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Pretraining is non-negotiable for distillation. Without ImageNet weights, the student cannot absorb teacher knowledge regardless of training schedule.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822960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13632"/>
            <a:ext cx="64008" cy="8412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410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78992" y="400507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 classes (2, 34</a:t>
            </a:r>
            <a:r>
              <a:rPr lang="en-US" sz="120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26) </a:t>
            </a:r>
            <a:r>
              <a:rPr lang="en-US" sz="12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 consistently hard across all models — a dataset-level issue, not a model-level one. Teacher soft labels improve performance on these classes relative to baselines.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1205</Words>
  <Application>Microsoft Office PowerPoint</Application>
  <PresentationFormat>On-screen Show (16:9)</PresentationFormat>
  <Paragraphs>241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Distillation: ViT-Base → ViT-Tiny</dc:title>
  <dc:subject>PptxGenJS Presentation</dc:subject>
  <dc:creator>PptxGenJS</dc:creator>
  <cp:lastModifiedBy>Bhaswat Raj</cp:lastModifiedBy>
  <cp:revision>17</cp:revision>
  <dcterms:created xsi:type="dcterms:W3CDTF">2026-05-09T09:46:30Z</dcterms:created>
  <dcterms:modified xsi:type="dcterms:W3CDTF">2026-05-09T22:21:33Z</dcterms:modified>
</cp:coreProperties>
</file>