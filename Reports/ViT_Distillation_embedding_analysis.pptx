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Text 1"/>
          <p:cNvSpPr/>
          <p:nvPr/>
        </p:nvSpPr>
        <p:spPr>
          <a:xfrm>
            <a:off x="457200" y="1280160"/>
            <a:ext cx="8229600" cy="146304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Embedding Space Analysis</a:t>
            </a:r>
            <a:endParaRPr lang="en-US" sz="3600" dirty="0"/>
          </a:p>
          <a:p>
            <a:pPr algn="ctr" indent="0" marL="0">
              <a:buNone/>
            </a:pPr>
            <a:r>
              <a:rPr lang="en-US" sz="3600" b="1" dirty="0">
                <a:solidFill>
                  <a:srgbClr val="FFFFFF"/>
                </a:solidFill>
                <a:latin typeface="Calibri" pitchFamily="34" charset="0"/>
                <a:ea typeface="Calibri" pitchFamily="34" charset="-122"/>
                <a:cs typeface="Calibri" pitchFamily="34" charset="-120"/>
              </a:rPr>
              <a:t>Teacher vs Student</a:t>
            </a:r>
            <a:endParaRPr lang="en-US" sz="3600" dirty="0"/>
          </a:p>
        </p:txBody>
      </p:sp>
      <p:sp>
        <p:nvSpPr>
          <p:cNvPr id="4" name="Text 2"/>
          <p:cNvSpPr/>
          <p:nvPr/>
        </p:nvSpPr>
        <p:spPr>
          <a:xfrm>
            <a:off x="457200" y="2834640"/>
            <a:ext cx="8229600" cy="548640"/>
          </a:xfrm>
          <a:prstGeom prst="rect">
            <a:avLst/>
          </a:prstGeom>
          <a:noFill/>
          <a:ln/>
        </p:spPr>
        <p:txBody>
          <a:bodyPr wrap="square" rtlCol="0" anchor="ctr"/>
          <a:lstStyle/>
          <a:p>
            <a:pPr algn="ctr" indent="0" marL="0">
              <a:buNone/>
            </a:pPr>
            <a:r>
              <a:rPr lang="en-US" sz="1600" dirty="0">
                <a:solidFill>
                  <a:srgbClr val="7EC8E3"/>
                </a:solidFill>
                <a:latin typeface="Calibri Light" pitchFamily="34" charset="0"/>
                <a:ea typeface="Calibri Light" pitchFamily="34" charset="-122"/>
                <a:cs typeface="Calibri Light" pitchFamily="34" charset="-120"/>
              </a:rPr>
              <a:t>ViT-Base (86M) · ViT-Tiny Distilled (5.7M) · Oxford-IIIT Pet Test Set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346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Text 1"/>
          <p:cNvSpPr/>
          <p:nvPr/>
        </p:nvSpPr>
        <p:spPr>
          <a:xfrm>
            <a:off x="365760" y="457200"/>
            <a:ext cx="1828800" cy="1645920"/>
          </a:xfrm>
          <a:prstGeom prst="rect">
            <a:avLst/>
          </a:prstGeom>
          <a:noFill/>
          <a:ln/>
        </p:spPr>
        <p:txBody>
          <a:bodyPr wrap="square" rtlCol="0" anchor="ctr"/>
          <a:lstStyle/>
          <a:p>
            <a:pPr indent="0" marL="0">
              <a:buNone/>
            </a:pPr>
            <a:r>
              <a:rPr lang="en-US" sz="8000" b="1" dirty="0">
                <a:solidFill>
                  <a:srgbClr val="FFFFFF">
                    <a:alpha val="78000"/>
                  </a:srgbClr>
                </a:solidFill>
                <a:latin typeface="Calibri" pitchFamily="34" charset="0"/>
                <a:ea typeface="Calibri" pitchFamily="34" charset="-122"/>
                <a:cs typeface="Calibri" pitchFamily="34" charset="-120"/>
              </a:rPr>
              <a:t>01</a:t>
            </a:r>
            <a:endParaRPr lang="en-US" sz="8000" dirty="0"/>
          </a:p>
        </p:txBody>
      </p:sp>
      <p:sp>
        <p:nvSpPr>
          <p:cNvPr id="4" name="Text 2"/>
          <p:cNvSpPr/>
          <p:nvPr/>
        </p:nvSpPr>
        <p:spPr>
          <a:xfrm>
            <a:off x="365760" y="2286000"/>
            <a:ext cx="8229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UMAP Overview</a:t>
            </a:r>
            <a:endParaRPr lang="en-US" sz="2400" dirty="0"/>
          </a:p>
        </p:txBody>
      </p:sp>
      <p:sp>
        <p:nvSpPr>
          <p:cNvPr id="5" name="Text 3"/>
          <p:cNvSpPr/>
          <p:nvPr/>
        </p:nvSpPr>
        <p:spPr>
          <a:xfrm>
            <a:off x="365760" y="3017520"/>
            <a:ext cx="8229600" cy="457200"/>
          </a:xfrm>
          <a:prstGeom prst="rect">
            <a:avLst/>
          </a:prstGeom>
          <a:noFill/>
          <a:ln/>
        </p:spPr>
        <p:txBody>
          <a:bodyPr wrap="square" rtlCol="0" anchor="ctr"/>
          <a:lstStyle/>
          <a:p>
            <a:pPr indent="0" marL="0">
              <a:buNone/>
            </a:pPr>
            <a:r>
              <a:rPr lang="en-US" sz="1400" dirty="0">
                <a:solidFill>
                  <a:srgbClr val="7EC8E3"/>
                </a:solidFill>
                <a:latin typeface="Calibri Light" pitchFamily="34" charset="0"/>
                <a:ea typeface="Calibri Light" pitchFamily="34" charset="-122"/>
                <a:cs typeface="Calibri Light" pitchFamily="34" charset="-120"/>
              </a:rPr>
              <a:t>CLS token embeddings projected to 2D — separate spaces, cosine metric</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indent="0" marL="0">
              <a:buNone/>
            </a:pPr>
            <a:r>
              <a:rPr lang="en-US" sz="2200" b="1" dirty="0">
                <a:solidFill>
                  <a:srgbClr val="0F3460"/>
                </a:solidFill>
                <a:latin typeface="Calibri" pitchFamily="34" charset="0"/>
                <a:ea typeface="Calibri" pitchFamily="34" charset="-122"/>
                <a:cs typeface="Calibri" pitchFamily="34" charset="-120"/>
              </a:rPr>
              <a:t>UMAP of CLS embeddings — teacher vs student (37 classes)</a:t>
            </a:r>
            <a:endParaRPr lang="en-US" sz="2200" dirty="0"/>
          </a:p>
        </p:txBody>
      </p:sp>
      <p:pic>
        <p:nvPicPr>
          <p:cNvPr id="3" name="Image 0" descr="/home/claude/img_overview.png">    </p:cNvPr>
          <p:cNvPicPr>
            <a:picLocks noChangeAspect="1"/>
          </p:cNvPicPr>
          <p:nvPr/>
        </p:nvPicPr>
        <p:blipFill>
          <a:blip r:embed="rId1"/>
          <a:stretch>
            <a:fillRect/>
          </a:stretch>
        </p:blipFill>
        <p:spPr>
          <a:xfrm>
            <a:off x="274320" y="822960"/>
            <a:ext cx="8595360" cy="4114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indent="0" marL="0">
              <a:buNone/>
            </a:pPr>
            <a:r>
              <a:rPr lang="en-US" sz="2200" b="1" dirty="0">
                <a:solidFill>
                  <a:srgbClr val="0F3460"/>
                </a:solidFill>
                <a:latin typeface="Calibri" pitchFamily="34" charset="0"/>
                <a:ea typeface="Calibri" pitchFamily="34" charset="-122"/>
                <a:cs typeface="Calibri" pitchFamily="34" charset="-120"/>
              </a:rPr>
              <a:t>What the UMAP structure tells us</a:t>
            </a:r>
            <a:endParaRPr lang="en-US" sz="2200" dirty="0"/>
          </a:p>
        </p:txBody>
      </p:sp>
      <p:sp>
        <p:nvSpPr>
          <p:cNvPr id="3" name="Shape 1"/>
          <p:cNvSpPr/>
          <p:nvPr/>
        </p:nvSpPr>
        <p:spPr>
          <a:xfrm>
            <a:off x="365760" y="914400"/>
            <a:ext cx="8366760" cy="82296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4" name="Shape 2"/>
          <p:cNvSpPr/>
          <p:nvPr/>
        </p:nvSpPr>
        <p:spPr>
          <a:xfrm>
            <a:off x="365760" y="914400"/>
            <a:ext cx="64008" cy="822960"/>
          </a:xfrm>
          <a:prstGeom prst="rect">
            <a:avLst/>
          </a:prstGeom>
          <a:solidFill>
            <a:srgbClr val="028090"/>
          </a:solidFill>
          <a:ln w="12700">
            <a:solidFill>
              <a:srgbClr val="028090"/>
            </a:solidFill>
            <a:prstDash val="solid"/>
          </a:ln>
        </p:spPr>
      </p:sp>
      <p:sp>
        <p:nvSpPr>
          <p:cNvPr id="5" name="Text 3"/>
          <p:cNvSpPr/>
          <p:nvPr/>
        </p:nvSpPr>
        <p:spPr>
          <a:xfrm>
            <a:off x="502920" y="978408"/>
            <a:ext cx="8229600" cy="274320"/>
          </a:xfrm>
          <a:prstGeom prst="rect">
            <a:avLst/>
          </a:prstGeom>
          <a:noFill/>
          <a:ln/>
        </p:spPr>
        <p:txBody>
          <a:bodyPr wrap="square" lIns="0" tIns="0" rIns="0" bIns="0" rtlCol="0" anchor="ctr"/>
          <a:lstStyle/>
          <a:p>
            <a:pPr indent="0" marL="0">
              <a:buNone/>
            </a:pPr>
            <a:r>
              <a:rPr lang="en-US" sz="1200" b="1" dirty="0">
                <a:solidFill>
                  <a:srgbClr val="0F3460"/>
                </a:solidFill>
                <a:latin typeface="Calibri" pitchFamily="34" charset="0"/>
                <a:ea typeface="Calibri" pitchFamily="34" charset="-122"/>
                <a:cs typeface="Calibri" pitchFamily="34" charset="-120"/>
              </a:rPr>
              <a:t>Both models form 37 distinct clusters</a:t>
            </a:r>
            <a:endParaRPr lang="en-US" sz="1200" dirty="0"/>
          </a:p>
        </p:txBody>
      </p:sp>
      <p:sp>
        <p:nvSpPr>
          <p:cNvPr id="6" name="Text 4"/>
          <p:cNvSpPr/>
          <p:nvPr/>
        </p:nvSpPr>
        <p:spPr>
          <a:xfrm>
            <a:off x="502920" y="1298448"/>
            <a:ext cx="8138160" cy="384048"/>
          </a:xfrm>
          <a:prstGeom prst="rect">
            <a:avLst/>
          </a:prstGeom>
          <a:noFill/>
          <a:ln/>
        </p:spPr>
        <p:txBody>
          <a:bodyPr wrap="square" lIns="0" tIns="0" rIns="0" bIns="0" rtlCol="0" anchor="ctr"/>
          <a:lstStyle/>
          <a:p>
            <a:pPr indent="0" marL="0">
              <a:buNone/>
            </a:pPr>
            <a:r>
              <a:rPr lang="en-US" sz="1100" dirty="0">
                <a:solidFill>
                  <a:srgbClr val="1E2B38"/>
                </a:solidFill>
                <a:latin typeface="Calibri Light" pitchFamily="34" charset="0"/>
                <a:ea typeface="Calibri Light" pitchFamily="34" charset="-122"/>
                <a:cs typeface="Calibri Light" pitchFamily="34" charset="-120"/>
              </a:rPr>
              <a:t>Every class is cleanly separated in both teacher and student embedding spaces — the student has successfully learned to discriminate all 37 breeds despite having 15× fewer parameters.</a:t>
            </a:r>
            <a:endParaRPr lang="en-US" sz="1100" dirty="0"/>
          </a:p>
        </p:txBody>
      </p:sp>
      <p:sp>
        <p:nvSpPr>
          <p:cNvPr id="7" name="Shape 5"/>
          <p:cNvSpPr/>
          <p:nvPr/>
        </p:nvSpPr>
        <p:spPr>
          <a:xfrm>
            <a:off x="365760" y="1874520"/>
            <a:ext cx="8366760" cy="82296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365760" y="1874520"/>
            <a:ext cx="64008" cy="822960"/>
          </a:xfrm>
          <a:prstGeom prst="rect">
            <a:avLst/>
          </a:prstGeom>
          <a:solidFill>
            <a:srgbClr val="0F3460"/>
          </a:solidFill>
          <a:ln w="12700">
            <a:solidFill>
              <a:srgbClr val="0F3460"/>
            </a:solidFill>
            <a:prstDash val="solid"/>
          </a:ln>
        </p:spPr>
      </p:sp>
      <p:sp>
        <p:nvSpPr>
          <p:cNvPr id="9" name="Text 7"/>
          <p:cNvSpPr/>
          <p:nvPr/>
        </p:nvSpPr>
        <p:spPr>
          <a:xfrm>
            <a:off x="502920" y="1938528"/>
            <a:ext cx="8229600" cy="274320"/>
          </a:xfrm>
          <a:prstGeom prst="rect">
            <a:avLst/>
          </a:prstGeom>
          <a:noFill/>
          <a:ln/>
        </p:spPr>
        <p:txBody>
          <a:bodyPr wrap="square" lIns="0" tIns="0" rIns="0" bIns="0" rtlCol="0" anchor="ctr"/>
          <a:lstStyle/>
          <a:p>
            <a:pPr indent="0" marL="0">
              <a:buNone/>
            </a:pPr>
            <a:r>
              <a:rPr lang="en-US" sz="1200" b="1" dirty="0">
                <a:solidFill>
                  <a:srgbClr val="0F3460"/>
                </a:solidFill>
                <a:latin typeface="Calibri" pitchFamily="34" charset="0"/>
                <a:ea typeface="Calibri" pitchFamily="34" charset="-122"/>
                <a:cs typeface="Calibri" pitchFamily="34" charset="-120"/>
              </a:rPr>
              <a:t>Cluster topology is structurally preserved</a:t>
            </a:r>
            <a:endParaRPr lang="en-US" sz="1200" dirty="0"/>
          </a:p>
        </p:txBody>
      </p:sp>
      <p:sp>
        <p:nvSpPr>
          <p:cNvPr id="10" name="Text 8"/>
          <p:cNvSpPr/>
          <p:nvPr/>
        </p:nvSpPr>
        <p:spPr>
          <a:xfrm>
            <a:off x="502920" y="2258568"/>
            <a:ext cx="8138160" cy="384048"/>
          </a:xfrm>
          <a:prstGeom prst="rect">
            <a:avLst/>
          </a:prstGeom>
          <a:noFill/>
          <a:ln/>
        </p:spPr>
        <p:txBody>
          <a:bodyPr wrap="square" lIns="0" tIns="0" rIns="0" bIns="0" rtlCol="0" anchor="ctr"/>
          <a:lstStyle/>
          <a:p>
            <a:pPr indent="0" marL="0">
              <a:buNone/>
            </a:pPr>
            <a:r>
              <a:rPr lang="en-US" sz="1100" dirty="0">
                <a:solidFill>
                  <a:srgbClr val="1E2B38"/>
                </a:solidFill>
                <a:latin typeface="Calibri Light" pitchFamily="34" charset="0"/>
                <a:ea typeface="Calibri Light" pitchFamily="34" charset="-122"/>
                <a:cs typeface="Calibri Light" pitchFamily="34" charset="-120"/>
              </a:rPr>
              <a:t>The relative neighbourhood structure (which classes are near each other) is similar in both plots, showing the distillation successfully transferred the teacher's global representation geometry.</a:t>
            </a:r>
            <a:endParaRPr lang="en-US" sz="1100" dirty="0"/>
          </a:p>
        </p:txBody>
      </p:sp>
      <p:sp>
        <p:nvSpPr>
          <p:cNvPr id="11" name="Shape 9"/>
          <p:cNvSpPr/>
          <p:nvPr/>
        </p:nvSpPr>
        <p:spPr>
          <a:xfrm>
            <a:off x="365760" y="2834640"/>
            <a:ext cx="8366760" cy="82296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2" name="Shape 10"/>
          <p:cNvSpPr/>
          <p:nvPr/>
        </p:nvSpPr>
        <p:spPr>
          <a:xfrm>
            <a:off x="365760" y="2834640"/>
            <a:ext cx="64008" cy="822960"/>
          </a:xfrm>
          <a:prstGeom prst="rect">
            <a:avLst/>
          </a:prstGeom>
          <a:solidFill>
            <a:srgbClr val="B45309"/>
          </a:solidFill>
          <a:ln w="12700">
            <a:solidFill>
              <a:srgbClr val="B45309"/>
            </a:solidFill>
            <a:prstDash val="solid"/>
          </a:ln>
        </p:spPr>
      </p:sp>
      <p:sp>
        <p:nvSpPr>
          <p:cNvPr id="13" name="Text 11"/>
          <p:cNvSpPr/>
          <p:nvPr/>
        </p:nvSpPr>
        <p:spPr>
          <a:xfrm>
            <a:off x="502920" y="2898648"/>
            <a:ext cx="8229600" cy="274320"/>
          </a:xfrm>
          <a:prstGeom prst="rect">
            <a:avLst/>
          </a:prstGeom>
          <a:noFill/>
          <a:ln/>
        </p:spPr>
        <p:txBody>
          <a:bodyPr wrap="square" lIns="0" tIns="0" rIns="0" bIns="0" rtlCol="0" anchor="ctr"/>
          <a:lstStyle/>
          <a:p>
            <a:pPr indent="0" marL="0">
              <a:buNone/>
            </a:pPr>
            <a:r>
              <a:rPr lang="en-US" sz="1200" b="1" dirty="0">
                <a:solidFill>
                  <a:srgbClr val="0F3460"/>
                </a:solidFill>
                <a:latin typeface="Calibri" pitchFamily="34" charset="0"/>
                <a:ea typeface="Calibri" pitchFamily="34" charset="-122"/>
                <a:cs typeface="Calibri" pitchFamily="34" charset="-120"/>
              </a:rPr>
              <a:t>Student clusters appear tighter — but this is a dimensionality artefact</a:t>
            </a:r>
            <a:endParaRPr lang="en-US" sz="1200" dirty="0"/>
          </a:p>
        </p:txBody>
      </p:sp>
      <p:sp>
        <p:nvSpPr>
          <p:cNvPr id="14" name="Text 12"/>
          <p:cNvSpPr/>
          <p:nvPr/>
        </p:nvSpPr>
        <p:spPr>
          <a:xfrm>
            <a:off x="502920" y="3218688"/>
            <a:ext cx="8138160" cy="384048"/>
          </a:xfrm>
          <a:prstGeom prst="rect">
            <a:avLst/>
          </a:prstGeom>
          <a:noFill/>
          <a:ln/>
        </p:spPr>
        <p:txBody>
          <a:bodyPr wrap="square" lIns="0" tIns="0" rIns="0" bIns="0" rtlCol="0" anchor="ctr"/>
          <a:lstStyle/>
          <a:p>
            <a:pPr indent="0" marL="0">
              <a:buNone/>
            </a:pPr>
            <a:r>
              <a:rPr lang="en-US" sz="1100" dirty="0">
                <a:solidFill>
                  <a:srgbClr val="1E2B38"/>
                </a:solidFill>
                <a:latin typeface="Calibri Light" pitchFamily="34" charset="0"/>
                <a:ea typeface="Calibri Light" pitchFamily="34" charset="-122"/>
                <a:cs typeface="Calibri Light" pitchFamily="34" charset="-120"/>
              </a:rPr>
              <a:t>192-dim space has fewer directions to spread points out, so cosine similarity is naturally higher. This does not mean the student has better representations — it reflects compression.</a:t>
            </a:r>
            <a:endParaRPr lang="en-US" sz="1100" dirty="0"/>
          </a:p>
        </p:txBody>
      </p:sp>
      <p:sp>
        <p:nvSpPr>
          <p:cNvPr id="15" name="Shape 13"/>
          <p:cNvSpPr/>
          <p:nvPr/>
        </p:nvSpPr>
        <p:spPr>
          <a:xfrm>
            <a:off x="365760" y="3794760"/>
            <a:ext cx="8366760" cy="82296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6" name="Shape 14"/>
          <p:cNvSpPr/>
          <p:nvPr/>
        </p:nvSpPr>
        <p:spPr>
          <a:xfrm>
            <a:off x="365760" y="3794760"/>
            <a:ext cx="64008" cy="822960"/>
          </a:xfrm>
          <a:prstGeom prst="rect">
            <a:avLst/>
          </a:prstGeom>
          <a:solidFill>
            <a:srgbClr val="C2410C"/>
          </a:solidFill>
          <a:ln w="12700">
            <a:solidFill>
              <a:srgbClr val="C2410C"/>
            </a:solidFill>
            <a:prstDash val="solid"/>
          </a:ln>
        </p:spPr>
      </p:sp>
      <p:sp>
        <p:nvSpPr>
          <p:cNvPr id="17" name="Text 15"/>
          <p:cNvSpPr/>
          <p:nvPr/>
        </p:nvSpPr>
        <p:spPr>
          <a:xfrm>
            <a:off x="502920" y="3858768"/>
            <a:ext cx="8229600" cy="274320"/>
          </a:xfrm>
          <a:prstGeom prst="rect">
            <a:avLst/>
          </a:prstGeom>
          <a:noFill/>
          <a:ln/>
        </p:spPr>
        <p:txBody>
          <a:bodyPr wrap="square" lIns="0" tIns="0" rIns="0" bIns="0" rtlCol="0" anchor="ctr"/>
          <a:lstStyle/>
          <a:p>
            <a:pPr indent="0" marL="0">
              <a:buNone/>
            </a:pPr>
            <a:r>
              <a:rPr lang="en-US" sz="1200" b="1" dirty="0">
                <a:solidFill>
                  <a:srgbClr val="0F3460"/>
                </a:solidFill>
                <a:latin typeface="Calibri" pitchFamily="34" charset="0"/>
                <a:ea typeface="Calibri" pitchFamily="34" charset="-122"/>
                <a:cs typeface="Calibri" pitchFamily="34" charset="-120"/>
              </a:rPr>
              <a:t>Some cluster pairs remain proximal in both models</a:t>
            </a:r>
            <a:endParaRPr lang="en-US" sz="1200" dirty="0"/>
          </a:p>
        </p:txBody>
      </p:sp>
      <p:sp>
        <p:nvSpPr>
          <p:cNvPr id="18" name="Text 16"/>
          <p:cNvSpPr/>
          <p:nvPr/>
        </p:nvSpPr>
        <p:spPr>
          <a:xfrm>
            <a:off x="502920" y="4178808"/>
            <a:ext cx="8138160" cy="384048"/>
          </a:xfrm>
          <a:prstGeom prst="rect">
            <a:avLst/>
          </a:prstGeom>
          <a:noFill/>
          <a:ln/>
        </p:spPr>
        <p:txBody>
          <a:bodyPr wrap="square" lIns="0" tIns="0" rIns="0" bIns="0" rtlCol="0" anchor="ctr"/>
          <a:lstStyle/>
          <a:p>
            <a:pPr indent="0" marL="0">
              <a:buNone/>
            </a:pPr>
            <a:r>
              <a:rPr lang="en-US" sz="1100" dirty="0">
                <a:solidFill>
                  <a:srgbClr val="1E2B38"/>
                </a:solidFill>
                <a:latin typeface="Calibri Light" pitchFamily="34" charset="0"/>
                <a:ea typeface="Calibri Light" pitchFamily="34" charset="-122"/>
                <a:cs typeface="Calibri Light" pitchFamily="34" charset="-120"/>
              </a:rPr>
              <a:t>Classes near each other in UMAP are visually similar breeds. These are the hard cases — boundary ambiguity exists in the raw visual data, not just the model.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46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Text 1"/>
          <p:cNvSpPr/>
          <p:nvPr/>
        </p:nvSpPr>
        <p:spPr>
          <a:xfrm>
            <a:off x="365760" y="457200"/>
            <a:ext cx="1828800" cy="1645920"/>
          </a:xfrm>
          <a:prstGeom prst="rect">
            <a:avLst/>
          </a:prstGeom>
          <a:noFill/>
          <a:ln/>
        </p:spPr>
        <p:txBody>
          <a:bodyPr wrap="square" rtlCol="0" anchor="ctr"/>
          <a:lstStyle/>
          <a:p>
            <a:pPr indent="0" marL="0">
              <a:buNone/>
            </a:pPr>
            <a:r>
              <a:rPr lang="en-US" sz="8000" b="1" dirty="0">
                <a:solidFill>
                  <a:srgbClr val="FFFFFF">
                    <a:alpha val="78000"/>
                  </a:srgbClr>
                </a:solidFill>
                <a:latin typeface="Calibri" pitchFamily="34" charset="0"/>
                <a:ea typeface="Calibri" pitchFamily="34" charset="-122"/>
                <a:cs typeface="Calibri" pitchFamily="34" charset="-120"/>
              </a:rPr>
              <a:t>02</a:t>
            </a:r>
            <a:endParaRPr lang="en-US" sz="8000" dirty="0"/>
          </a:p>
        </p:txBody>
      </p:sp>
      <p:sp>
        <p:nvSpPr>
          <p:cNvPr id="4" name="Text 2"/>
          <p:cNvSpPr/>
          <p:nvPr/>
        </p:nvSpPr>
        <p:spPr>
          <a:xfrm>
            <a:off x="365760" y="2286000"/>
            <a:ext cx="8229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Prediction Outcome Analysis</a:t>
            </a:r>
            <a:endParaRPr lang="en-US" sz="2400" dirty="0"/>
          </a:p>
        </p:txBody>
      </p:sp>
      <p:sp>
        <p:nvSpPr>
          <p:cNvPr id="5" name="Text 3"/>
          <p:cNvSpPr/>
          <p:nvPr/>
        </p:nvSpPr>
        <p:spPr>
          <a:xfrm>
            <a:off x="365760" y="3017520"/>
            <a:ext cx="8229600" cy="457200"/>
          </a:xfrm>
          <a:prstGeom prst="rect">
            <a:avLst/>
          </a:prstGeom>
          <a:noFill/>
          <a:ln/>
        </p:spPr>
        <p:txBody>
          <a:bodyPr wrap="square" rtlCol="0" anchor="ctr"/>
          <a:lstStyle/>
          <a:p>
            <a:pPr indent="0" marL="0">
              <a:buNone/>
            </a:pPr>
            <a:r>
              <a:rPr lang="en-US" sz="1400" dirty="0">
                <a:solidFill>
                  <a:srgbClr val="7EC8E3"/>
                </a:solidFill>
                <a:latin typeface="Calibri Light" pitchFamily="34" charset="0"/>
                <a:ea typeface="Calibri Light" pitchFamily="34" charset="-122"/>
                <a:cs typeface="Calibri Light" pitchFamily="34" charset="-120"/>
              </a:rPr>
              <a:t>Where does the student succeed, fail, and outperform the teacher?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indent="0" marL="0">
              <a:buNone/>
            </a:pPr>
            <a:r>
              <a:rPr lang="en-US" sz="2200" b="1" dirty="0">
                <a:solidFill>
                  <a:srgbClr val="0F3460"/>
                </a:solidFill>
                <a:latin typeface="Calibri" pitchFamily="34" charset="0"/>
                <a:ea typeface="Calibri" pitchFamily="34" charset="-122"/>
                <a:cs typeface="Calibri" pitchFamily="34" charset="-120"/>
              </a:rPr>
              <a:t>UMAP coloured by prediction outcome — teacher vs student</a:t>
            </a:r>
            <a:endParaRPr lang="en-US" sz="2200" dirty="0"/>
          </a:p>
        </p:txBody>
      </p:sp>
      <p:pic>
        <p:nvPicPr>
          <p:cNvPr id="3" name="Image 0" descr="/home/claude/img_correctness.png">    </p:cNvPr>
          <p:cNvPicPr>
            <a:picLocks noChangeAspect="1"/>
          </p:cNvPicPr>
          <p:nvPr/>
        </p:nvPicPr>
        <p:blipFill>
          <a:blip r:embed="rId1"/>
          <a:stretch>
            <a:fillRect/>
          </a:stretch>
        </p:blipFill>
        <p:spPr>
          <a:xfrm>
            <a:off x="274320" y="822960"/>
            <a:ext cx="8595360"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indent="0" marL="0">
              <a:buNone/>
            </a:pPr>
            <a:r>
              <a:rPr lang="en-US" sz="2200" b="1" dirty="0">
                <a:solidFill>
                  <a:srgbClr val="0F3460"/>
                </a:solidFill>
                <a:latin typeface="Calibri" pitchFamily="34" charset="0"/>
                <a:ea typeface="Calibri" pitchFamily="34" charset="-122"/>
                <a:cs typeface="Calibri" pitchFamily="34" charset="-120"/>
              </a:rPr>
              <a:t>Prediction outcome breakdown — 3,669 test samples</a:t>
            </a:r>
            <a:endParaRPr lang="en-US" sz="2200" dirty="0"/>
          </a:p>
        </p:txBody>
      </p:sp>
      <p:sp>
        <p:nvSpPr>
          <p:cNvPr id="3" name="Shape 1"/>
          <p:cNvSpPr/>
          <p:nvPr/>
        </p:nvSpPr>
        <p:spPr>
          <a:xfrm>
            <a:off x="320040" y="841248"/>
            <a:ext cx="1965960" cy="141732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4" name="Shape 2"/>
          <p:cNvSpPr/>
          <p:nvPr/>
        </p:nvSpPr>
        <p:spPr>
          <a:xfrm>
            <a:off x="320040" y="841248"/>
            <a:ext cx="1965960" cy="54864"/>
          </a:xfrm>
          <a:prstGeom prst="rect">
            <a:avLst/>
          </a:prstGeom>
          <a:solidFill>
            <a:srgbClr val="0F3460"/>
          </a:solidFill>
          <a:ln w="12700">
            <a:solidFill>
              <a:srgbClr val="0F3460"/>
            </a:solidFill>
            <a:prstDash val="solid"/>
          </a:ln>
        </p:spPr>
      </p:sp>
      <p:sp>
        <p:nvSpPr>
          <p:cNvPr id="5" name="Text 3"/>
          <p:cNvSpPr/>
          <p:nvPr/>
        </p:nvSpPr>
        <p:spPr>
          <a:xfrm>
            <a:off x="448056" y="969264"/>
            <a:ext cx="1709928" cy="566928"/>
          </a:xfrm>
          <a:prstGeom prst="rect">
            <a:avLst/>
          </a:prstGeom>
          <a:noFill/>
          <a:ln/>
        </p:spPr>
        <p:txBody>
          <a:bodyPr wrap="square" lIns="0" tIns="0" rIns="0" bIns="0" rtlCol="0" anchor="ctr"/>
          <a:lstStyle/>
          <a:p>
            <a:pPr indent="0" marL="0">
              <a:buNone/>
            </a:pPr>
            <a:r>
              <a:rPr lang="en-US" sz="2800" b="1" dirty="0">
                <a:solidFill>
                  <a:srgbClr val="0F3460"/>
                </a:solidFill>
                <a:latin typeface="Calibri" pitchFamily="34" charset="0"/>
                <a:ea typeface="Calibri" pitchFamily="34" charset="-122"/>
                <a:cs typeface="Calibri" pitchFamily="34" charset="-120"/>
              </a:rPr>
              <a:t>3,143</a:t>
            </a:r>
            <a:endParaRPr lang="en-US" sz="2800" dirty="0"/>
          </a:p>
        </p:txBody>
      </p:sp>
      <p:sp>
        <p:nvSpPr>
          <p:cNvPr id="6" name="Text 4"/>
          <p:cNvSpPr/>
          <p:nvPr/>
        </p:nvSpPr>
        <p:spPr>
          <a:xfrm>
            <a:off x="448056" y="1517904"/>
            <a:ext cx="1709928" cy="667512"/>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Both correct</a:t>
            </a:r>
            <a:endParaRPr lang="en-US" sz="1000" dirty="0"/>
          </a:p>
          <a:p>
            <a:pPr indent="0" marL="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85.7% of test set</a:t>
            </a:r>
            <a:endParaRPr lang="en-US" sz="1000" dirty="0"/>
          </a:p>
        </p:txBody>
      </p:sp>
      <p:sp>
        <p:nvSpPr>
          <p:cNvPr id="7" name="Shape 5"/>
          <p:cNvSpPr/>
          <p:nvPr/>
        </p:nvSpPr>
        <p:spPr>
          <a:xfrm>
            <a:off x="2423160" y="841248"/>
            <a:ext cx="1965960" cy="141732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2423160" y="841248"/>
            <a:ext cx="1965960" cy="54864"/>
          </a:xfrm>
          <a:prstGeom prst="rect">
            <a:avLst/>
          </a:prstGeom>
          <a:solidFill>
            <a:srgbClr val="C2410C"/>
          </a:solidFill>
          <a:ln w="12700">
            <a:solidFill>
              <a:srgbClr val="C2410C"/>
            </a:solidFill>
            <a:prstDash val="solid"/>
          </a:ln>
        </p:spPr>
      </p:sp>
      <p:sp>
        <p:nvSpPr>
          <p:cNvPr id="9" name="Text 7"/>
          <p:cNvSpPr/>
          <p:nvPr/>
        </p:nvSpPr>
        <p:spPr>
          <a:xfrm>
            <a:off x="2551176" y="969264"/>
            <a:ext cx="1709928" cy="566928"/>
          </a:xfrm>
          <a:prstGeom prst="rect">
            <a:avLst/>
          </a:prstGeom>
          <a:noFill/>
          <a:ln/>
        </p:spPr>
        <p:txBody>
          <a:bodyPr wrap="square" lIns="0" tIns="0" rIns="0" bIns="0" rtlCol="0" anchor="ctr"/>
          <a:lstStyle/>
          <a:p>
            <a:pPr indent="0" marL="0">
              <a:buNone/>
            </a:pPr>
            <a:r>
              <a:rPr lang="en-US" sz="2800" b="1" dirty="0">
                <a:solidFill>
                  <a:srgbClr val="C2410C"/>
                </a:solidFill>
                <a:latin typeface="Calibri" pitchFamily="34" charset="0"/>
                <a:ea typeface="Calibri" pitchFamily="34" charset="-122"/>
                <a:cs typeface="Calibri" pitchFamily="34" charset="-120"/>
              </a:rPr>
              <a:t>269</a:t>
            </a:r>
            <a:endParaRPr lang="en-US" sz="2800" dirty="0"/>
          </a:p>
        </p:txBody>
      </p:sp>
      <p:sp>
        <p:nvSpPr>
          <p:cNvPr id="10" name="Text 8"/>
          <p:cNvSpPr/>
          <p:nvPr/>
        </p:nvSpPr>
        <p:spPr>
          <a:xfrm>
            <a:off x="2551176" y="1517904"/>
            <a:ext cx="1709928" cy="667512"/>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Teacher ✓  Student ✗</a:t>
            </a:r>
            <a:endParaRPr lang="en-US" sz="1000" dirty="0"/>
          </a:p>
          <a:p>
            <a:pPr indent="0" marL="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7.3% — student gaps</a:t>
            </a:r>
            <a:endParaRPr lang="en-US" sz="1000" dirty="0"/>
          </a:p>
        </p:txBody>
      </p:sp>
      <p:sp>
        <p:nvSpPr>
          <p:cNvPr id="11" name="Shape 9"/>
          <p:cNvSpPr/>
          <p:nvPr/>
        </p:nvSpPr>
        <p:spPr>
          <a:xfrm>
            <a:off x="4526280" y="841248"/>
            <a:ext cx="1965960" cy="141732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2" name="Shape 10"/>
          <p:cNvSpPr/>
          <p:nvPr/>
        </p:nvSpPr>
        <p:spPr>
          <a:xfrm>
            <a:off x="4526280" y="841248"/>
            <a:ext cx="1965960" cy="54864"/>
          </a:xfrm>
          <a:prstGeom prst="rect">
            <a:avLst/>
          </a:prstGeom>
          <a:solidFill>
            <a:srgbClr val="028090"/>
          </a:solidFill>
          <a:ln w="12700">
            <a:solidFill>
              <a:srgbClr val="028090"/>
            </a:solidFill>
            <a:prstDash val="solid"/>
          </a:ln>
        </p:spPr>
      </p:sp>
      <p:sp>
        <p:nvSpPr>
          <p:cNvPr id="13" name="Text 11"/>
          <p:cNvSpPr/>
          <p:nvPr/>
        </p:nvSpPr>
        <p:spPr>
          <a:xfrm>
            <a:off x="4654296" y="969264"/>
            <a:ext cx="1709928" cy="566928"/>
          </a:xfrm>
          <a:prstGeom prst="rect">
            <a:avLst/>
          </a:prstGeom>
          <a:noFill/>
          <a:ln/>
        </p:spPr>
        <p:txBody>
          <a:bodyPr wrap="square" lIns="0" tIns="0" rIns="0" bIns="0" rtlCol="0" anchor="ctr"/>
          <a:lstStyle/>
          <a:p>
            <a:pPr indent="0" marL="0">
              <a:buNone/>
            </a:pPr>
            <a:r>
              <a:rPr lang="en-US" sz="2800" b="1" dirty="0">
                <a:solidFill>
                  <a:srgbClr val="028090"/>
                </a:solidFill>
                <a:latin typeface="Calibri" pitchFamily="34" charset="0"/>
                <a:ea typeface="Calibri" pitchFamily="34" charset="-122"/>
                <a:cs typeface="Calibri" pitchFamily="34" charset="-120"/>
              </a:rPr>
              <a:t>69</a:t>
            </a:r>
            <a:endParaRPr lang="en-US" sz="2800" dirty="0"/>
          </a:p>
        </p:txBody>
      </p:sp>
      <p:sp>
        <p:nvSpPr>
          <p:cNvPr id="14" name="Text 12"/>
          <p:cNvSpPr/>
          <p:nvPr/>
        </p:nvSpPr>
        <p:spPr>
          <a:xfrm>
            <a:off x="4654296" y="1517904"/>
            <a:ext cx="1709928" cy="667512"/>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Student ✓  Teacher ✗</a:t>
            </a:r>
            <a:endParaRPr lang="en-US" sz="1000" dirty="0"/>
          </a:p>
          <a:p>
            <a:pPr indent="0" marL="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1.9% — student edges</a:t>
            </a:r>
            <a:endParaRPr lang="en-US" sz="1000" dirty="0"/>
          </a:p>
        </p:txBody>
      </p:sp>
      <p:sp>
        <p:nvSpPr>
          <p:cNvPr id="15" name="Shape 13"/>
          <p:cNvSpPr/>
          <p:nvPr/>
        </p:nvSpPr>
        <p:spPr>
          <a:xfrm>
            <a:off x="6629400" y="841248"/>
            <a:ext cx="1965960" cy="141732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6" name="Shape 14"/>
          <p:cNvSpPr/>
          <p:nvPr/>
        </p:nvSpPr>
        <p:spPr>
          <a:xfrm>
            <a:off x="6629400" y="841248"/>
            <a:ext cx="1965960" cy="54864"/>
          </a:xfrm>
          <a:prstGeom prst="rect">
            <a:avLst/>
          </a:prstGeom>
          <a:solidFill>
            <a:srgbClr val="64748B"/>
          </a:solidFill>
          <a:ln w="12700">
            <a:solidFill>
              <a:srgbClr val="64748B"/>
            </a:solidFill>
            <a:prstDash val="solid"/>
          </a:ln>
        </p:spPr>
      </p:sp>
      <p:sp>
        <p:nvSpPr>
          <p:cNvPr id="17" name="Text 15"/>
          <p:cNvSpPr/>
          <p:nvPr/>
        </p:nvSpPr>
        <p:spPr>
          <a:xfrm>
            <a:off x="6757416" y="969264"/>
            <a:ext cx="1709928" cy="566928"/>
          </a:xfrm>
          <a:prstGeom prst="rect">
            <a:avLst/>
          </a:prstGeom>
          <a:noFill/>
          <a:ln/>
        </p:spPr>
        <p:txBody>
          <a:bodyPr wrap="square" lIns="0" tIns="0" rIns="0" bIns="0" rtlCol="0" anchor="ctr"/>
          <a:lstStyle/>
          <a:p>
            <a:pPr indent="0" marL="0">
              <a:buNone/>
            </a:pPr>
            <a:r>
              <a:rPr lang="en-US" sz="2800" b="1" dirty="0">
                <a:solidFill>
                  <a:srgbClr val="64748B"/>
                </a:solidFill>
                <a:latin typeface="Calibri" pitchFamily="34" charset="0"/>
                <a:ea typeface="Calibri" pitchFamily="34" charset="-122"/>
                <a:cs typeface="Calibri" pitchFamily="34" charset="-120"/>
              </a:rPr>
              <a:t>188</a:t>
            </a:r>
            <a:endParaRPr lang="en-US" sz="2800" dirty="0"/>
          </a:p>
        </p:txBody>
      </p:sp>
      <p:sp>
        <p:nvSpPr>
          <p:cNvPr id="18" name="Text 16"/>
          <p:cNvSpPr/>
          <p:nvPr/>
        </p:nvSpPr>
        <p:spPr>
          <a:xfrm>
            <a:off x="6757416" y="1517904"/>
            <a:ext cx="1709928" cy="667512"/>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Both wrong</a:t>
            </a:r>
            <a:endParaRPr lang="en-US" sz="1000" dirty="0"/>
          </a:p>
          <a:p>
            <a:pPr indent="0" marL="0">
              <a:lnSpc>
                <a:spcPct val="130000"/>
              </a:lnSpc>
              <a:buNone/>
            </a:pPr>
            <a:r>
              <a:rPr lang="en-US" sz="1000" dirty="0">
                <a:solidFill>
                  <a:srgbClr val="64748B"/>
                </a:solidFill>
                <a:latin typeface="Calibri Light" pitchFamily="34" charset="0"/>
                <a:ea typeface="Calibri Light" pitchFamily="34" charset="-122"/>
                <a:cs typeface="Calibri Light" pitchFamily="34" charset="-120"/>
              </a:rPr>
              <a:t>5.1% — dataset difficulty</a:t>
            </a:r>
            <a:endParaRPr lang="en-US" sz="1000" dirty="0"/>
          </a:p>
        </p:txBody>
      </p:sp>
      <p:sp>
        <p:nvSpPr>
          <p:cNvPr id="19" name="Shape 17"/>
          <p:cNvSpPr/>
          <p:nvPr/>
        </p:nvSpPr>
        <p:spPr>
          <a:xfrm>
            <a:off x="320040" y="2395728"/>
            <a:ext cx="8366760" cy="109728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20" name="Shape 18"/>
          <p:cNvSpPr/>
          <p:nvPr/>
        </p:nvSpPr>
        <p:spPr>
          <a:xfrm>
            <a:off x="320040" y="2395728"/>
            <a:ext cx="8366760" cy="54864"/>
          </a:xfrm>
          <a:prstGeom prst="rect">
            <a:avLst/>
          </a:prstGeom>
          <a:solidFill>
            <a:srgbClr val="0F3460"/>
          </a:solidFill>
          <a:ln w="12700">
            <a:solidFill>
              <a:srgbClr val="0F3460"/>
            </a:solidFill>
            <a:prstDash val="solid"/>
          </a:ln>
        </p:spPr>
      </p:sp>
      <p:sp>
        <p:nvSpPr>
          <p:cNvPr id="21" name="Text 19"/>
          <p:cNvSpPr/>
          <p:nvPr/>
        </p:nvSpPr>
        <p:spPr>
          <a:xfrm>
            <a:off x="475488" y="2523744"/>
            <a:ext cx="1828800" cy="292608"/>
          </a:xfrm>
          <a:prstGeom prst="rect">
            <a:avLst/>
          </a:prstGeom>
          <a:noFill/>
          <a:ln/>
        </p:spPr>
        <p:txBody>
          <a:bodyPr wrap="square" lIns="0" tIns="0" rIns="0" bIns="0" rtlCol="0" anchor="ctr"/>
          <a:lstStyle/>
          <a:p>
            <a:pPr indent="0" marL="0">
              <a:buNone/>
            </a:pPr>
            <a:r>
              <a:rPr lang="en-US" sz="1100" b="1" dirty="0">
                <a:solidFill>
                  <a:srgbClr val="0F3460"/>
                </a:solidFill>
                <a:latin typeface="Calibri" pitchFamily="34" charset="0"/>
                <a:ea typeface="Calibri" pitchFamily="34" charset="-122"/>
                <a:cs typeface="Calibri" pitchFamily="34" charset="-120"/>
              </a:rPr>
              <a:t>Key insight</a:t>
            </a:r>
            <a:endParaRPr lang="en-US" sz="1100" dirty="0"/>
          </a:p>
        </p:txBody>
      </p:sp>
      <p:sp>
        <p:nvSpPr>
          <p:cNvPr id="22" name="Text 20"/>
          <p:cNvSpPr/>
          <p:nvPr/>
        </p:nvSpPr>
        <p:spPr>
          <a:xfrm>
            <a:off x="475488" y="2852928"/>
            <a:ext cx="8046720" cy="566928"/>
          </a:xfrm>
          <a:prstGeom prst="rect">
            <a:avLst/>
          </a:prstGeom>
          <a:noFill/>
          <a:ln/>
        </p:spPr>
        <p:txBody>
          <a:bodyPr wrap="square" rtlCol="0" anchor="ctr"/>
          <a:lstStyle/>
          <a:p>
            <a:pPr indent="0" marL="0">
              <a:lnSpc>
                <a:spcPct val="130000"/>
              </a:lnSpc>
              <a:buNone/>
            </a:pPr>
            <a:r>
              <a:rPr lang="en-US" sz="1100" dirty="0">
                <a:solidFill>
                  <a:srgbClr val="1E2B38"/>
                </a:solidFill>
                <a:latin typeface="Calibri Light" pitchFamily="34" charset="0"/>
                <a:ea typeface="Calibri Light" pitchFamily="34" charset="-122"/>
                <a:cs typeface="Calibri Light" pitchFamily="34" charset="-120"/>
              </a:rPr>
              <a:t>The student fails on only 269 samples where the teacher succeeds (7.3%). Of these, the UMAP shows they are not random — they cluster at class boundaries and in the hardest per-class clusters (2, 10, 34). Crucially, 69 samples are correct by the student but wrong by the teacher, confirming the student learned complementary signal from soft labels beyond what the teacher's direct predictions encode.</a:t>
            </a:r>
            <a:endParaRPr lang="en-US" sz="1100" dirty="0"/>
          </a:p>
        </p:txBody>
      </p:sp>
      <p:sp>
        <p:nvSpPr>
          <p:cNvPr id="23" name="Shape 21"/>
          <p:cNvSpPr/>
          <p:nvPr/>
        </p:nvSpPr>
        <p:spPr>
          <a:xfrm>
            <a:off x="320040" y="3611880"/>
            <a:ext cx="8366760" cy="137160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24" name="Shape 22"/>
          <p:cNvSpPr/>
          <p:nvPr/>
        </p:nvSpPr>
        <p:spPr>
          <a:xfrm>
            <a:off x="320040" y="3611880"/>
            <a:ext cx="8366760" cy="54864"/>
          </a:xfrm>
          <a:prstGeom prst="rect">
            <a:avLst/>
          </a:prstGeom>
          <a:solidFill>
            <a:srgbClr val="C2410C"/>
          </a:solidFill>
          <a:ln w="12700">
            <a:solidFill>
              <a:srgbClr val="C2410C"/>
            </a:solidFill>
            <a:prstDash val="solid"/>
          </a:ln>
        </p:spPr>
      </p:sp>
      <p:sp>
        <p:nvSpPr>
          <p:cNvPr id="25" name="Text 23"/>
          <p:cNvSpPr/>
          <p:nvPr/>
        </p:nvSpPr>
        <p:spPr>
          <a:xfrm>
            <a:off x="475488" y="3730752"/>
            <a:ext cx="4572000" cy="292608"/>
          </a:xfrm>
          <a:prstGeom prst="rect">
            <a:avLst/>
          </a:prstGeom>
          <a:noFill/>
          <a:ln/>
        </p:spPr>
        <p:txBody>
          <a:bodyPr wrap="square" lIns="0" tIns="0" rIns="0" bIns="0" rtlCol="0" anchor="ctr"/>
          <a:lstStyle/>
          <a:p>
            <a:pPr indent="0" marL="0">
              <a:buNone/>
            </a:pPr>
            <a:r>
              <a:rPr lang="en-US" sz="1100" b="1" dirty="0">
                <a:solidFill>
                  <a:srgbClr val="C2410C"/>
                </a:solidFill>
                <a:latin typeface="Calibri" pitchFamily="34" charset="0"/>
                <a:ea typeface="Calibri" pitchFamily="34" charset="-122"/>
                <a:cs typeface="Calibri" pitchFamily="34" charset="-120"/>
              </a:rPr>
              <a:t>Hardest classes (most teacher-only errors)</a:t>
            </a:r>
            <a:endParaRPr lang="en-US" sz="1100" dirty="0"/>
          </a:p>
        </p:txBody>
      </p:sp>
      <p:sp>
        <p:nvSpPr>
          <p:cNvPr id="26" name="Text 24"/>
          <p:cNvSpPr/>
          <p:nvPr/>
        </p:nvSpPr>
        <p:spPr>
          <a:xfrm>
            <a:off x="475488" y="4050792"/>
            <a:ext cx="8046720" cy="256032"/>
          </a:xfrm>
          <a:prstGeom prst="rect">
            <a:avLst/>
          </a:prstGeom>
          <a:noFill/>
          <a:ln/>
        </p:spPr>
        <p:txBody>
          <a:bodyPr wrap="square" rtlCol="0" anchor="ctr"/>
          <a:lstStyle/>
          <a:p>
            <a:pPr indent="0" marL="0">
              <a:buNone/>
            </a:pPr>
            <a:r>
              <a:rPr lang="en-US" sz="1000" dirty="0">
                <a:solidFill>
                  <a:srgbClr val="1E2B38"/>
                </a:solidFill>
                <a:latin typeface="Calibri Light" pitchFamily="34" charset="0"/>
                <a:ea typeface="Calibri Light" pitchFamily="34" charset="-122"/>
                <a:cs typeface="Calibri Light" pitchFamily="34" charset="-120"/>
              </a:rPr>
              <a:t>Class 34   ·   21 teacher-only   ·   37 both-wrong   ·   47 both-correct   ·   89 total</a:t>
            </a:r>
            <a:endParaRPr lang="en-US" sz="1000" dirty="0"/>
          </a:p>
        </p:txBody>
      </p:sp>
      <p:sp>
        <p:nvSpPr>
          <p:cNvPr id="27" name="Text 25"/>
          <p:cNvSpPr/>
          <p:nvPr/>
        </p:nvSpPr>
        <p:spPr>
          <a:xfrm>
            <a:off x="475488" y="4334256"/>
            <a:ext cx="8046720" cy="256032"/>
          </a:xfrm>
          <a:prstGeom prst="rect">
            <a:avLst/>
          </a:prstGeom>
          <a:noFill/>
          <a:ln/>
        </p:spPr>
        <p:txBody>
          <a:bodyPr wrap="square" rtlCol="0" anchor="ctr"/>
          <a:lstStyle/>
          <a:p>
            <a:pPr indent="0" marL="0">
              <a:buNone/>
            </a:pPr>
            <a:r>
              <a:rPr lang="en-US" sz="1000" dirty="0">
                <a:solidFill>
                  <a:srgbClr val="1E2B38"/>
                </a:solidFill>
                <a:latin typeface="Calibri Light" pitchFamily="34" charset="0"/>
                <a:ea typeface="Calibri Light" pitchFamily="34" charset="-122"/>
                <a:cs typeface="Calibri Light" pitchFamily="34" charset="-120"/>
              </a:rPr>
              <a:t>Class 2   ·   16 teacher-only   ·   37 both-wrong   ·   38 both-correct   ·   100 total</a:t>
            </a:r>
            <a:endParaRPr lang="en-US" sz="1000" dirty="0"/>
          </a:p>
        </p:txBody>
      </p:sp>
      <p:sp>
        <p:nvSpPr>
          <p:cNvPr id="28" name="Text 26"/>
          <p:cNvSpPr/>
          <p:nvPr/>
        </p:nvSpPr>
        <p:spPr>
          <a:xfrm>
            <a:off x="475488" y="4617720"/>
            <a:ext cx="8046720" cy="256032"/>
          </a:xfrm>
          <a:prstGeom prst="rect">
            <a:avLst/>
          </a:prstGeom>
          <a:noFill/>
          <a:ln/>
        </p:spPr>
        <p:txBody>
          <a:bodyPr wrap="square" rtlCol="0" anchor="ctr"/>
          <a:lstStyle/>
          <a:p>
            <a:pPr indent="0" marL="0">
              <a:buNone/>
            </a:pPr>
            <a:r>
              <a:rPr lang="en-US" sz="1000" dirty="0">
                <a:solidFill>
                  <a:srgbClr val="1E2B38"/>
                </a:solidFill>
                <a:latin typeface="Calibri Light" pitchFamily="34" charset="0"/>
                <a:ea typeface="Calibri Light" pitchFamily="34" charset="-122"/>
                <a:cs typeface="Calibri Light" pitchFamily="34" charset="-120"/>
              </a:rPr>
              <a:t>Class 10   ·   18 teacher-only   ·   5 both-wrong   ·   74 both-correct   ·   100 total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346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Text 1"/>
          <p:cNvSpPr/>
          <p:nvPr/>
        </p:nvSpPr>
        <p:spPr>
          <a:xfrm>
            <a:off x="365760" y="457200"/>
            <a:ext cx="1828800" cy="1645920"/>
          </a:xfrm>
          <a:prstGeom prst="rect">
            <a:avLst/>
          </a:prstGeom>
          <a:noFill/>
          <a:ln/>
        </p:spPr>
        <p:txBody>
          <a:bodyPr wrap="square" rtlCol="0" anchor="ctr"/>
          <a:lstStyle/>
          <a:p>
            <a:pPr indent="0" marL="0">
              <a:buNone/>
            </a:pPr>
            <a:r>
              <a:rPr lang="en-US" sz="8000" b="1" dirty="0">
                <a:solidFill>
                  <a:srgbClr val="FFFFFF">
                    <a:alpha val="78000"/>
                  </a:srgbClr>
                </a:solidFill>
                <a:latin typeface="Calibri" pitchFamily="34" charset="0"/>
                <a:ea typeface="Calibri" pitchFamily="34" charset="-122"/>
                <a:cs typeface="Calibri" pitchFamily="34" charset="-120"/>
              </a:rPr>
              <a:t>03</a:t>
            </a:r>
            <a:endParaRPr lang="en-US" sz="8000" dirty="0"/>
          </a:p>
        </p:txBody>
      </p:sp>
      <p:sp>
        <p:nvSpPr>
          <p:cNvPr id="4" name="Text 2"/>
          <p:cNvSpPr/>
          <p:nvPr/>
        </p:nvSpPr>
        <p:spPr>
          <a:xfrm>
            <a:off x="365760" y="2286000"/>
            <a:ext cx="8229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Embedding Compactness</a:t>
            </a:r>
            <a:endParaRPr lang="en-US" sz="2400" dirty="0"/>
          </a:p>
        </p:txBody>
      </p:sp>
      <p:sp>
        <p:nvSpPr>
          <p:cNvPr id="5" name="Text 3"/>
          <p:cNvSpPr/>
          <p:nvPr/>
        </p:nvSpPr>
        <p:spPr>
          <a:xfrm>
            <a:off x="365760" y="3017520"/>
            <a:ext cx="8229600" cy="457200"/>
          </a:xfrm>
          <a:prstGeom prst="rect">
            <a:avLst/>
          </a:prstGeom>
          <a:noFill/>
          <a:ln/>
        </p:spPr>
        <p:txBody>
          <a:bodyPr wrap="square" rtlCol="0" anchor="ctr"/>
          <a:lstStyle/>
          <a:p>
            <a:pPr indent="0" marL="0">
              <a:buNone/>
            </a:pPr>
            <a:r>
              <a:rPr lang="en-US" sz="1400" dirty="0">
                <a:solidFill>
                  <a:srgbClr val="7EC8E3"/>
                </a:solidFill>
                <a:latin typeface="Calibri Light" pitchFamily="34" charset="0"/>
                <a:ea typeface="Calibri Light" pitchFamily="34" charset="-122"/>
                <a:cs typeface="Calibri Light" pitchFamily="34" charset="-120"/>
              </a:rPr>
              <a:t>Intra-class cosine similarity — do tighter clusters mean better representations?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indent="0" marL="0">
              <a:buNone/>
            </a:pPr>
            <a:r>
              <a:rPr lang="en-US" sz="2200" b="1" dirty="0">
                <a:solidFill>
                  <a:srgbClr val="0F3460"/>
                </a:solidFill>
                <a:latin typeface="Calibri" pitchFamily="34" charset="0"/>
                <a:ea typeface="Calibri" pitchFamily="34" charset="-122"/>
                <a:cs typeface="Calibri" pitchFamily="34" charset="-120"/>
              </a:rPr>
              <a:t>Per-class embedding compactness — teacher vs student</a:t>
            </a:r>
            <a:endParaRPr lang="en-US" sz="2200" dirty="0"/>
          </a:p>
        </p:txBody>
      </p:sp>
      <p:pic>
        <p:nvPicPr>
          <p:cNvPr id="3" name="Image 0" descr="/home/claude/img_compactness.png">    </p:cNvPr>
          <p:cNvPicPr>
            <a:picLocks noChangeAspect="1"/>
          </p:cNvPicPr>
          <p:nvPr/>
        </p:nvPicPr>
        <p:blipFill>
          <a:blip r:embed="rId1"/>
          <a:stretch>
            <a:fillRect/>
          </a:stretch>
        </p:blipFill>
        <p:spPr>
          <a:xfrm>
            <a:off x="182880" y="822960"/>
            <a:ext cx="8778240" cy="3474720"/>
          </a:xfrm>
          <a:prstGeom prst="rect">
            <a:avLst/>
          </a:prstGeom>
        </p:spPr>
      </p:pic>
      <p:sp>
        <p:nvSpPr>
          <p:cNvPr id="4" name="Shape 1"/>
          <p:cNvSpPr/>
          <p:nvPr/>
        </p:nvSpPr>
        <p:spPr>
          <a:xfrm>
            <a:off x="320040" y="4389120"/>
            <a:ext cx="4023360" cy="59436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Shape 2"/>
          <p:cNvSpPr/>
          <p:nvPr/>
        </p:nvSpPr>
        <p:spPr>
          <a:xfrm>
            <a:off x="320040" y="4389120"/>
            <a:ext cx="4023360" cy="54864"/>
          </a:xfrm>
          <a:prstGeom prst="rect">
            <a:avLst/>
          </a:prstGeom>
          <a:solidFill>
            <a:srgbClr val="028090"/>
          </a:solidFill>
          <a:ln w="12700">
            <a:solidFill>
              <a:srgbClr val="028090"/>
            </a:solidFill>
            <a:prstDash val="solid"/>
          </a:ln>
        </p:spPr>
      </p:sp>
      <p:sp>
        <p:nvSpPr>
          <p:cNvPr id="6" name="Text 3"/>
          <p:cNvSpPr/>
          <p:nvPr/>
        </p:nvSpPr>
        <p:spPr>
          <a:xfrm>
            <a:off x="475488" y="4480560"/>
            <a:ext cx="3657600" cy="22860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Student higher on most classes</a:t>
            </a:r>
            <a:endParaRPr lang="en-US" sz="1100" dirty="0"/>
          </a:p>
        </p:txBody>
      </p:sp>
      <p:sp>
        <p:nvSpPr>
          <p:cNvPr id="7" name="Text 4"/>
          <p:cNvSpPr/>
          <p:nvPr/>
        </p:nvSpPr>
        <p:spPr>
          <a:xfrm>
            <a:off x="475488" y="4736592"/>
            <a:ext cx="365760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Light" pitchFamily="34" charset="0"/>
                <a:ea typeface="Calibri Light" pitchFamily="34" charset="-122"/>
                <a:cs typeface="Calibri Light" pitchFamily="34" charset="-120"/>
              </a:rPr>
              <a:t>192-dim compression forces tighter angular packing</a:t>
            </a:r>
            <a:endParaRPr lang="en-US" sz="1000" dirty="0"/>
          </a:p>
        </p:txBody>
      </p:sp>
      <p:sp>
        <p:nvSpPr>
          <p:cNvPr id="8" name="Shape 5"/>
          <p:cNvSpPr/>
          <p:nvPr/>
        </p:nvSpPr>
        <p:spPr>
          <a:xfrm>
            <a:off x="4526280" y="4389120"/>
            <a:ext cx="4160520" cy="59436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9" name="Shape 6"/>
          <p:cNvSpPr/>
          <p:nvPr/>
        </p:nvSpPr>
        <p:spPr>
          <a:xfrm>
            <a:off x="4526280" y="4389120"/>
            <a:ext cx="4160520" cy="54864"/>
          </a:xfrm>
          <a:prstGeom prst="rect">
            <a:avLst/>
          </a:prstGeom>
          <a:solidFill>
            <a:srgbClr val="C2410C"/>
          </a:solidFill>
          <a:ln w="12700">
            <a:solidFill>
              <a:srgbClr val="C2410C"/>
            </a:solidFill>
            <a:prstDash val="solid"/>
          </a:ln>
        </p:spPr>
      </p:sp>
      <p:sp>
        <p:nvSpPr>
          <p:cNvPr id="10" name="Text 7"/>
          <p:cNvSpPr/>
          <p:nvPr/>
        </p:nvSpPr>
        <p:spPr>
          <a:xfrm>
            <a:off x="4681728" y="4480560"/>
            <a:ext cx="3840480" cy="228600"/>
          </a:xfrm>
          <a:prstGeom prst="rect">
            <a:avLst/>
          </a:prstGeom>
          <a:noFill/>
          <a:ln/>
        </p:spPr>
        <p:txBody>
          <a:bodyPr wrap="square" lIns="0" tIns="0" rIns="0" bIns="0" rtlCol="0" anchor="ctr"/>
          <a:lstStyle/>
          <a:p>
            <a:pPr indent="0" marL="0">
              <a:buNone/>
            </a:pPr>
            <a:r>
              <a:rPr lang="en-US" sz="1100" b="1" dirty="0">
                <a:solidFill>
                  <a:srgbClr val="C2410C"/>
                </a:solidFill>
                <a:latin typeface="Calibri" pitchFamily="34" charset="0"/>
                <a:ea typeface="Calibri" pitchFamily="34" charset="-122"/>
                <a:cs typeface="Calibri" pitchFamily="34" charset="-120"/>
              </a:rPr>
              <a:t>Teacher lower = not worse, just richer</a:t>
            </a:r>
            <a:endParaRPr lang="en-US" sz="1100" dirty="0"/>
          </a:p>
        </p:txBody>
      </p:sp>
      <p:sp>
        <p:nvSpPr>
          <p:cNvPr id="11" name="Text 8"/>
          <p:cNvSpPr/>
          <p:nvPr/>
        </p:nvSpPr>
        <p:spPr>
          <a:xfrm>
            <a:off x="4681728" y="4736592"/>
            <a:ext cx="384048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Light" pitchFamily="34" charset="0"/>
                <a:ea typeface="Calibri Light" pitchFamily="34" charset="-122"/>
                <a:cs typeface="Calibri Light" pitchFamily="34" charset="-120"/>
              </a:rPr>
              <a:t>768-dim has room for fine-grained between-class margin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Text 0"/>
          <p:cNvSpPr/>
          <p:nvPr/>
        </p:nvSpPr>
        <p:spPr>
          <a:xfrm>
            <a:off x="411480" y="182880"/>
            <a:ext cx="8321040" cy="530352"/>
          </a:xfrm>
          <a:prstGeom prst="rect">
            <a:avLst/>
          </a:prstGeom>
          <a:noFill/>
          <a:ln/>
        </p:spPr>
        <p:txBody>
          <a:bodyPr wrap="square" lIns="0" tIns="0" rIns="0" bIns="0" rtlCol="0" anchor="ctr"/>
          <a:lstStyle/>
          <a:p>
            <a:pPr indent="0" marL="0">
              <a:buNone/>
            </a:pPr>
            <a:r>
              <a:rPr lang="en-US" sz="2200" b="1" dirty="0">
                <a:solidFill>
                  <a:srgbClr val="0F3460"/>
                </a:solidFill>
                <a:latin typeface="Calibri" pitchFamily="34" charset="0"/>
                <a:ea typeface="Calibri" pitchFamily="34" charset="-122"/>
                <a:cs typeface="Calibri" pitchFamily="34" charset="-120"/>
              </a:rPr>
              <a:t>Why the student has higher intra-class similarity — and why that matters</a:t>
            </a:r>
            <a:endParaRPr lang="en-US" sz="2200" dirty="0"/>
          </a:p>
        </p:txBody>
      </p:sp>
      <p:sp>
        <p:nvSpPr>
          <p:cNvPr id="3" name="Shape 1"/>
          <p:cNvSpPr/>
          <p:nvPr/>
        </p:nvSpPr>
        <p:spPr>
          <a:xfrm>
            <a:off x="320040" y="841248"/>
            <a:ext cx="4023360" cy="310896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4" name="Shape 2"/>
          <p:cNvSpPr/>
          <p:nvPr/>
        </p:nvSpPr>
        <p:spPr>
          <a:xfrm>
            <a:off x="320040" y="841248"/>
            <a:ext cx="4023360" cy="54864"/>
          </a:xfrm>
          <a:prstGeom prst="rect">
            <a:avLst/>
          </a:prstGeom>
          <a:solidFill>
            <a:srgbClr val="028090"/>
          </a:solidFill>
          <a:ln w="12700">
            <a:solidFill>
              <a:srgbClr val="028090"/>
            </a:solidFill>
            <a:prstDash val="solid"/>
          </a:ln>
        </p:spPr>
      </p:sp>
      <p:sp>
        <p:nvSpPr>
          <p:cNvPr id="5" name="Text 3"/>
          <p:cNvSpPr/>
          <p:nvPr/>
        </p:nvSpPr>
        <p:spPr>
          <a:xfrm>
            <a:off x="475488" y="969264"/>
            <a:ext cx="3657600" cy="347472"/>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The dimensionality effect</a:t>
            </a:r>
            <a:endParaRPr lang="en-US" sz="1400" dirty="0"/>
          </a:p>
        </p:txBody>
      </p:sp>
      <p:sp>
        <p:nvSpPr>
          <p:cNvPr id="6" name="Text 4"/>
          <p:cNvSpPr/>
          <p:nvPr/>
        </p:nvSpPr>
        <p:spPr>
          <a:xfrm>
            <a:off x="475488" y="1389888"/>
            <a:ext cx="3657600" cy="2423160"/>
          </a:xfrm>
          <a:prstGeom prst="rect">
            <a:avLst/>
          </a:prstGeom>
          <a:noFill/>
          <a:ln/>
        </p:spPr>
        <p:txBody>
          <a:bodyPr wrap="square" rtlCol="0" anchor="ctr"/>
          <a:lstStyle/>
          <a:p>
            <a:pPr indent="0" marL="0">
              <a:lnSpc>
                <a:spcPct val="140000"/>
              </a:lnSpc>
              <a:buNone/>
            </a:pPr>
            <a:r>
              <a:rPr lang="en-US" sz="1150" dirty="0">
                <a:solidFill>
                  <a:srgbClr val="1E2B38"/>
                </a:solidFill>
                <a:latin typeface="Calibri Light" pitchFamily="34" charset="0"/>
                <a:ea typeface="Calibri Light" pitchFamily="34" charset="-122"/>
                <a:cs typeface="Calibri Light" pitchFamily="34" charset="-120"/>
              </a:rPr>
              <a:t>In 192-dim space there are fewer orthogonal directions available. Class embeddings are packed into a smaller cone on the unit hypersphere, so mean pairwise cosine similarity is structurally higher — not because the student learned better features, but because it has less room to spread out.</a:t>
            </a:r>
            <a:endParaRPr lang="en-US" sz="1150" dirty="0"/>
          </a:p>
          <a:p>
            <a:pPr indent="0" marL="0">
              <a:lnSpc>
                <a:spcPct val="140000"/>
              </a:lnSpc>
              <a:buNone/>
            </a:pPr>
            <a:endParaRPr lang="en-US" sz="1150" dirty="0"/>
          </a:p>
          <a:p>
            <a:pPr indent="0" marL="0">
              <a:lnSpc>
                <a:spcPct val="140000"/>
              </a:lnSpc>
              <a:buNone/>
            </a:pPr>
            <a:r>
              <a:rPr lang="en-US" sz="1150" dirty="0">
                <a:solidFill>
                  <a:srgbClr val="1E2B38"/>
                </a:solidFill>
                <a:latin typeface="Calibri Light" pitchFamily="34" charset="0"/>
                <a:ea typeface="Calibri Light" pitchFamily="34" charset="-122"/>
                <a:cs typeface="Calibri Light" pitchFamily="34" charset="-120"/>
              </a:rPr>
              <a:t>This is analogous to PCA: projecting 768-dim vectors to 192-dim always increases apparent compactness. The metric is confounded by dimensionality.</a:t>
            </a:r>
            <a:endParaRPr lang="en-US" sz="1150" dirty="0"/>
          </a:p>
        </p:txBody>
      </p:sp>
      <p:sp>
        <p:nvSpPr>
          <p:cNvPr id="7" name="Shape 5"/>
          <p:cNvSpPr/>
          <p:nvPr/>
        </p:nvSpPr>
        <p:spPr>
          <a:xfrm>
            <a:off x="4617720" y="841248"/>
            <a:ext cx="4069080" cy="3108960"/>
          </a:xfrm>
          <a:prstGeom prst="rect">
            <a:avLst/>
          </a:prstGeom>
          <a:solidFill>
            <a:srgbClr val="FFFF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4617720" y="841248"/>
            <a:ext cx="4069080" cy="54864"/>
          </a:xfrm>
          <a:prstGeom prst="rect">
            <a:avLst/>
          </a:prstGeom>
          <a:solidFill>
            <a:srgbClr val="C2410C"/>
          </a:solidFill>
          <a:ln w="12700">
            <a:solidFill>
              <a:srgbClr val="C2410C"/>
            </a:solidFill>
            <a:prstDash val="solid"/>
          </a:ln>
        </p:spPr>
      </p:sp>
      <p:sp>
        <p:nvSpPr>
          <p:cNvPr id="9" name="Text 7"/>
          <p:cNvSpPr/>
          <p:nvPr/>
        </p:nvSpPr>
        <p:spPr>
          <a:xfrm>
            <a:off x="4773168" y="969264"/>
            <a:ext cx="3749040" cy="347472"/>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What actually matters: between-class margin</a:t>
            </a:r>
            <a:endParaRPr lang="en-US" sz="1400" dirty="0"/>
          </a:p>
        </p:txBody>
      </p:sp>
      <p:sp>
        <p:nvSpPr>
          <p:cNvPr id="10" name="Text 8"/>
          <p:cNvSpPr/>
          <p:nvPr/>
        </p:nvSpPr>
        <p:spPr>
          <a:xfrm>
            <a:off x="4773168" y="1389888"/>
            <a:ext cx="3749040" cy="2423160"/>
          </a:xfrm>
          <a:prstGeom prst="rect">
            <a:avLst/>
          </a:prstGeom>
          <a:noFill/>
          <a:ln/>
        </p:spPr>
        <p:txBody>
          <a:bodyPr wrap="square" rtlCol="0" anchor="ctr"/>
          <a:lstStyle/>
          <a:p>
            <a:pPr indent="0" marL="0">
              <a:lnSpc>
                <a:spcPct val="140000"/>
              </a:lnSpc>
              <a:buNone/>
            </a:pPr>
            <a:r>
              <a:rPr lang="en-US" sz="1150" dirty="0">
                <a:solidFill>
                  <a:srgbClr val="1E2B38"/>
                </a:solidFill>
                <a:latin typeface="Calibri Light" pitchFamily="34" charset="0"/>
                <a:ea typeface="Calibri Light" pitchFamily="34" charset="-122"/>
                <a:cs typeface="Calibri Light" pitchFamily="34" charset="-120"/>
              </a:rPr>
              <a:t>Classification accuracy depends on between-class separation, not within-class compactness. The 5.5pt accuracy gap (teacher 93% vs student 87.5%) reflects the teacher's ability to maintain larger angular margins between similar breeds in its 768-dim space.</a:t>
            </a:r>
            <a:endParaRPr lang="en-US" sz="1150" dirty="0"/>
          </a:p>
          <a:p>
            <a:pPr indent="0" marL="0">
              <a:lnSpc>
                <a:spcPct val="140000"/>
              </a:lnSpc>
              <a:buNone/>
            </a:pPr>
            <a:endParaRPr lang="en-US" sz="1150" dirty="0"/>
          </a:p>
          <a:p>
            <a:pPr indent="0" marL="0">
              <a:lnSpc>
                <a:spcPct val="140000"/>
              </a:lnSpc>
              <a:buNone/>
            </a:pPr>
            <a:r>
              <a:rPr lang="en-US" sz="1150" dirty="0">
                <a:solidFill>
                  <a:srgbClr val="1E2B38"/>
                </a:solidFill>
                <a:latin typeface="Calibri Light" pitchFamily="34" charset="0"/>
                <a:ea typeface="Calibri Light" pitchFamily="34" charset="-122"/>
                <a:cs typeface="Calibri Light" pitchFamily="34" charset="-120"/>
              </a:rPr>
              <a:t>The 269 student failures are precisely the samples where the teacher's larger margin is enough to pull the correct class to the top, but the student's compressed representation does not have room for that margin.</a:t>
            </a:r>
            <a:endParaRPr lang="en-US" sz="1150" dirty="0"/>
          </a:p>
        </p:txBody>
      </p:sp>
      <p:sp>
        <p:nvSpPr>
          <p:cNvPr id="11" name="Shape 9"/>
          <p:cNvSpPr/>
          <p:nvPr/>
        </p:nvSpPr>
        <p:spPr>
          <a:xfrm>
            <a:off x="320040" y="4069080"/>
            <a:ext cx="8366760" cy="822960"/>
          </a:xfrm>
          <a:prstGeom prst="rect">
            <a:avLst/>
          </a:prstGeom>
          <a:solidFill>
            <a:srgbClr val="EFF6FF"/>
          </a:solidFill>
          <a:ln w="6350">
            <a:solidFill>
              <a:srgbClr val="0F3460"/>
            </a:solidFill>
            <a:prstDash val="solid"/>
          </a:ln>
        </p:spPr>
      </p:sp>
      <p:sp>
        <p:nvSpPr>
          <p:cNvPr id="12" name="Text 10"/>
          <p:cNvSpPr/>
          <p:nvPr/>
        </p:nvSpPr>
        <p:spPr>
          <a:xfrm>
            <a:off x="475488" y="4133088"/>
            <a:ext cx="8046720" cy="694944"/>
          </a:xfrm>
          <a:prstGeom prst="rect">
            <a:avLst/>
          </a:prstGeom>
          <a:noFill/>
          <a:ln/>
        </p:spPr>
        <p:txBody>
          <a:bodyPr wrap="square" rtlCol="0" anchor="ctr"/>
          <a:lstStyle/>
          <a:p>
            <a:pPr indent="0" marL="0">
              <a:lnSpc>
                <a:spcPct val="130000"/>
              </a:lnSpc>
              <a:buNone/>
            </a:pPr>
            <a:r>
              <a:rPr lang="en-US" sz="1100" dirty="0">
                <a:solidFill>
                  <a:srgbClr val="0F3460"/>
                </a:solidFill>
                <a:latin typeface="Calibri Light" pitchFamily="34" charset="0"/>
                <a:ea typeface="Calibri Light" pitchFamily="34" charset="-122"/>
                <a:cs typeface="Calibri Light" pitchFamily="34" charset="-120"/>
              </a:rPr>
              <a:t>Exception — classes where student compactness is genuinely lower than teacher (classes 0, 2, 5, 26, 34): these are the breeds where even 192 dimensions are insufficient for compact representation. They correspond directly to the hardest per-class F1 scores in both models.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Text 1"/>
          <p:cNvSpPr/>
          <p:nvPr/>
        </p:nvSpPr>
        <p:spPr>
          <a:xfrm>
            <a:off x="457200" y="228600"/>
            <a:ext cx="8229600" cy="5943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Summary</a:t>
            </a:r>
            <a:endParaRPr lang="en-US" sz="2400" dirty="0"/>
          </a:p>
        </p:txBody>
      </p:sp>
      <p:sp>
        <p:nvSpPr>
          <p:cNvPr id="4" name="Shape 2"/>
          <p:cNvSpPr/>
          <p:nvPr/>
        </p:nvSpPr>
        <p:spPr>
          <a:xfrm>
            <a:off x="411480" y="987552"/>
            <a:ext cx="8275320" cy="841248"/>
          </a:xfrm>
          <a:prstGeom prst="rect">
            <a:avLst/>
          </a:prstGeom>
          <a:solidFill>
            <a:srgbClr val="FFFFFF">
              <a:alpha val="9000"/>
            </a:srgbClr>
          </a:solidFill>
          <a:ln w="3810">
            <a:solidFill>
              <a:srgbClr val="FFFFFF">
                <a:alpha val="30000"/>
              </a:srgbClr>
            </a:solidFill>
            <a:prstDash val="solid"/>
          </a:ln>
        </p:spPr>
      </p:sp>
      <p:sp>
        <p:nvSpPr>
          <p:cNvPr id="5" name="Shape 3"/>
          <p:cNvSpPr/>
          <p:nvPr/>
        </p:nvSpPr>
        <p:spPr>
          <a:xfrm>
            <a:off x="411480" y="987552"/>
            <a:ext cx="64008" cy="841248"/>
          </a:xfrm>
          <a:prstGeom prst="rect">
            <a:avLst/>
          </a:prstGeom>
          <a:solidFill>
            <a:srgbClr val="7EC8E3"/>
          </a:solidFill>
          <a:ln w="12700">
            <a:solidFill>
              <a:srgbClr val="7EC8E3"/>
            </a:solidFill>
            <a:prstDash val="solid"/>
          </a:ln>
        </p:spPr>
      </p:sp>
      <p:sp>
        <p:nvSpPr>
          <p:cNvPr id="6" name="Text 4"/>
          <p:cNvSpPr/>
          <p:nvPr/>
        </p:nvSpPr>
        <p:spPr>
          <a:xfrm>
            <a:off x="548640" y="1033272"/>
            <a:ext cx="384048" cy="365760"/>
          </a:xfrm>
          <a:prstGeom prst="rect">
            <a:avLst/>
          </a:prstGeom>
          <a:noFill/>
          <a:ln/>
        </p:spPr>
        <p:txBody>
          <a:bodyPr wrap="square" lIns="0" tIns="0" rIns="0" bIns="0" rtlCol="0" anchor="ctr"/>
          <a:lstStyle/>
          <a:p>
            <a:pPr indent="0" marL="0">
              <a:buNone/>
            </a:pPr>
            <a:r>
              <a:rPr lang="en-US" sz="2000" b="1" dirty="0">
                <a:solidFill>
                  <a:srgbClr val="7EC8E3"/>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024128" y="1078992"/>
            <a:ext cx="7406640" cy="640080"/>
          </a:xfrm>
          <a:prstGeom prst="rect">
            <a:avLst/>
          </a:prstGeom>
          <a:noFill/>
          <a:ln/>
        </p:spPr>
        <p:txBody>
          <a:bodyPr wrap="square" rtlCol="0" anchor="ctr"/>
          <a:lstStyle/>
          <a:p>
            <a:pPr indent="0" marL="0">
              <a:lnSpc>
                <a:spcPct val="130000"/>
              </a:lnSpc>
              <a:buNone/>
            </a:pPr>
            <a:r>
              <a:rPr lang="en-US" sz="1150" dirty="0">
                <a:solidFill>
                  <a:srgbClr val="E8F4F8"/>
                </a:solidFill>
                <a:latin typeface="Calibri Light" pitchFamily="34" charset="0"/>
                <a:ea typeface="Calibri Light" pitchFamily="34" charset="-122"/>
                <a:cs typeface="Calibri Light" pitchFamily="34" charset="-120"/>
              </a:rPr>
              <a:t>Both models produce well-separated cluster structure for all 37 breeds. The distilled student has successfully transferred the teacher's representational topology despite having 15× fewer parameters.</a:t>
            </a:r>
            <a:endParaRPr lang="en-US" sz="1150" dirty="0"/>
          </a:p>
        </p:txBody>
      </p:sp>
      <p:sp>
        <p:nvSpPr>
          <p:cNvPr id="8" name="Shape 6"/>
          <p:cNvSpPr/>
          <p:nvPr/>
        </p:nvSpPr>
        <p:spPr>
          <a:xfrm>
            <a:off x="411480" y="1975104"/>
            <a:ext cx="8275320" cy="841248"/>
          </a:xfrm>
          <a:prstGeom prst="rect">
            <a:avLst/>
          </a:prstGeom>
          <a:solidFill>
            <a:srgbClr val="FFFFFF">
              <a:alpha val="9000"/>
            </a:srgbClr>
          </a:solidFill>
          <a:ln w="3810">
            <a:solidFill>
              <a:srgbClr val="FFFFFF">
                <a:alpha val="30000"/>
              </a:srgbClr>
            </a:solidFill>
            <a:prstDash val="solid"/>
          </a:ln>
        </p:spPr>
      </p:sp>
      <p:sp>
        <p:nvSpPr>
          <p:cNvPr id="9" name="Shape 7"/>
          <p:cNvSpPr/>
          <p:nvPr/>
        </p:nvSpPr>
        <p:spPr>
          <a:xfrm>
            <a:off x="411480" y="1975104"/>
            <a:ext cx="64008" cy="841248"/>
          </a:xfrm>
          <a:prstGeom prst="rect">
            <a:avLst/>
          </a:prstGeom>
          <a:solidFill>
            <a:srgbClr val="5EEAD4"/>
          </a:solidFill>
          <a:ln w="12700">
            <a:solidFill>
              <a:srgbClr val="5EEAD4"/>
            </a:solidFill>
            <a:prstDash val="solid"/>
          </a:ln>
        </p:spPr>
      </p:sp>
      <p:sp>
        <p:nvSpPr>
          <p:cNvPr id="10" name="Text 8"/>
          <p:cNvSpPr/>
          <p:nvPr/>
        </p:nvSpPr>
        <p:spPr>
          <a:xfrm>
            <a:off x="548640" y="2020824"/>
            <a:ext cx="384048" cy="365760"/>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1024128" y="2066544"/>
            <a:ext cx="7406640" cy="640080"/>
          </a:xfrm>
          <a:prstGeom prst="rect">
            <a:avLst/>
          </a:prstGeom>
          <a:noFill/>
          <a:ln/>
        </p:spPr>
        <p:txBody>
          <a:bodyPr wrap="square" rtlCol="0" anchor="ctr"/>
          <a:lstStyle/>
          <a:p>
            <a:pPr indent="0" marL="0">
              <a:lnSpc>
                <a:spcPct val="130000"/>
              </a:lnSpc>
              <a:buNone/>
            </a:pPr>
            <a:r>
              <a:rPr lang="en-US" sz="1150" dirty="0">
                <a:solidFill>
                  <a:srgbClr val="E8F4F8"/>
                </a:solidFill>
                <a:latin typeface="Calibri Light" pitchFamily="34" charset="0"/>
                <a:ea typeface="Calibri Light" pitchFamily="34" charset="-122"/>
                <a:cs typeface="Calibri Light" pitchFamily="34" charset="-120"/>
              </a:rPr>
              <a:t>85.7% of test samples are classified correctly by both models. The student fails on only 269 samples where the teacher succeeds — these cluster at class boundaries and in intrinsically hard breeds (2, 34, 10).</a:t>
            </a:r>
            <a:endParaRPr lang="en-US" sz="1150" dirty="0"/>
          </a:p>
        </p:txBody>
      </p:sp>
      <p:sp>
        <p:nvSpPr>
          <p:cNvPr id="12" name="Shape 10"/>
          <p:cNvSpPr/>
          <p:nvPr/>
        </p:nvSpPr>
        <p:spPr>
          <a:xfrm>
            <a:off x="411480" y="2962656"/>
            <a:ext cx="8275320" cy="841248"/>
          </a:xfrm>
          <a:prstGeom prst="rect">
            <a:avLst/>
          </a:prstGeom>
          <a:solidFill>
            <a:srgbClr val="FFFFFF">
              <a:alpha val="9000"/>
            </a:srgbClr>
          </a:solidFill>
          <a:ln w="3810">
            <a:solidFill>
              <a:srgbClr val="FFFFFF">
                <a:alpha val="30000"/>
              </a:srgbClr>
            </a:solidFill>
            <a:prstDash val="solid"/>
          </a:ln>
        </p:spPr>
      </p:sp>
      <p:sp>
        <p:nvSpPr>
          <p:cNvPr id="13" name="Shape 11"/>
          <p:cNvSpPr/>
          <p:nvPr/>
        </p:nvSpPr>
        <p:spPr>
          <a:xfrm>
            <a:off x="411480" y="2962656"/>
            <a:ext cx="64008" cy="841248"/>
          </a:xfrm>
          <a:prstGeom prst="rect">
            <a:avLst/>
          </a:prstGeom>
          <a:solidFill>
            <a:srgbClr val="BAE6FD"/>
          </a:solidFill>
          <a:ln w="12700">
            <a:solidFill>
              <a:srgbClr val="BAE6FD"/>
            </a:solidFill>
            <a:prstDash val="solid"/>
          </a:ln>
        </p:spPr>
      </p:sp>
      <p:sp>
        <p:nvSpPr>
          <p:cNvPr id="14" name="Text 12"/>
          <p:cNvSpPr/>
          <p:nvPr/>
        </p:nvSpPr>
        <p:spPr>
          <a:xfrm>
            <a:off x="548640" y="3008376"/>
            <a:ext cx="384048" cy="365760"/>
          </a:xfrm>
          <a:prstGeom prst="rect">
            <a:avLst/>
          </a:prstGeom>
          <a:noFill/>
          <a:ln/>
        </p:spPr>
        <p:txBody>
          <a:bodyPr wrap="square" lIns="0" tIns="0" rIns="0" bIns="0" rtlCol="0" anchor="ctr"/>
          <a:lstStyle/>
          <a:p>
            <a:pPr indent="0" marL="0">
              <a:buNone/>
            </a:pPr>
            <a:r>
              <a:rPr lang="en-US" sz="2000" b="1" dirty="0">
                <a:solidFill>
                  <a:srgbClr val="BAE6FD"/>
                </a:solidFill>
                <a:latin typeface="Calibri" pitchFamily="34" charset="0"/>
                <a:ea typeface="Calibri" pitchFamily="34" charset="-122"/>
                <a:cs typeface="Calibri" pitchFamily="34" charset="-120"/>
              </a:rPr>
              <a:t>3</a:t>
            </a:r>
            <a:endParaRPr lang="en-US" sz="2000" dirty="0"/>
          </a:p>
        </p:txBody>
      </p:sp>
      <p:sp>
        <p:nvSpPr>
          <p:cNvPr id="15" name="Text 13"/>
          <p:cNvSpPr/>
          <p:nvPr/>
        </p:nvSpPr>
        <p:spPr>
          <a:xfrm>
            <a:off x="1024128" y="3054096"/>
            <a:ext cx="7406640" cy="640080"/>
          </a:xfrm>
          <a:prstGeom prst="rect">
            <a:avLst/>
          </a:prstGeom>
          <a:noFill/>
          <a:ln/>
        </p:spPr>
        <p:txBody>
          <a:bodyPr wrap="square" rtlCol="0" anchor="ctr"/>
          <a:lstStyle/>
          <a:p>
            <a:pPr indent="0" marL="0">
              <a:lnSpc>
                <a:spcPct val="130000"/>
              </a:lnSpc>
              <a:buNone/>
            </a:pPr>
            <a:r>
              <a:rPr lang="en-US" sz="1150" dirty="0">
                <a:solidFill>
                  <a:srgbClr val="E8F4F8"/>
                </a:solidFill>
                <a:latin typeface="Calibri Light" pitchFamily="34" charset="0"/>
                <a:ea typeface="Calibri Light" pitchFamily="34" charset="-122"/>
                <a:cs typeface="Calibri Light" pitchFamily="34" charset="-120"/>
              </a:rPr>
              <a:t>Student intra-class similarity is higher than the teacher on most classes, but this is a dimensionality compression artefact, not evidence of superior representations. The real gap is between-class margin.</a:t>
            </a:r>
            <a:endParaRPr lang="en-US" sz="1150" dirty="0"/>
          </a:p>
        </p:txBody>
      </p:sp>
      <p:sp>
        <p:nvSpPr>
          <p:cNvPr id="16" name="Shape 14"/>
          <p:cNvSpPr/>
          <p:nvPr/>
        </p:nvSpPr>
        <p:spPr>
          <a:xfrm>
            <a:off x="411480" y="3950208"/>
            <a:ext cx="8275320" cy="841248"/>
          </a:xfrm>
          <a:prstGeom prst="rect">
            <a:avLst/>
          </a:prstGeom>
          <a:solidFill>
            <a:srgbClr val="FFFFFF">
              <a:alpha val="9000"/>
            </a:srgbClr>
          </a:solidFill>
          <a:ln w="3810">
            <a:solidFill>
              <a:srgbClr val="FFFFFF">
                <a:alpha val="30000"/>
              </a:srgbClr>
            </a:solidFill>
            <a:prstDash val="solid"/>
          </a:ln>
        </p:spPr>
      </p:sp>
      <p:sp>
        <p:nvSpPr>
          <p:cNvPr id="17" name="Shape 15"/>
          <p:cNvSpPr/>
          <p:nvPr/>
        </p:nvSpPr>
        <p:spPr>
          <a:xfrm>
            <a:off x="411480" y="3950208"/>
            <a:ext cx="64008" cy="841248"/>
          </a:xfrm>
          <a:prstGeom prst="rect">
            <a:avLst/>
          </a:prstGeom>
          <a:solidFill>
            <a:srgbClr val="DDD6FE"/>
          </a:solidFill>
          <a:ln w="12700">
            <a:solidFill>
              <a:srgbClr val="DDD6FE"/>
            </a:solidFill>
            <a:prstDash val="solid"/>
          </a:ln>
        </p:spPr>
      </p:sp>
      <p:sp>
        <p:nvSpPr>
          <p:cNvPr id="18" name="Text 16"/>
          <p:cNvSpPr/>
          <p:nvPr/>
        </p:nvSpPr>
        <p:spPr>
          <a:xfrm>
            <a:off x="548640" y="3995928"/>
            <a:ext cx="384048" cy="365760"/>
          </a:xfrm>
          <a:prstGeom prst="rect">
            <a:avLst/>
          </a:prstGeom>
          <a:noFill/>
          <a:ln/>
        </p:spPr>
        <p:txBody>
          <a:bodyPr wrap="square" lIns="0" tIns="0" rIns="0" bIns="0" rtlCol="0" anchor="ctr"/>
          <a:lstStyle/>
          <a:p>
            <a:pPr indent="0" marL="0">
              <a:buNone/>
            </a:pPr>
            <a:r>
              <a:rPr lang="en-US" sz="2000" b="1" dirty="0">
                <a:solidFill>
                  <a:srgbClr val="DDD6FE"/>
                </a:solidFill>
                <a:latin typeface="Calibri" pitchFamily="34" charset="0"/>
                <a:ea typeface="Calibri" pitchFamily="34" charset="-122"/>
                <a:cs typeface="Calibri" pitchFamily="34" charset="-120"/>
              </a:rPr>
              <a:t>4</a:t>
            </a:r>
            <a:endParaRPr lang="en-US" sz="2000" dirty="0"/>
          </a:p>
        </p:txBody>
      </p:sp>
      <p:sp>
        <p:nvSpPr>
          <p:cNvPr id="19" name="Text 17"/>
          <p:cNvSpPr/>
          <p:nvPr/>
        </p:nvSpPr>
        <p:spPr>
          <a:xfrm>
            <a:off x="1024128" y="4041648"/>
            <a:ext cx="7406640" cy="640080"/>
          </a:xfrm>
          <a:prstGeom prst="rect">
            <a:avLst/>
          </a:prstGeom>
          <a:noFill/>
          <a:ln/>
        </p:spPr>
        <p:txBody>
          <a:bodyPr wrap="square" rtlCol="0" anchor="ctr"/>
          <a:lstStyle/>
          <a:p>
            <a:pPr indent="0" marL="0">
              <a:lnSpc>
                <a:spcPct val="130000"/>
              </a:lnSpc>
              <a:buNone/>
            </a:pPr>
            <a:r>
              <a:rPr lang="en-US" sz="1150" dirty="0">
                <a:solidFill>
                  <a:srgbClr val="E8F4F8"/>
                </a:solidFill>
                <a:latin typeface="Calibri Light" pitchFamily="34" charset="0"/>
                <a:ea typeface="Calibri Light" pitchFamily="34" charset="-122"/>
                <a:cs typeface="Calibri Light" pitchFamily="34" charset="-120"/>
              </a:rPr>
              <a:t>69 samples are correct by the student but wrong by the teacher — evidence that soft-label distillation transferred complementary knowledge beyond the teacher's own hard predictions.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2026-05-10T07:57:08Z</dcterms:created>
  <dcterms:modified xsi:type="dcterms:W3CDTF">2026-05-10T07:57:08Z</dcterms:modified>
</cp:coreProperties>
</file>