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notesSlides/notesSlide8.xml" ContentType="application/vnd.openxmlformats-officedocument.presentationml.notesSlide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notesSlides/notesSlide9.xml" ContentType="application/vnd.openxmlformats-officedocument.presentationml.notesSlide+xml"/>
  <Override PartName="/ppt/charts/chart5.xml" ContentType="application/vnd.openxmlformats-officedocument.drawingml.chart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charts/chart6.xml" ContentType="application/vnd.openxmlformats-officedocument.drawingml.chart+xml"/>
  <Override PartName="/ppt/notesSlides/notesSlide15.xml" ContentType="application/vnd.openxmlformats-officedocument.presentationml.notesSlide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charts/chart9.xml" ContentType="application/vnd.openxmlformats-officedocument.drawingml.chart+xml"/>
  <Override PartName="/ppt/charts/chart10.xml" ContentType="application/vnd.openxmlformats-officedocument.drawingml.chart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rts/chart11.xml" ContentType="application/vnd.openxmlformats-officedocument.drawingml.chart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charts/chart12.xml" ContentType="application/vnd.openxmlformats-officedocument.drawingml.chart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charts/chart13.xml" ContentType="application/vnd.openxmlformats-officedocument.drawingml.chart+xml"/>
  <Override PartName="/ppt/notesSlides/notesSlide24.xml" ContentType="application/vnd.openxmlformats-officedocument.presentationml.notesSlide+xml"/>
  <Override PartName="/ppt/charts/chart14.xml" ContentType="application/vnd.openxmlformats-officedocument.drawingml.chart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charts/chart15.xml" ContentType="application/vnd.openxmlformats-officedocument.drawingml.chart+xml"/>
  <Override PartName="/ppt/notesSlides/notesSlide27.xml" ContentType="application/vnd.openxmlformats-officedocument.presentationml.notesSlide+xml"/>
  <Override PartName="/ppt/charts/chart16.xml" ContentType="application/vnd.openxmlformats-officedocument.drawingml.chart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charts/chart17.xml" ContentType="application/vnd.openxmlformats-officedocument.drawingml.chart+xml"/>
  <Override PartName="/ppt/notesSlides/notesSlide31.xml" ContentType="application/vnd.openxmlformats-officedocument.presentationml.notesSlide+xml"/>
  <Override PartName="/ppt/charts/chart18.xml" ContentType="application/vnd.openxmlformats-officedocument.drawingml.chart+xml"/>
  <Override PartName="/ppt/charts/chart19.xml" ContentType="application/vnd.openxmlformats-officedocument.drawingml.chart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0"/>
  </p:notesMasterIdLst>
  <p:sldIdLst>
    <p:sldId id="256" r:id="rId2"/>
    <p:sldId id="257" r:id="rId3"/>
    <p:sldId id="258" r:id="rId4"/>
    <p:sldId id="259" r:id="rId5"/>
    <p:sldId id="296" r:id="rId6"/>
    <p:sldId id="293" r:id="rId7"/>
    <p:sldId id="263" r:id="rId8"/>
    <p:sldId id="295" r:id="rId9"/>
    <p:sldId id="294" r:id="rId10"/>
    <p:sldId id="260" r:id="rId11"/>
    <p:sldId id="261" r:id="rId12"/>
    <p:sldId id="290" r:id="rId13"/>
    <p:sldId id="291" r:id="rId14"/>
    <p:sldId id="292" r:id="rId15"/>
    <p:sldId id="262" r:id="rId16"/>
    <p:sldId id="288" r:id="rId17"/>
    <p:sldId id="287" r:id="rId18"/>
    <p:sldId id="289" r:id="rId19"/>
    <p:sldId id="264" r:id="rId20"/>
    <p:sldId id="265" r:id="rId21"/>
    <p:sldId id="266" r:id="rId22"/>
    <p:sldId id="283" r:id="rId23"/>
    <p:sldId id="268" r:id="rId24"/>
    <p:sldId id="281" r:id="rId25"/>
    <p:sldId id="279" r:id="rId26"/>
    <p:sldId id="280" r:id="rId27"/>
    <p:sldId id="282" r:id="rId28"/>
    <p:sldId id="270" r:id="rId29"/>
    <p:sldId id="271" r:id="rId30"/>
    <p:sldId id="277" r:id="rId31"/>
    <p:sldId id="284" r:id="rId32"/>
    <p:sldId id="272" r:id="rId33"/>
    <p:sldId id="285" r:id="rId34"/>
    <p:sldId id="286" r:id="rId35"/>
    <p:sldId id="273" r:id="rId36"/>
    <p:sldId id="275" r:id="rId37"/>
    <p:sldId id="276" r:id="rId38"/>
    <p:sldId id="274" r:id="rId3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9" d="100"/>
          <a:sy n="79" d="100"/>
        </p:scale>
        <p:origin x="108" y="120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heme" Target="theme/theme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_rels/chart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5.xlsx"/></Relationships>
</file>

<file path=ppt/charts/_rels/chart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6.xlsx"/></Relationships>
</file>

<file path=ppt/charts/_rels/chart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7.xlsx"/></Relationships>
</file>

<file path=ppt/charts/_rels/chart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8.xlsx"/></Relationships>
</file>

<file path=ppt/charts/_rels/chart10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9.xlsx"/></Relationships>
</file>

<file path=ppt/charts/_rels/chart1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0.xlsx"/></Relationships>
</file>

<file path=ppt/charts/_rels/chart1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1.xlsx"/></Relationships>
</file>

<file path=ppt/charts/_rels/chart1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2.xlsx"/></Relationships>
</file>

<file path=ppt/charts/_rels/chart1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3.xlsx"/></Relationships>
</file>

<file path=ppt/charts/_rels/chart1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4.xlsx"/></Relationships>
</file>

<file path=ppt/charts/_rels/chart16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5.xlsx"/></Relationships>
</file>

<file path=ppt/charts/_rels/chart17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6.xlsx"/></Relationships>
</file>

<file path=ppt/charts/_rels/chart18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7.xlsx"/></Relationships>
</file>

<file path=ppt/charts/_rels/chart19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2 Blocks Unfrozen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no_augs</c:v>
                </c:pt>
                <c:pt idx="1">
                  <c:v>basic_augs</c:v>
                </c:pt>
                <c:pt idx="2">
                  <c:v>erasing_low</c:v>
                </c:pt>
                <c:pt idx="3">
                  <c:v>erasing_high</c:v>
                </c:pt>
                <c:pt idx="4">
                  <c:v>jitter_only</c:v>
                </c:pt>
                <c:pt idx="5">
                  <c:v>mixup_low</c:v>
                </c:pt>
                <c:pt idx="6">
                  <c:v>mixup_mod</c:v>
                </c:pt>
                <c:pt idx="7">
                  <c:v>cutmix_low</c:v>
                </c:pt>
                <c:pt idx="8">
                  <c:v>cutmix_mod</c:v>
                </c:pt>
                <c:pt idx="9">
                  <c:v>mix+cut</c:v>
                </c:pt>
                <c:pt idx="10">
                  <c:v>full_low</c:v>
                </c:pt>
                <c:pt idx="11">
                  <c:v>full_high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92.07</c:v>
                </c:pt>
                <c:pt idx="1">
                  <c:v>92.86</c:v>
                </c:pt>
                <c:pt idx="2">
                  <c:v>92.97</c:v>
                </c:pt>
                <c:pt idx="3">
                  <c:v>92.37</c:v>
                </c:pt>
                <c:pt idx="4">
                  <c:v>92.75</c:v>
                </c:pt>
                <c:pt idx="5">
                  <c:v>92.89</c:v>
                </c:pt>
                <c:pt idx="6">
                  <c:v>92.86</c:v>
                </c:pt>
                <c:pt idx="7">
                  <c:v>92.59</c:v>
                </c:pt>
                <c:pt idx="8">
                  <c:v>92.7</c:v>
                </c:pt>
                <c:pt idx="9">
                  <c:v>92.53</c:v>
                </c:pt>
                <c:pt idx="10">
                  <c:v>92.58</c:v>
                </c:pt>
                <c:pt idx="11">
                  <c:v>92.78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F0E9-4BCE-B601-FD86FC3CB775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4 Blocks Unfrozen</c:v>
                </c:pt>
              </c:strCache>
            </c:strRef>
          </c:tx>
          <c:spPr>
            <a:solidFill>
              <a:srgbClr val="06B6D4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no_augs</c:v>
                </c:pt>
                <c:pt idx="1">
                  <c:v>basic_augs</c:v>
                </c:pt>
                <c:pt idx="2">
                  <c:v>erasing_low</c:v>
                </c:pt>
                <c:pt idx="3">
                  <c:v>erasing_high</c:v>
                </c:pt>
                <c:pt idx="4">
                  <c:v>jitter_only</c:v>
                </c:pt>
                <c:pt idx="5">
                  <c:v>mixup_low</c:v>
                </c:pt>
                <c:pt idx="6">
                  <c:v>mixup_mod</c:v>
                </c:pt>
                <c:pt idx="7">
                  <c:v>cutmix_low</c:v>
                </c:pt>
                <c:pt idx="8">
                  <c:v>cutmix_mod</c:v>
                </c:pt>
                <c:pt idx="9">
                  <c:v>mix+cut</c:v>
                </c:pt>
                <c:pt idx="10">
                  <c:v>full_low</c:v>
                </c:pt>
                <c:pt idx="11">
                  <c:v>full_high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92.75</c:v>
                </c:pt>
                <c:pt idx="1">
                  <c:v>92.35</c:v>
                </c:pt>
                <c:pt idx="2">
                  <c:v>92.34</c:v>
                </c:pt>
                <c:pt idx="3">
                  <c:v>92.62</c:v>
                </c:pt>
                <c:pt idx="4">
                  <c:v>92.66</c:v>
                </c:pt>
                <c:pt idx="5">
                  <c:v>92.41</c:v>
                </c:pt>
                <c:pt idx="6">
                  <c:v>92.71</c:v>
                </c:pt>
                <c:pt idx="7">
                  <c:v>92.42</c:v>
                </c:pt>
                <c:pt idx="8">
                  <c:v>92.5</c:v>
                </c:pt>
                <c:pt idx="9">
                  <c:v>92.67</c:v>
                </c:pt>
                <c:pt idx="10">
                  <c:v>92.54</c:v>
                </c:pt>
                <c:pt idx="11">
                  <c:v>92.78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F0E9-4BCE-B601-FD86FC3CB775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6 Blocks Unfrozen</c:v>
                </c:pt>
              </c:strCache>
            </c:strRef>
          </c:tx>
          <c:spPr>
            <a:solidFill>
              <a:srgbClr val="67E8F9"/>
            </a:solidFill>
            <a:effectLst/>
          </c:spPr>
          <c:invertIfNegative val="0"/>
          <c:cat>
            <c:strRef>
              <c:f>Sheet1!$A$2:$A$13</c:f>
              <c:strCache>
                <c:ptCount val="12"/>
                <c:pt idx="0">
                  <c:v>no_augs</c:v>
                </c:pt>
                <c:pt idx="1">
                  <c:v>basic_augs</c:v>
                </c:pt>
                <c:pt idx="2">
                  <c:v>erasing_low</c:v>
                </c:pt>
                <c:pt idx="3">
                  <c:v>erasing_high</c:v>
                </c:pt>
                <c:pt idx="4">
                  <c:v>jitter_only</c:v>
                </c:pt>
                <c:pt idx="5">
                  <c:v>mixup_low</c:v>
                </c:pt>
                <c:pt idx="6">
                  <c:v>mixup_mod</c:v>
                </c:pt>
                <c:pt idx="7">
                  <c:v>cutmix_low</c:v>
                </c:pt>
                <c:pt idx="8">
                  <c:v>cutmix_mod</c:v>
                </c:pt>
                <c:pt idx="9">
                  <c:v>mix+cut</c:v>
                </c:pt>
                <c:pt idx="10">
                  <c:v>full_low</c:v>
                </c:pt>
                <c:pt idx="11">
                  <c:v>full_high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92.52</c:v>
                </c:pt>
                <c:pt idx="1">
                  <c:v>92.55</c:v>
                </c:pt>
                <c:pt idx="2">
                  <c:v>92.33</c:v>
                </c:pt>
                <c:pt idx="3">
                  <c:v>92.86</c:v>
                </c:pt>
                <c:pt idx="4">
                  <c:v>92.47</c:v>
                </c:pt>
                <c:pt idx="5">
                  <c:v>92.37</c:v>
                </c:pt>
                <c:pt idx="6">
                  <c:v>92.5</c:v>
                </c:pt>
                <c:pt idx="7">
                  <c:v>92.34</c:v>
                </c:pt>
                <c:pt idx="8">
                  <c:v>92.35</c:v>
                </c:pt>
                <c:pt idx="9">
                  <c:v>92.34</c:v>
                </c:pt>
                <c:pt idx="10">
                  <c:v>92.8</c:v>
                </c:pt>
                <c:pt idx="11">
                  <c:v>92.67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F0E9-4BCE-B601-FD86FC3CB77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3.5"/>
          <c:min val="91.5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900" b="0" i="0" u="none" strike="noStrike">
                <a:solidFill>
                  <a:srgbClr val="475569"/>
                </a:solidFill>
                <a:latin typeface="Arial"/>
              </a:defRPr>
            </a:pPr>
            <a:r>
              <a:rPr lang="en-GB" sz="900" b="0" i="0" u="none" strike="noStrike">
                <a:solidFill>
                  <a:srgbClr val="475569"/>
                </a:solidFill>
                <a:latin typeface="Arial"/>
              </a:rPr>
              <a:t>Avg Accuracy by Unfrozen Block Count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Average Accuracy</c:v>
                </c:pt>
              </c:strCache>
            </c:strRef>
          </c:tx>
          <c:spPr>
            <a:solidFill>
              <a:srgbClr val="0284C7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08C4-42D1-9768-571182258F62}"/>
              </c:ext>
            </c:extLst>
          </c:dPt>
          <c:dPt>
            <c:idx val="1"/>
            <c:invertIfNegative val="0"/>
            <c:bubble3D val="0"/>
            <c:spPr>
              <a:solidFill>
                <a:srgbClr val="06B6D4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08C4-42D1-9768-571182258F62}"/>
              </c:ext>
            </c:extLst>
          </c:dPt>
          <c:dPt>
            <c:idx val="2"/>
            <c:invertIfNegative val="0"/>
            <c:bubble3D val="0"/>
            <c:spPr>
              <a:solidFill>
                <a:srgbClr val="67E8F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08C4-42D1-9768-571182258F62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2 Blocks</c:v>
                </c:pt>
                <c:pt idx="1">
                  <c:v>4 Blocks</c:v>
                </c:pt>
                <c:pt idx="2">
                  <c:v>6 Blocks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92.61</c:v>
                </c:pt>
                <c:pt idx="1">
                  <c:v>92.4</c:v>
                </c:pt>
                <c:pt idx="2">
                  <c:v>92.38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08C4-42D1-9768-571182258F6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.8"/>
          <c:min val="92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00000"/>
                </a:solidFill>
                <a:latin typeface="Arial"/>
              </a:rPr>
              <a:t>Avg Accuracy by # Block Groups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Avg Accuracy (%)</c:v>
                </c:pt>
              </c:strCache>
            </c:strRef>
          </c:tx>
          <c:spPr>
            <a:ln w="381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1 block</c:v>
                </c:pt>
                <c:pt idx="1">
                  <c:v>2 blocks</c:v>
                </c:pt>
                <c:pt idx="2">
                  <c:v>3 blocks</c:v>
                </c:pt>
                <c:pt idx="3">
                  <c:v>5 blocks</c:v>
                </c:pt>
                <c:pt idx="4">
                  <c:v>6 blocks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92.1</c:v>
                </c:pt>
                <c:pt idx="1">
                  <c:v>92.33</c:v>
                </c:pt>
                <c:pt idx="2">
                  <c:v>92.53</c:v>
                </c:pt>
                <c:pt idx="3">
                  <c:v>92.26</c:v>
                </c:pt>
                <c:pt idx="4">
                  <c:v>92.25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0E9-41BD-9ECE-F56C01D01EC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.8"/>
          <c:min val="91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IN" sz="1000" b="0" i="0" u="none" strike="noStrike">
                <a:solidFill>
                  <a:srgbClr val="000000"/>
                </a:solidFill>
                <a:latin typeface="Arial"/>
              </a:rPr>
              <a:t>Best Accuracy per Experiment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Best Accuracy (%)</c:v>
                </c:pt>
              </c:strCache>
            </c:strRef>
          </c:tx>
          <c:spPr>
            <a:solidFill>
              <a:srgbClr val="6D28D9"/>
            </a:solidFill>
            <a:effectLst/>
          </c:spPr>
          <c:invertIfNegative val="0"/>
          <c:dPt>
            <c:idx val="0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1-5495-45B6-87F6-893166EACBD4}"/>
              </c:ext>
            </c:extLst>
          </c:dPt>
          <c:dPt>
            <c:idx val="1"/>
            <c:invertIfNegative val="0"/>
            <c:bubble3D val="0"/>
            <c:spPr>
              <a:solidFill>
                <a:srgbClr val="6D28D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5495-45B6-87F6-893166EACBD4}"/>
              </c:ext>
            </c:extLst>
          </c:dPt>
          <c:dPt>
            <c:idx val="2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5495-45B6-87F6-893166EACBD4}"/>
              </c:ext>
            </c:extLst>
          </c:dPt>
          <c:dPt>
            <c:idx val="3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5495-45B6-87F6-893166EACBD4}"/>
              </c:ext>
            </c:extLst>
          </c:dPt>
          <c:dPt>
            <c:idx val="4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9-5495-45B6-87F6-893166EACBD4}"/>
              </c:ext>
            </c:extLst>
          </c:dPt>
          <c:dPt>
            <c:idx val="5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5495-45B6-87F6-893166EACBD4}"/>
              </c:ext>
            </c:extLst>
          </c:dPt>
          <c:dPt>
            <c:idx val="6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D-5495-45B6-87F6-893166EACBD4}"/>
              </c:ext>
            </c:extLst>
          </c:dPt>
          <c:dPt>
            <c:idx val="7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F-5495-45B6-87F6-893166EACBD4}"/>
              </c:ext>
            </c:extLst>
          </c:dPt>
          <c:dPt>
            <c:idx val="8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1-5495-45B6-87F6-893166EACBD4}"/>
              </c:ext>
            </c:extLst>
          </c:dPt>
          <c:dPt>
            <c:idx val="9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3-5495-45B6-87F6-893166EACBD4}"/>
              </c:ext>
            </c:extLst>
          </c:dPt>
          <c:dPt>
            <c:idx val="10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5-5495-45B6-87F6-893166EACBD4}"/>
              </c:ext>
            </c:extLst>
          </c:dPt>
          <c:dPt>
            <c:idx val="11"/>
            <c:invertIfNegative val="0"/>
            <c:bubble3D val="0"/>
            <c:spPr>
              <a:solidFill>
                <a:srgbClr val="C4B5FD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17-5495-45B6-87F6-893166EACBD4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00" b="0" i="0" u="none" strike="noStrike">
                    <a:solidFill>
                      <a:srgbClr val="0F17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no_augs</c:v>
                </c:pt>
                <c:pt idx="1">
                  <c:v>erasing+jitter+low</c:v>
                </c:pt>
                <c:pt idx="2">
                  <c:v>mixup+cutmix</c:v>
                </c:pt>
                <c:pt idx="3">
                  <c:v>jitter_only</c:v>
                </c:pt>
                <c:pt idx="4">
                  <c:v>erasing+jitter+high</c:v>
                </c:pt>
                <c:pt idx="5">
                  <c:v>basic_augs</c:v>
                </c:pt>
                <c:pt idx="6">
                  <c:v>erasing_low_prob</c:v>
                </c:pt>
                <c:pt idx="7">
                  <c:v>cutmix_moderate</c:v>
                </c:pt>
                <c:pt idx="8">
                  <c:v>erasing_high_prob</c:v>
                </c:pt>
                <c:pt idx="9">
                  <c:v>mixup_moderate</c:v>
                </c:pt>
                <c:pt idx="10">
                  <c:v>cutmix_low</c:v>
                </c:pt>
                <c:pt idx="11">
                  <c:v>mixup_low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93.16</c:v>
                </c:pt>
                <c:pt idx="1">
                  <c:v>93</c:v>
                </c:pt>
                <c:pt idx="2">
                  <c:v>92.83</c:v>
                </c:pt>
                <c:pt idx="3">
                  <c:v>92.72</c:v>
                </c:pt>
                <c:pt idx="4">
                  <c:v>92.72</c:v>
                </c:pt>
                <c:pt idx="5">
                  <c:v>92.7</c:v>
                </c:pt>
                <c:pt idx="6">
                  <c:v>92.7</c:v>
                </c:pt>
                <c:pt idx="7">
                  <c:v>92.59</c:v>
                </c:pt>
                <c:pt idx="8">
                  <c:v>92.56</c:v>
                </c:pt>
                <c:pt idx="9">
                  <c:v>92.5</c:v>
                </c:pt>
                <c:pt idx="10">
                  <c:v>92.34</c:v>
                </c:pt>
                <c:pt idx="11">
                  <c:v>92.26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18-5495-45B6-87F6-893166EACBD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7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3.4"/>
          <c:min val="91.8"/>
        </c:scaling>
        <c:delete val="0"/>
        <c:axPos val="b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000" b="0" i="0" u="none" strike="noStrike">
                <a:solidFill>
                  <a:srgbClr val="000000"/>
                </a:solidFill>
                <a:latin typeface="Arial"/>
              </a:defRPr>
            </a:pPr>
            <a:r>
              <a:rPr lang="en-GB" sz="1000" b="0" i="0" u="none" strike="noStrike">
                <a:solidFill>
                  <a:srgbClr val="000000"/>
                </a:solidFill>
                <a:latin typeface="Arial"/>
              </a:rPr>
              <a:t>Accuracy per Augmentation Config across Training Methods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Probe</c:v>
                </c:pt>
              </c:strCache>
            </c:strRef>
          </c:tx>
          <c:spPr>
            <a:ln w="31750" cap="flat">
              <a:solidFill>
                <a:srgbClr val="2563E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2563EB"/>
              </a:solidFill>
              <a:ln w="9525" cap="flat">
                <a:solidFill>
                  <a:srgbClr val="2563EB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No Aug</c:v>
                </c:pt>
                <c:pt idx="1">
                  <c:v>Basic</c:v>
                </c:pt>
                <c:pt idx="2">
                  <c:v>Erasing Low</c:v>
                </c:pt>
                <c:pt idx="3">
                  <c:v>Erasing High</c:v>
                </c:pt>
                <c:pt idx="4">
                  <c:v>Jitter Only</c:v>
                </c:pt>
                <c:pt idx="5">
                  <c:v>MixUp Low</c:v>
                </c:pt>
                <c:pt idx="6">
                  <c:v>MixUp Mod</c:v>
                </c:pt>
                <c:pt idx="7">
                  <c:v>CutMix Low</c:v>
                </c:pt>
                <c:pt idx="8">
                  <c:v>CutMix Mod</c:v>
                </c:pt>
                <c:pt idx="9">
                  <c:v>Mix+Cut</c:v>
                </c:pt>
                <c:pt idx="10">
                  <c:v>Full (low)</c:v>
                </c:pt>
                <c:pt idx="11">
                  <c:v>Full (high)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91.2</c:v>
                </c:pt>
                <c:pt idx="1">
                  <c:v>91.61</c:v>
                </c:pt>
                <c:pt idx="2">
                  <c:v>91.63</c:v>
                </c:pt>
                <c:pt idx="3">
                  <c:v>91.71</c:v>
                </c:pt>
                <c:pt idx="4">
                  <c:v>91.69</c:v>
                </c:pt>
                <c:pt idx="5">
                  <c:v>91.31</c:v>
                </c:pt>
                <c:pt idx="6">
                  <c:v>91.66</c:v>
                </c:pt>
                <c:pt idx="7">
                  <c:v>91.82</c:v>
                </c:pt>
                <c:pt idx="8">
                  <c:v>91.71</c:v>
                </c:pt>
                <c:pt idx="9">
                  <c:v>91.44</c:v>
                </c:pt>
                <c:pt idx="10">
                  <c:v>91.5</c:v>
                </c:pt>
                <c:pt idx="11">
                  <c:v>92.04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D86B-4E45-A131-C3EAE2E2CC2D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 Unfreeze</c:v>
                </c:pt>
              </c:strCache>
            </c:strRef>
          </c:tx>
          <c:spPr>
            <a:ln w="31750" cap="flat">
              <a:solidFill>
                <a:srgbClr val="0D948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D9488"/>
              </a:solidFill>
              <a:ln w="9525" cap="flat">
                <a:solidFill>
                  <a:srgbClr val="0D9488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No Aug</c:v>
                </c:pt>
                <c:pt idx="1">
                  <c:v>Basic</c:v>
                </c:pt>
                <c:pt idx="2">
                  <c:v>Erasing Low</c:v>
                </c:pt>
                <c:pt idx="3">
                  <c:v>Erasing High</c:v>
                </c:pt>
                <c:pt idx="4">
                  <c:v>Jitter Only</c:v>
                </c:pt>
                <c:pt idx="5">
                  <c:v>MixUp Low</c:v>
                </c:pt>
                <c:pt idx="6">
                  <c:v>MixUp Mod</c:v>
                </c:pt>
                <c:pt idx="7">
                  <c:v>CutMix Low</c:v>
                </c:pt>
                <c:pt idx="8">
                  <c:v>CutMix Mod</c:v>
                </c:pt>
                <c:pt idx="9">
                  <c:v>Mix+Cut</c:v>
                </c:pt>
                <c:pt idx="10">
                  <c:v>Full (low)</c:v>
                </c:pt>
                <c:pt idx="11">
                  <c:v>Full (high)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92.07</c:v>
                </c:pt>
                <c:pt idx="1">
                  <c:v>92.86</c:v>
                </c:pt>
                <c:pt idx="2">
                  <c:v>92.97</c:v>
                </c:pt>
                <c:pt idx="3">
                  <c:v>92.86</c:v>
                </c:pt>
                <c:pt idx="4">
                  <c:v>92.75</c:v>
                </c:pt>
                <c:pt idx="5">
                  <c:v>92.89</c:v>
                </c:pt>
                <c:pt idx="6">
                  <c:v>92.86</c:v>
                </c:pt>
                <c:pt idx="7">
                  <c:v>92.59</c:v>
                </c:pt>
                <c:pt idx="8">
                  <c:v>92.7</c:v>
                </c:pt>
                <c:pt idx="9">
                  <c:v>92.67</c:v>
                </c:pt>
                <c:pt idx="10">
                  <c:v>92.8</c:v>
                </c:pt>
                <c:pt idx="11">
                  <c:v>92.78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1-D86B-4E45-A131-C3EAE2E2CC2D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Gradual Unfreeze</c:v>
                </c:pt>
              </c:strCache>
            </c:strRef>
          </c:tx>
          <c:spPr>
            <a:ln w="3175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Sheet1!$A$2:$A$13</c:f>
              <c:strCache>
                <c:ptCount val="12"/>
                <c:pt idx="0">
                  <c:v>No Aug</c:v>
                </c:pt>
                <c:pt idx="1">
                  <c:v>Basic</c:v>
                </c:pt>
                <c:pt idx="2">
                  <c:v>Erasing Low</c:v>
                </c:pt>
                <c:pt idx="3">
                  <c:v>Erasing High</c:v>
                </c:pt>
                <c:pt idx="4">
                  <c:v>Jitter Only</c:v>
                </c:pt>
                <c:pt idx="5">
                  <c:v>MixUp Low</c:v>
                </c:pt>
                <c:pt idx="6">
                  <c:v>MixUp Mod</c:v>
                </c:pt>
                <c:pt idx="7">
                  <c:v>CutMix Low</c:v>
                </c:pt>
                <c:pt idx="8">
                  <c:v>CutMix Mod</c:v>
                </c:pt>
                <c:pt idx="9">
                  <c:v>Mix+Cut</c:v>
                </c:pt>
                <c:pt idx="10">
                  <c:v>Full (low)</c:v>
                </c:pt>
                <c:pt idx="11">
                  <c:v>Full (high)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93.16</c:v>
                </c:pt>
                <c:pt idx="1">
                  <c:v>92.7</c:v>
                </c:pt>
                <c:pt idx="2">
                  <c:v>92.7</c:v>
                </c:pt>
                <c:pt idx="3">
                  <c:v>92.56</c:v>
                </c:pt>
                <c:pt idx="4">
                  <c:v>92.72</c:v>
                </c:pt>
                <c:pt idx="5">
                  <c:v>92.26</c:v>
                </c:pt>
                <c:pt idx="6">
                  <c:v>92.5</c:v>
                </c:pt>
                <c:pt idx="7">
                  <c:v>92.34</c:v>
                </c:pt>
                <c:pt idx="8">
                  <c:v>92.59</c:v>
                </c:pt>
                <c:pt idx="9">
                  <c:v>92.83</c:v>
                </c:pt>
                <c:pt idx="10">
                  <c:v>93</c:v>
                </c:pt>
                <c:pt idx="11">
                  <c:v>92.72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2-D86B-4E45-A131-C3EAE2E2CC2D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3.5"/>
          <c:min val="90.8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75569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wd_standard (1e-4)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 10%</c:v>
                </c:pt>
                <c:pt idx="1">
                  <c:v>Linear 25%</c:v>
                </c:pt>
                <c:pt idx="2">
                  <c:v>Linear 50%</c:v>
                </c:pt>
                <c:pt idx="3">
                  <c:v>Sim 10%</c:v>
                </c:pt>
                <c:pt idx="4">
                  <c:v>Sim 25%</c:v>
                </c:pt>
                <c:pt idx="5">
                  <c:v>Sim 50%</c:v>
                </c:pt>
                <c:pt idx="6">
                  <c:v>Gradual 10%</c:v>
                </c:pt>
                <c:pt idx="7">
                  <c:v>Gradual 25%</c:v>
                </c:pt>
                <c:pt idx="8">
                  <c:v>Gradual 50%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87.67</c:v>
                </c:pt>
                <c:pt idx="1">
                  <c:v>89.24</c:v>
                </c:pt>
                <c:pt idx="2">
                  <c:v>90.59</c:v>
                </c:pt>
                <c:pt idx="3">
                  <c:v>85.61</c:v>
                </c:pt>
                <c:pt idx="4">
                  <c:v>89.32</c:v>
                </c:pt>
                <c:pt idx="5">
                  <c:v>91.47</c:v>
                </c:pt>
                <c:pt idx="6">
                  <c:v>87.03</c:v>
                </c:pt>
                <c:pt idx="7">
                  <c:v>90.44</c:v>
                </c:pt>
                <c:pt idx="8">
                  <c:v>91.64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4C85-48D5-AF20-09CC9C89540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wd_strong (1e-2)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75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 10%</c:v>
                </c:pt>
                <c:pt idx="1">
                  <c:v>Linear 25%</c:v>
                </c:pt>
                <c:pt idx="2">
                  <c:v>Linear 50%</c:v>
                </c:pt>
                <c:pt idx="3">
                  <c:v>Sim 10%</c:v>
                </c:pt>
                <c:pt idx="4">
                  <c:v>Sim 25%</c:v>
                </c:pt>
                <c:pt idx="5">
                  <c:v>Sim 50%</c:v>
                </c:pt>
                <c:pt idx="6">
                  <c:v>Gradual 10%</c:v>
                </c:pt>
                <c:pt idx="7">
                  <c:v>Gradual 25%</c:v>
                </c:pt>
                <c:pt idx="8">
                  <c:v>Gradual 50%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87.34</c:v>
                </c:pt>
                <c:pt idx="1">
                  <c:v>89.7</c:v>
                </c:pt>
                <c:pt idx="2">
                  <c:v>91.03</c:v>
                </c:pt>
                <c:pt idx="3">
                  <c:v>85.67</c:v>
                </c:pt>
                <c:pt idx="4">
                  <c:v>89.5</c:v>
                </c:pt>
                <c:pt idx="5">
                  <c:v>91</c:v>
                </c:pt>
                <c:pt idx="6">
                  <c:v>87.27</c:v>
                </c:pt>
                <c:pt idx="7">
                  <c:v>89.67</c:v>
                </c:pt>
                <c:pt idx="8">
                  <c:v>91.22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4C85-48D5-AF20-09CC9C895409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3"/>
          <c:min val="83"/>
        </c:scaling>
        <c:delete val="0"/>
        <c:axPos val="b"/>
        <c:majorGridlines>
          <c:spPr>
            <a:ln w="6350" cap="flat">
              <a:solidFill>
                <a:srgbClr val="E8EEF4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4A5568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Linear Probe</c:v>
                </c:pt>
              </c:strCache>
            </c:strRef>
          </c:tx>
          <c:spPr>
            <a:ln w="31750" cap="flat">
              <a:solidFill>
                <a:srgbClr val="8EA3B4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8EA3B4"/>
              </a:solidFill>
              <a:ln w="9525" cap="flat">
                <a:solidFill>
                  <a:srgbClr val="8EA3B4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82.3</c:v>
                </c:pt>
                <c:pt idx="1">
                  <c:v>87.1</c:v>
                </c:pt>
                <c:pt idx="2">
                  <c:v>89.4</c:v>
                </c:pt>
                <c:pt idx="3">
                  <c:v>92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56DE-4648-A2F9-7ACEB7CA95D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Sim Unfreeze</c:v>
                </c:pt>
              </c:strCache>
            </c:strRef>
          </c:tx>
          <c:spPr>
            <a:ln w="31750" cap="flat">
              <a:solidFill>
                <a:srgbClr val="C77B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77B3A"/>
              </a:solidFill>
              <a:ln w="9525" cap="flat">
                <a:solidFill>
                  <a:srgbClr val="C77B3A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85.6</c:v>
                </c:pt>
                <c:pt idx="1">
                  <c:v>89.4</c:v>
                </c:pt>
                <c:pt idx="2">
                  <c:v>91.2</c:v>
                </c:pt>
                <c:pt idx="3">
                  <c:v>92.5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56DE-4648-A2F9-7ACEB7CA95DB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Gradual Unfreeze</c:v>
                </c:pt>
              </c:strCache>
            </c:strRef>
          </c:tx>
          <c:spPr>
            <a:ln w="31750" cap="flat">
              <a:solidFill>
                <a:srgbClr val="1785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8582"/>
              </a:solidFill>
              <a:ln w="9525" cap="flat">
                <a:solidFill>
                  <a:srgbClr val="178582"/>
                </a:solidFill>
                <a:prstDash val="solid"/>
                <a:round/>
              </a:ln>
              <a:effectLst/>
            </c:spPr>
          </c:marker>
          <c:cat>
            <c:strRef>
              <c:f>Sheet1!$A$2:$A$5</c:f>
              <c:strCache>
                <c:ptCount val="4"/>
                <c:pt idx="0">
                  <c:v>10%</c:v>
                </c:pt>
                <c:pt idx="1">
                  <c:v>25%</c:v>
                </c:pt>
                <c:pt idx="2">
                  <c:v>50%</c:v>
                </c:pt>
                <c:pt idx="3">
                  <c:v>100%</c:v>
                </c:pt>
              </c:strCache>
            </c:strRef>
          </c:cat>
          <c:val>
            <c:numRef>
              <c:f>Sheet1!$D$2:$D$5</c:f>
              <c:numCache>
                <c:formatCode>General</c:formatCode>
                <c:ptCount val="4"/>
                <c:pt idx="0">
                  <c:v>87.2</c:v>
                </c:pt>
                <c:pt idx="1">
                  <c:v>90.1</c:v>
                </c:pt>
                <c:pt idx="2">
                  <c:v>91.8</c:v>
                </c:pt>
                <c:pt idx="3">
                  <c:v>93.2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56DE-4648-A2F9-7ACEB7CA95D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78"/>
        </c:scaling>
        <c:delete val="0"/>
        <c:axPos val="l"/>
        <c:majorGridlines>
          <c:spPr>
            <a:ln w="6350" cap="flat">
              <a:solidFill>
                <a:srgbClr val="E0EA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3B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89.21</c:v>
                </c:pt>
                <c:pt idx="1">
                  <c:v>90.57</c:v>
                </c:pt>
                <c:pt idx="2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0D0-4306-8444-F9577FADD8B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CE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89.18</c:v>
                </c:pt>
                <c:pt idx="1">
                  <c:v>90.19</c:v>
                </c:pt>
                <c:pt idx="2">
                  <c:v>89.64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0D0-4306-8444-F9577FADD8B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Oversampling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Linear</c:v>
                </c:pt>
                <c:pt idx="1">
                  <c:v>Sim</c:v>
                </c:pt>
                <c:pt idx="2">
                  <c:v>Gradual</c:v>
                </c:pt>
              </c:strCache>
            </c:strRef>
          </c:cat>
          <c:val>
            <c:numRef>
              <c:f>Sheet1!$D$2:$D$4</c:f>
              <c:numCache>
                <c:formatCode>General</c:formatCode>
                <c:ptCount val="3"/>
                <c:pt idx="0">
                  <c:v>89.92</c:v>
                </c:pt>
                <c:pt idx="1">
                  <c:v>90.3</c:v>
                </c:pt>
                <c:pt idx="2">
                  <c:v>90.68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00D0-4306-8444-F9577FADD8B7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1.5"/>
          <c:min val="88.5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No Augmentation</c:v>
                </c:pt>
              </c:strCache>
            </c:strRef>
          </c:tx>
          <c:spPr>
            <a:solidFill>
              <a:srgbClr val="8FA3B1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
Baseline</c:v>
                </c:pt>
                <c:pt idx="1">
                  <c:v>Linear
Weighted CE</c:v>
                </c:pt>
                <c:pt idx="2">
                  <c:v>Linear
Oversampling</c:v>
                </c:pt>
                <c:pt idx="3">
                  <c:v>Sim
Baseline</c:v>
                </c:pt>
                <c:pt idx="4">
                  <c:v>Sim
Weighted CE</c:v>
                </c:pt>
                <c:pt idx="5">
                  <c:v>Sim
Oversampling</c:v>
                </c:pt>
                <c:pt idx="6">
                  <c:v>Gradual
Baseline</c:v>
                </c:pt>
                <c:pt idx="7">
                  <c:v>Gradual
Weighted CE</c:v>
                </c:pt>
                <c:pt idx="8">
                  <c:v>Gradual
Oversampling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88.93</c:v>
                </c:pt>
                <c:pt idx="1">
                  <c:v>88.44</c:v>
                </c:pt>
                <c:pt idx="2">
                  <c:v>90.24</c:v>
                </c:pt>
                <c:pt idx="3">
                  <c:v>88.63</c:v>
                </c:pt>
                <c:pt idx="4">
                  <c:v>89.64</c:v>
                </c:pt>
                <c:pt idx="5">
                  <c:v>89.26</c:v>
                </c:pt>
                <c:pt idx="6">
                  <c:v>91.09</c:v>
                </c:pt>
                <c:pt idx="7">
                  <c:v>89.51</c:v>
                </c:pt>
                <c:pt idx="8">
                  <c:v>90.3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070C-438D-926F-B4623EF1643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With Augmentation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Sheet1!$A$2:$A$10</c:f>
              <c:strCache>
                <c:ptCount val="9"/>
                <c:pt idx="0">
                  <c:v>Linear
Baseline</c:v>
                </c:pt>
                <c:pt idx="1">
                  <c:v>Linear
Weighted CE</c:v>
                </c:pt>
                <c:pt idx="2">
                  <c:v>Linear
Oversampling</c:v>
                </c:pt>
                <c:pt idx="3">
                  <c:v>Sim
Baseline</c:v>
                </c:pt>
                <c:pt idx="4">
                  <c:v>Sim
Weighted CE</c:v>
                </c:pt>
                <c:pt idx="5">
                  <c:v>Sim
Oversampling</c:v>
                </c:pt>
                <c:pt idx="6">
                  <c:v>Gradual
Baseline</c:v>
                </c:pt>
                <c:pt idx="7">
                  <c:v>Gradual
Weighted CE</c:v>
                </c:pt>
                <c:pt idx="8">
                  <c:v>Gradual
Oversampling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89.21</c:v>
                </c:pt>
                <c:pt idx="1">
                  <c:v>89.18</c:v>
                </c:pt>
                <c:pt idx="2">
                  <c:v>89.92</c:v>
                </c:pt>
                <c:pt idx="3">
                  <c:v>90.57</c:v>
                </c:pt>
                <c:pt idx="4">
                  <c:v>90.19</c:v>
                </c:pt>
                <c:pt idx="5">
                  <c:v>90.3</c:v>
                </c:pt>
                <c:pt idx="6">
                  <c:v>90.3</c:v>
                </c:pt>
                <c:pt idx="7">
                  <c:v>89.64</c:v>
                </c:pt>
                <c:pt idx="8">
                  <c:v>90.68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070C-438D-926F-B4623EF1643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6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2"/>
          <c:min val="87"/>
        </c:scaling>
        <c:delete val="0"/>
        <c:axPos val="l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0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Baseline</c:v>
                </c:pt>
              </c:strCache>
            </c:strRef>
          </c:tx>
          <c:spPr>
            <a:solidFill>
              <a:srgbClr val="1D6FA4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0.80900000000000005</c:v>
                </c:pt>
                <c:pt idx="1">
                  <c:v>0.79200000000000004</c:v>
                </c:pt>
                <c:pt idx="2">
                  <c:v>0.72199999999999998</c:v>
                </c:pt>
                <c:pt idx="3">
                  <c:v>0.876</c:v>
                </c:pt>
                <c:pt idx="4">
                  <c:v>0.81</c:v>
                </c:pt>
                <c:pt idx="5">
                  <c:v>0.83599999999999997</c:v>
                </c:pt>
                <c:pt idx="6">
                  <c:v>0.86499999999999999</c:v>
                </c:pt>
                <c:pt idx="7">
                  <c:v>0.93300000000000005</c:v>
                </c:pt>
                <c:pt idx="8">
                  <c:v>0.64500000000000002</c:v>
                </c:pt>
                <c:pt idx="9">
                  <c:v>0.79300000000000004</c:v>
                </c:pt>
                <c:pt idx="10">
                  <c:v>0.91200000000000003</c:v>
                </c:pt>
                <c:pt idx="11">
                  <c:v>0.995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09A-425F-8B25-B629693D95C3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Weighted CE</c:v>
                </c:pt>
              </c:strCache>
            </c:strRef>
          </c:tx>
          <c:spPr>
            <a:solidFill>
              <a:srgbClr val="0E8A7B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Sheet1!$C$2:$C$13</c:f>
              <c:numCache>
                <c:formatCode>General</c:formatCode>
                <c:ptCount val="12"/>
                <c:pt idx="0">
                  <c:v>0.81399999999999995</c:v>
                </c:pt>
                <c:pt idx="1">
                  <c:v>0.69099999999999995</c:v>
                </c:pt>
                <c:pt idx="2">
                  <c:v>0.76600000000000001</c:v>
                </c:pt>
                <c:pt idx="3">
                  <c:v>0.88</c:v>
                </c:pt>
                <c:pt idx="4">
                  <c:v>0.79</c:v>
                </c:pt>
                <c:pt idx="5">
                  <c:v>0.81</c:v>
                </c:pt>
                <c:pt idx="6">
                  <c:v>0.81200000000000006</c:v>
                </c:pt>
                <c:pt idx="7">
                  <c:v>0.91200000000000003</c:v>
                </c:pt>
                <c:pt idx="8">
                  <c:v>0.65900000000000003</c:v>
                </c:pt>
                <c:pt idx="9">
                  <c:v>0.754</c:v>
                </c:pt>
                <c:pt idx="10">
                  <c:v>0.95</c:v>
                </c:pt>
                <c:pt idx="11">
                  <c:v>0.98499999999999999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D09A-425F-8B25-B629693D95C3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Oversampling</c:v>
                </c:pt>
              </c:strCache>
            </c:strRef>
          </c:tx>
          <c:spPr>
            <a:solidFill>
              <a:srgbClr val="C47D0E"/>
            </a:solidFill>
            <a:effectLst/>
          </c:spPr>
          <c:invertIfNegative val="0"/>
          <c:dLbls>
            <c:numFmt formatCode="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5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</c:v>
                </c:pt>
                <c:pt idx="1">
                  <c:v>Bengal</c:v>
                </c:pt>
                <c:pt idx="2">
                  <c:v>Birman</c:v>
                </c:pt>
                <c:pt idx="3">
                  <c:v>Bombay</c:v>
                </c:pt>
                <c:pt idx="4">
                  <c:v>Brit.Shorthair</c:v>
                </c:pt>
                <c:pt idx="5">
                  <c:v>Egyptian_Mau</c:v>
                </c:pt>
                <c:pt idx="6">
                  <c:v>Maine_Coon</c:v>
                </c:pt>
                <c:pt idx="7">
                  <c:v>Persian</c:v>
                </c:pt>
                <c:pt idx="8">
                  <c:v>Ragdoll</c:v>
                </c:pt>
                <c:pt idx="9">
                  <c:v>Russian_Blue</c:v>
                </c:pt>
                <c:pt idx="10">
                  <c:v>Siamese</c:v>
                </c:pt>
                <c:pt idx="11">
                  <c:v>Sphynx</c:v>
                </c:pt>
              </c:strCache>
            </c:strRef>
          </c:cat>
          <c:val>
            <c:numRef>
              <c:f>Sheet1!$D$2:$D$13</c:f>
              <c:numCache>
                <c:formatCode>General</c:formatCode>
                <c:ptCount val="12"/>
                <c:pt idx="0">
                  <c:v>0.85899999999999999</c:v>
                </c:pt>
                <c:pt idx="1">
                  <c:v>0.81599999999999995</c:v>
                </c:pt>
                <c:pt idx="2">
                  <c:v>0.73399999999999999</c:v>
                </c:pt>
                <c:pt idx="3">
                  <c:v>0.89600000000000002</c:v>
                </c:pt>
                <c:pt idx="4">
                  <c:v>0.81</c:v>
                </c:pt>
                <c:pt idx="5">
                  <c:v>0.878</c:v>
                </c:pt>
                <c:pt idx="6">
                  <c:v>0.85399999999999998</c:v>
                </c:pt>
                <c:pt idx="7">
                  <c:v>0.93100000000000005</c:v>
                </c:pt>
                <c:pt idx="8">
                  <c:v>0.65</c:v>
                </c:pt>
                <c:pt idx="9">
                  <c:v>0.79100000000000004</c:v>
                </c:pt>
                <c:pt idx="10">
                  <c:v>0.91500000000000004</c:v>
                </c:pt>
                <c:pt idx="11">
                  <c:v>0.97099999999999997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2-D09A-425F-8B25-B629693D95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0F204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55000000000000004"/>
        </c:scaling>
        <c:delete val="0"/>
        <c:axPos val="b"/>
        <c:majorGridlines>
          <c:spPr>
            <a:ln w="12700" cap="flat">
              <a:solidFill>
                <a:srgbClr val="E0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solidFill>
          <a:srgbClr val="F8FBFF"/>
        </a:solidFill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charts/chart1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1785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ViT-B/16</c:v>
                </c:pt>
                <c:pt idx="1">
                  <c:v>ResNet-RS152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92.59</c:v>
                </c:pt>
                <c:pt idx="1">
                  <c:v>90.46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1EC-476B-A23F-87519EFDACAE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C77B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Sheet1!$A$2:$A$3</c:f>
              <c:strCache>
                <c:ptCount val="2"/>
                <c:pt idx="0">
                  <c:v>ViT-B/16</c:v>
                </c:pt>
                <c:pt idx="1">
                  <c:v>ResNet-RS152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92.35</c:v>
                </c:pt>
                <c:pt idx="1">
                  <c:v>90.12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81EC-476B-A23F-87519EFDACAE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4"/>
          <c:min val="88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pretrained+gradual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943-414D-9447-982DE1E6E9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pretrained+no_gradual</c:v>
                </c:pt>
              </c:strCache>
            </c:strRef>
          </c:tx>
          <c:spPr>
            <a:ln w="25400" cap="flat">
              <a:solidFill>
                <a:srgbClr val="1C7293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C7293"/>
              </a:solidFill>
              <a:ln w="9525" cap="flat">
                <a:solidFill>
                  <a:srgbClr val="1C7293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0.59</c:v>
                </c:pt>
                <c:pt idx="1">
                  <c:v>0.53939999999999999</c:v>
                </c:pt>
                <c:pt idx="2">
                  <c:v>0.1898</c:v>
                </c:pt>
                <c:pt idx="3">
                  <c:v>0.51529999999999998</c:v>
                </c:pt>
                <c:pt idx="4">
                  <c:v>0.49349999999999999</c:v>
                </c:pt>
                <c:pt idx="5">
                  <c:v>0.73729999999999996</c:v>
                </c:pt>
                <c:pt idx="6">
                  <c:v>0.67330000000000001</c:v>
                </c:pt>
                <c:pt idx="7">
                  <c:v>0.75739999999999996</c:v>
                </c:pt>
                <c:pt idx="8">
                  <c:v>0.53520000000000001</c:v>
                </c:pt>
                <c:pt idx="9">
                  <c:v>0.57520000000000004</c:v>
                </c:pt>
                <c:pt idx="10">
                  <c:v>0.2949</c:v>
                </c:pt>
                <c:pt idx="11">
                  <c:v>0.79330000000000001</c:v>
                </c:pt>
                <c:pt idx="12">
                  <c:v>0.38669999999999999</c:v>
                </c:pt>
                <c:pt idx="13">
                  <c:v>0.51060000000000005</c:v>
                </c:pt>
                <c:pt idx="14">
                  <c:v>0.62549999999999994</c:v>
                </c:pt>
                <c:pt idx="15">
                  <c:v>0.55030000000000001</c:v>
                </c:pt>
                <c:pt idx="16">
                  <c:v>0.46789999999999998</c:v>
                </c:pt>
                <c:pt idx="17">
                  <c:v>0.72199999999999998</c:v>
                </c:pt>
                <c:pt idx="18">
                  <c:v>0.82979999999999998</c:v>
                </c:pt>
                <c:pt idx="19">
                  <c:v>0.79369999999999996</c:v>
                </c:pt>
                <c:pt idx="20">
                  <c:v>0.55169999999999997</c:v>
                </c:pt>
                <c:pt idx="21">
                  <c:v>0.61450000000000005</c:v>
                </c:pt>
                <c:pt idx="22">
                  <c:v>0.5786</c:v>
                </c:pt>
                <c:pt idx="23">
                  <c:v>0.56599999999999995</c:v>
                </c:pt>
                <c:pt idx="24">
                  <c:v>0.70930000000000004</c:v>
                </c:pt>
                <c:pt idx="25">
                  <c:v>0.67710000000000004</c:v>
                </c:pt>
                <c:pt idx="26">
                  <c:v>0.60819999999999996</c:v>
                </c:pt>
                <c:pt idx="27">
                  <c:v>0.54139999999999999</c:v>
                </c:pt>
                <c:pt idx="28">
                  <c:v>0.58199999999999996</c:v>
                </c:pt>
                <c:pt idx="29">
                  <c:v>0.69769999999999999</c:v>
                </c:pt>
                <c:pt idx="30">
                  <c:v>0.53159999999999996</c:v>
                </c:pt>
                <c:pt idx="31">
                  <c:v>0.62260000000000004</c:v>
                </c:pt>
                <c:pt idx="32">
                  <c:v>0.6986</c:v>
                </c:pt>
                <c:pt idx="33">
                  <c:v>0.68720000000000003</c:v>
                </c:pt>
                <c:pt idx="34">
                  <c:v>0.35799999999999998</c:v>
                </c:pt>
                <c:pt idx="35">
                  <c:v>0.49349999999999999</c:v>
                </c:pt>
                <c:pt idx="36">
                  <c:v>0.69230000000000003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943-414D-9447-982DE1E6E9F1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scratch+gradual</c:v>
                </c:pt>
              </c:strCache>
            </c:strRef>
          </c:tx>
          <c:spPr>
            <a:ln w="25400" cap="flat">
              <a:solidFill>
                <a:srgbClr val="94A3B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4A3B8"/>
              </a:solidFill>
              <a:ln w="9525" cap="flat">
                <a:solidFill>
                  <a:srgbClr val="94A3B8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0.12089999999999999</c:v>
                </c:pt>
                <c:pt idx="1">
                  <c:v>5.9200000000000003E-2</c:v>
                </c:pt>
                <c:pt idx="2">
                  <c:v>3.2800000000000003E-2</c:v>
                </c:pt>
                <c:pt idx="3">
                  <c:v>0.16669999999999999</c:v>
                </c:pt>
                <c:pt idx="4">
                  <c:v>7.46E-2</c:v>
                </c:pt>
                <c:pt idx="5">
                  <c:v>0.25659999999999999</c:v>
                </c:pt>
                <c:pt idx="6">
                  <c:v>0.29559999999999997</c:v>
                </c:pt>
                <c:pt idx="7">
                  <c:v>0.3911</c:v>
                </c:pt>
                <c:pt idx="8">
                  <c:v>0.10059999999999999</c:v>
                </c:pt>
                <c:pt idx="9">
                  <c:v>0.15</c:v>
                </c:pt>
                <c:pt idx="11">
                  <c:v>0.31869999999999998</c:v>
                </c:pt>
                <c:pt idx="13">
                  <c:v>0.1326</c:v>
                </c:pt>
                <c:pt idx="14">
                  <c:v>0.17319999999999999</c:v>
                </c:pt>
                <c:pt idx="15">
                  <c:v>0.24410000000000001</c:v>
                </c:pt>
                <c:pt idx="16">
                  <c:v>0.1183</c:v>
                </c:pt>
                <c:pt idx="17">
                  <c:v>0.1472</c:v>
                </c:pt>
                <c:pt idx="18">
                  <c:v>0.29670000000000002</c:v>
                </c:pt>
                <c:pt idx="19">
                  <c:v>0.22220000000000001</c:v>
                </c:pt>
                <c:pt idx="20">
                  <c:v>0.1046</c:v>
                </c:pt>
                <c:pt idx="21">
                  <c:v>4.4200000000000003E-2</c:v>
                </c:pt>
                <c:pt idx="22">
                  <c:v>0.2079</c:v>
                </c:pt>
                <c:pt idx="23">
                  <c:v>0.16170000000000001</c:v>
                </c:pt>
                <c:pt idx="24">
                  <c:v>0.24729999999999999</c:v>
                </c:pt>
                <c:pt idx="25">
                  <c:v>9.4600000000000004E-2</c:v>
                </c:pt>
                <c:pt idx="26">
                  <c:v>0.2883</c:v>
                </c:pt>
                <c:pt idx="27">
                  <c:v>0.2424</c:v>
                </c:pt>
                <c:pt idx="28">
                  <c:v>0.17419999999999999</c:v>
                </c:pt>
                <c:pt idx="29">
                  <c:v>0.29060000000000002</c:v>
                </c:pt>
                <c:pt idx="30">
                  <c:v>0.1232</c:v>
                </c:pt>
                <c:pt idx="31">
                  <c:v>0.1</c:v>
                </c:pt>
                <c:pt idx="32">
                  <c:v>0.2165</c:v>
                </c:pt>
                <c:pt idx="33">
                  <c:v>0.16270000000000001</c:v>
                </c:pt>
                <c:pt idx="34">
                  <c:v>8.8700000000000001E-2</c:v>
                </c:pt>
                <c:pt idx="35">
                  <c:v>0.13980000000000001</c:v>
                </c:pt>
                <c:pt idx="36">
                  <c:v>0.1011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1943-414D-9447-982DE1E6E9F1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scratch+no_gradual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0.1429</c:v>
                </c:pt>
                <c:pt idx="1">
                  <c:v>9.9500000000000005E-2</c:v>
                </c:pt>
                <c:pt idx="2">
                  <c:v>1.61E-2</c:v>
                </c:pt>
                <c:pt idx="3">
                  <c:v>0.1787</c:v>
                </c:pt>
                <c:pt idx="4">
                  <c:v>0.1111</c:v>
                </c:pt>
                <c:pt idx="5">
                  <c:v>0.23400000000000001</c:v>
                </c:pt>
                <c:pt idx="6">
                  <c:v>0.21510000000000001</c:v>
                </c:pt>
                <c:pt idx="7">
                  <c:v>0.43680000000000002</c:v>
                </c:pt>
                <c:pt idx="8">
                  <c:v>4.7199999999999999E-2</c:v>
                </c:pt>
                <c:pt idx="9">
                  <c:v>0.1807</c:v>
                </c:pt>
                <c:pt idx="11">
                  <c:v>0.2447</c:v>
                </c:pt>
                <c:pt idx="13">
                  <c:v>0.1028</c:v>
                </c:pt>
                <c:pt idx="14">
                  <c:v>0.1673</c:v>
                </c:pt>
                <c:pt idx="15">
                  <c:v>0.1961</c:v>
                </c:pt>
                <c:pt idx="16">
                  <c:v>9.1600000000000001E-2</c:v>
                </c:pt>
                <c:pt idx="17">
                  <c:v>8.8099999999999998E-2</c:v>
                </c:pt>
                <c:pt idx="18">
                  <c:v>0.2802</c:v>
                </c:pt>
                <c:pt idx="19">
                  <c:v>0.2273</c:v>
                </c:pt>
                <c:pt idx="20">
                  <c:v>8.43E-2</c:v>
                </c:pt>
                <c:pt idx="21">
                  <c:v>8.9200000000000002E-2</c:v>
                </c:pt>
                <c:pt idx="22">
                  <c:v>0.191</c:v>
                </c:pt>
                <c:pt idx="23">
                  <c:v>0.18640000000000001</c:v>
                </c:pt>
                <c:pt idx="24">
                  <c:v>0.23910000000000001</c:v>
                </c:pt>
                <c:pt idx="25">
                  <c:v>0.16569999999999999</c:v>
                </c:pt>
                <c:pt idx="26">
                  <c:v>0.22409999999999999</c:v>
                </c:pt>
                <c:pt idx="27">
                  <c:v>0.2336</c:v>
                </c:pt>
                <c:pt idx="28">
                  <c:v>0.1285</c:v>
                </c:pt>
                <c:pt idx="29">
                  <c:v>0.29220000000000002</c:v>
                </c:pt>
                <c:pt idx="30">
                  <c:v>0.1154</c:v>
                </c:pt>
                <c:pt idx="31">
                  <c:v>0.1169</c:v>
                </c:pt>
                <c:pt idx="32">
                  <c:v>0.23580000000000001</c:v>
                </c:pt>
                <c:pt idx="33">
                  <c:v>0.191</c:v>
                </c:pt>
                <c:pt idx="34">
                  <c:v>0.1143</c:v>
                </c:pt>
                <c:pt idx="35">
                  <c:v>9.9000000000000005E-2</c:v>
                </c:pt>
                <c:pt idx="36">
                  <c:v>0.1067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1943-414D-9447-982DE1E6E9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Accuracy (%)</c:v>
                </c:pt>
              </c:strCache>
            </c:strRef>
          </c:tx>
          <c:spPr>
            <a:solidFill>
              <a:srgbClr val="065A82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ViT-Tiny
(gradual All L)</c:v>
                </c:pt>
                <c:pt idx="1">
                  <c:v>ResNet-10t
(gradual All L)</c:v>
                </c:pt>
                <c:pt idx="2">
                  <c:v>ResNet-10t
(gradual)</c:v>
                </c:pt>
                <c:pt idx="3">
                  <c:v>ViT-Tiny
(gradual 3L)</c:v>
                </c:pt>
                <c:pt idx="4">
                  <c:v>ViT-Tiny-Distilled
(Student)</c:v>
                </c:pt>
                <c:pt idx="5">
                  <c:v>ViT-Base (Teacher)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84.46</c:v>
                </c:pt>
                <c:pt idx="1">
                  <c:v>82.31</c:v>
                </c:pt>
                <c:pt idx="2">
                  <c:v>81.819999999999993</c:v>
                </c:pt>
                <c:pt idx="3">
                  <c:v>78.2</c:v>
                </c:pt>
                <c:pt idx="4">
                  <c:v>87.54</c:v>
                </c:pt>
                <c:pt idx="5">
                  <c:v>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AB-4E9F-8279-10C0C2E2D28B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Macro F1 (%)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9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ViT-Tiny
(gradual All L)</c:v>
                </c:pt>
                <c:pt idx="1">
                  <c:v>ResNet-10t
(gradual All L)</c:v>
                </c:pt>
                <c:pt idx="2">
                  <c:v>ResNet-10t
(gradual)</c:v>
                </c:pt>
                <c:pt idx="3">
                  <c:v>ViT-Tiny
(gradual 3L)</c:v>
                </c:pt>
                <c:pt idx="4">
                  <c:v>ViT-Tiny-Distilled
(Student)</c:v>
                </c:pt>
                <c:pt idx="5">
                  <c:v>ViT-Base (Teacher)</c:v>
                </c:pt>
              </c:strCache>
            </c:strRef>
          </c:cat>
          <c:val>
            <c:numRef>
              <c:f>Sheet1!$C$2:$C$7</c:f>
              <c:numCache>
                <c:formatCode>General</c:formatCode>
                <c:ptCount val="6"/>
                <c:pt idx="0">
                  <c:v>84.23</c:v>
                </c:pt>
                <c:pt idx="1">
                  <c:v>82.07</c:v>
                </c:pt>
                <c:pt idx="2">
                  <c:v>81.48</c:v>
                </c:pt>
                <c:pt idx="3">
                  <c:v>77.95</c:v>
                </c:pt>
                <c:pt idx="4">
                  <c:v>87.35</c:v>
                </c:pt>
                <c:pt idx="5">
                  <c:v>92.86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6AB-4E9F-8279-10C0C2E2D28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6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ViT-Tiny distilled</c:v>
                </c:pt>
              </c:strCache>
            </c:strRef>
          </c:tx>
          <c:spPr>
            <a:ln w="25400" cap="flat">
              <a:solidFill>
                <a:srgbClr val="065A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65A82"/>
              </a:solidFill>
              <a:ln w="9525" cap="flat">
                <a:solidFill>
                  <a:srgbClr val="065A82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CC9A-48B9-835E-8FD938C0E9C7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ViT-Tiny (full direct)</c:v>
                </c:pt>
              </c:strCache>
            </c:strRef>
          </c:tx>
          <c:spPr>
            <a:ln w="25400" cap="flat">
              <a:solidFill>
                <a:srgbClr val="0F346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0F3460"/>
              </a:solidFill>
              <a:ln w="9525" cap="flat">
                <a:solidFill>
                  <a:srgbClr val="0F346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0.88890000000000002</c:v>
                </c:pt>
                <c:pt idx="1">
                  <c:v>0.74550000000000005</c:v>
                </c:pt>
                <c:pt idx="2">
                  <c:v>0.56140000000000001</c:v>
                </c:pt>
                <c:pt idx="3">
                  <c:v>0.87619999999999998</c:v>
                </c:pt>
                <c:pt idx="4">
                  <c:v>0.76919999999999999</c:v>
                </c:pt>
                <c:pt idx="5">
                  <c:v>0.83540000000000003</c:v>
                </c:pt>
                <c:pt idx="6">
                  <c:v>0.75470000000000004</c:v>
                </c:pt>
                <c:pt idx="7">
                  <c:v>0.91749999999999998</c:v>
                </c:pt>
                <c:pt idx="8">
                  <c:v>0.78480000000000005</c:v>
                </c:pt>
                <c:pt idx="9">
                  <c:v>0.82979999999999998</c:v>
                </c:pt>
                <c:pt idx="10">
                  <c:v>0.74</c:v>
                </c:pt>
                <c:pt idx="11">
                  <c:v>0.88729999999999998</c:v>
                </c:pt>
                <c:pt idx="12">
                  <c:v>0.84209999999999996</c:v>
                </c:pt>
                <c:pt idx="13">
                  <c:v>0.83330000000000004</c:v>
                </c:pt>
                <c:pt idx="14">
                  <c:v>0.8649</c:v>
                </c:pt>
                <c:pt idx="15">
                  <c:v>0.93330000000000002</c:v>
                </c:pt>
                <c:pt idx="16">
                  <c:v>0.91180000000000005</c:v>
                </c:pt>
                <c:pt idx="17">
                  <c:v>0.89290000000000003</c:v>
                </c:pt>
                <c:pt idx="18">
                  <c:v>0.95740000000000003</c:v>
                </c:pt>
                <c:pt idx="19">
                  <c:v>0.94740000000000002</c:v>
                </c:pt>
                <c:pt idx="20">
                  <c:v>0.85709999999999997</c:v>
                </c:pt>
                <c:pt idx="21">
                  <c:v>0.86050000000000004</c:v>
                </c:pt>
                <c:pt idx="22">
                  <c:v>0.91839999999999999</c:v>
                </c:pt>
                <c:pt idx="23">
                  <c:v>0.8478</c:v>
                </c:pt>
                <c:pt idx="24">
                  <c:v>0.92679999999999996</c:v>
                </c:pt>
                <c:pt idx="25">
                  <c:v>0.95120000000000005</c:v>
                </c:pt>
                <c:pt idx="26">
                  <c:v>0.73799999999999999</c:v>
                </c:pt>
                <c:pt idx="27">
                  <c:v>0.89190000000000003</c:v>
                </c:pt>
                <c:pt idx="28">
                  <c:v>0.85709999999999997</c:v>
                </c:pt>
                <c:pt idx="29">
                  <c:v>0.90910000000000002</c:v>
                </c:pt>
                <c:pt idx="30">
                  <c:v>0.91569999999999996</c:v>
                </c:pt>
                <c:pt idx="31">
                  <c:v>0.91669999999999996</c:v>
                </c:pt>
                <c:pt idx="32">
                  <c:v>0.8276</c:v>
                </c:pt>
                <c:pt idx="33">
                  <c:v>0.90910000000000002</c:v>
                </c:pt>
                <c:pt idx="34">
                  <c:v>0.52380000000000004</c:v>
                </c:pt>
                <c:pt idx="35">
                  <c:v>0.83330000000000004</c:v>
                </c:pt>
                <c:pt idx="36">
                  <c:v>0.92859999999999998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CC9A-48B9-835E-8FD938C0E9C7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ResNet-10t (full direct)</c:v>
                </c:pt>
              </c:strCache>
            </c:strRef>
          </c:tx>
          <c:spPr>
            <a:ln w="25400" cap="flat">
              <a:solidFill>
                <a:srgbClr val="7B5198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B5198"/>
              </a:solidFill>
              <a:ln w="9525" cap="flat">
                <a:solidFill>
                  <a:srgbClr val="7B5198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0.8</c:v>
                </c:pt>
                <c:pt idx="1">
                  <c:v>0.73680000000000001</c:v>
                </c:pt>
                <c:pt idx="2">
                  <c:v>0.3836</c:v>
                </c:pt>
                <c:pt idx="3">
                  <c:v>0.81630000000000003</c:v>
                </c:pt>
                <c:pt idx="4">
                  <c:v>0.75470000000000004</c:v>
                </c:pt>
                <c:pt idx="5">
                  <c:v>0.81479999999999997</c:v>
                </c:pt>
                <c:pt idx="6">
                  <c:v>0.78049999999999997</c:v>
                </c:pt>
                <c:pt idx="7">
                  <c:v>0.88539999999999996</c:v>
                </c:pt>
                <c:pt idx="8">
                  <c:v>0.71550000000000002</c:v>
                </c:pt>
                <c:pt idx="9">
                  <c:v>0.82599999999999996</c:v>
                </c:pt>
                <c:pt idx="10">
                  <c:v>0.74</c:v>
                </c:pt>
                <c:pt idx="11">
                  <c:v>0.84930000000000005</c:v>
                </c:pt>
                <c:pt idx="12">
                  <c:v>0.79120000000000001</c:v>
                </c:pt>
                <c:pt idx="13">
                  <c:v>0.8125</c:v>
                </c:pt>
                <c:pt idx="14">
                  <c:v>0.83330000000000004</c:v>
                </c:pt>
                <c:pt idx="15">
                  <c:v>0.86019999999999996</c:v>
                </c:pt>
                <c:pt idx="16">
                  <c:v>0.82950000000000002</c:v>
                </c:pt>
                <c:pt idx="17">
                  <c:v>0.84619999999999995</c:v>
                </c:pt>
                <c:pt idx="18">
                  <c:v>0.90380000000000005</c:v>
                </c:pt>
                <c:pt idx="19">
                  <c:v>0.90910000000000002</c:v>
                </c:pt>
                <c:pt idx="20">
                  <c:v>0.81079999999999997</c:v>
                </c:pt>
                <c:pt idx="21">
                  <c:v>0.83330000000000004</c:v>
                </c:pt>
                <c:pt idx="22">
                  <c:v>0.89290000000000003</c:v>
                </c:pt>
                <c:pt idx="23">
                  <c:v>0.80649999999999999</c:v>
                </c:pt>
                <c:pt idx="24">
                  <c:v>0.91490000000000005</c:v>
                </c:pt>
                <c:pt idx="25">
                  <c:v>0.95240000000000002</c:v>
                </c:pt>
                <c:pt idx="26">
                  <c:v>0.64410000000000001</c:v>
                </c:pt>
                <c:pt idx="27">
                  <c:v>0.82189999999999996</c:v>
                </c:pt>
                <c:pt idx="28">
                  <c:v>0.8</c:v>
                </c:pt>
                <c:pt idx="29">
                  <c:v>0.85709999999999997</c:v>
                </c:pt>
                <c:pt idx="30">
                  <c:v>0.84850000000000003</c:v>
                </c:pt>
                <c:pt idx="31">
                  <c:v>0.90910000000000002</c:v>
                </c:pt>
                <c:pt idx="32">
                  <c:v>0.85709999999999997</c:v>
                </c:pt>
                <c:pt idx="33">
                  <c:v>0.8649</c:v>
                </c:pt>
                <c:pt idx="34">
                  <c:v>0.51849999999999996</c:v>
                </c:pt>
                <c:pt idx="35">
                  <c:v>0.7843</c:v>
                </c:pt>
                <c:pt idx="36">
                  <c:v>0.89290000000000003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CC9A-48B9-835E-8FD938C0E9C7}"/>
            </c:ext>
          </c:extLst>
        </c:ser>
        <c:ser>
          <c:idx val="3"/>
          <c:order val="3"/>
          <c:tx>
            <c:strRef>
              <c:f>Sheet1!$E$1</c:f>
              <c:strCache>
                <c:ptCount val="1"/>
                <c:pt idx="0">
                  <c:v>ResNet-10t (gradual direct)</c:v>
                </c:pt>
              </c:strCache>
            </c:strRef>
          </c:tx>
          <c:spPr>
            <a:ln w="25400" cap="flat">
              <a:solidFill>
                <a:srgbClr val="9D6FB5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9D6FB5"/>
              </a:solidFill>
              <a:ln w="9525" cap="flat">
                <a:solidFill>
                  <a:srgbClr val="9D6FB5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Sheet1!$E$2:$E$38</c:f>
              <c:numCache>
                <c:formatCode>General</c:formatCode>
                <c:ptCount val="37"/>
                <c:pt idx="0">
                  <c:v>0.76919999999999999</c:v>
                </c:pt>
                <c:pt idx="1">
                  <c:v>0.72729999999999995</c:v>
                </c:pt>
                <c:pt idx="2">
                  <c:v>0.3478</c:v>
                </c:pt>
                <c:pt idx="3">
                  <c:v>0.81630000000000003</c:v>
                </c:pt>
                <c:pt idx="4">
                  <c:v>0.75470000000000004</c:v>
                </c:pt>
                <c:pt idx="5">
                  <c:v>0.79590000000000005</c:v>
                </c:pt>
                <c:pt idx="6">
                  <c:v>0.8</c:v>
                </c:pt>
                <c:pt idx="7">
                  <c:v>0.873</c:v>
                </c:pt>
                <c:pt idx="8">
                  <c:v>0.70209999999999995</c:v>
                </c:pt>
                <c:pt idx="9">
                  <c:v>0.8</c:v>
                </c:pt>
                <c:pt idx="10">
                  <c:v>0.72219999999999995</c:v>
                </c:pt>
                <c:pt idx="11">
                  <c:v>0.8367</c:v>
                </c:pt>
                <c:pt idx="12">
                  <c:v>0.74509999999999998</c:v>
                </c:pt>
                <c:pt idx="13">
                  <c:v>0.81079999999999997</c:v>
                </c:pt>
                <c:pt idx="14">
                  <c:v>0.81479999999999997</c:v>
                </c:pt>
                <c:pt idx="15">
                  <c:v>0.86670000000000003</c:v>
                </c:pt>
                <c:pt idx="16">
                  <c:v>0.8</c:v>
                </c:pt>
                <c:pt idx="17">
                  <c:v>0.84209999999999996</c:v>
                </c:pt>
                <c:pt idx="18">
                  <c:v>0.90380000000000005</c:v>
                </c:pt>
                <c:pt idx="19">
                  <c:v>0.90480000000000005</c:v>
                </c:pt>
                <c:pt idx="20">
                  <c:v>0.81079999999999997</c:v>
                </c:pt>
                <c:pt idx="21">
                  <c:v>0.85709999999999997</c:v>
                </c:pt>
                <c:pt idx="22">
                  <c:v>0.85709999999999997</c:v>
                </c:pt>
                <c:pt idx="23">
                  <c:v>0.71430000000000005</c:v>
                </c:pt>
                <c:pt idx="24">
                  <c:v>0.94120000000000004</c:v>
                </c:pt>
                <c:pt idx="25">
                  <c:v>0.9677</c:v>
                </c:pt>
                <c:pt idx="26">
                  <c:v>0.65659999999999996</c:v>
                </c:pt>
                <c:pt idx="27">
                  <c:v>0.78380000000000005</c:v>
                </c:pt>
                <c:pt idx="28">
                  <c:v>0.77780000000000005</c:v>
                </c:pt>
                <c:pt idx="29">
                  <c:v>0.83020000000000005</c:v>
                </c:pt>
                <c:pt idx="30">
                  <c:v>0.8649</c:v>
                </c:pt>
                <c:pt idx="31">
                  <c:v>0.88890000000000002</c:v>
                </c:pt>
                <c:pt idx="32">
                  <c:v>0.83330000000000004</c:v>
                </c:pt>
                <c:pt idx="33">
                  <c:v>0.8649</c:v>
                </c:pt>
                <c:pt idx="34">
                  <c:v>0.5161</c:v>
                </c:pt>
                <c:pt idx="35">
                  <c:v>0.77780000000000005</c:v>
                </c:pt>
                <c:pt idx="36">
                  <c:v>0.86419999999999997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3-CC9A-48B9-835E-8FD938C0E9C7}"/>
            </c:ext>
          </c:extLst>
        </c:ser>
        <c:ser>
          <c:idx val="4"/>
          <c:order val="4"/>
          <c:tx>
            <c:strRef>
              <c:f>Sheet1!$F$1</c:f>
              <c:strCache>
                <c:ptCount val="1"/>
                <c:pt idx="0">
                  <c:v>ViT-Tiny (gradual 3L)</c:v>
                </c:pt>
              </c:strCache>
            </c:strRef>
          </c:tx>
          <c:spPr>
            <a:ln w="25400" cap="flat">
              <a:solidFill>
                <a:srgbClr val="CBD5E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BD5E1"/>
              </a:solidFill>
              <a:ln w="9525" cap="flat">
                <a:solidFill>
                  <a:srgbClr val="CBD5E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Sheet1!$F$2:$F$38</c:f>
              <c:numCache>
                <c:formatCode>General</c:formatCode>
                <c:ptCount val="37"/>
                <c:pt idx="0">
                  <c:v>0.8</c:v>
                </c:pt>
                <c:pt idx="1">
                  <c:v>0.6552</c:v>
                </c:pt>
                <c:pt idx="2">
                  <c:v>0.37619999999999998</c:v>
                </c:pt>
                <c:pt idx="3">
                  <c:v>0.80510000000000004</c:v>
                </c:pt>
                <c:pt idx="4">
                  <c:v>0.72729999999999995</c:v>
                </c:pt>
                <c:pt idx="5">
                  <c:v>0.78849999999999998</c:v>
                </c:pt>
                <c:pt idx="6">
                  <c:v>0.72729999999999995</c:v>
                </c:pt>
                <c:pt idx="7">
                  <c:v>0.85370000000000001</c:v>
                </c:pt>
                <c:pt idx="8">
                  <c:v>0.63160000000000005</c:v>
                </c:pt>
                <c:pt idx="9">
                  <c:v>0.78259999999999996</c:v>
                </c:pt>
                <c:pt idx="10">
                  <c:v>0.6512</c:v>
                </c:pt>
                <c:pt idx="11">
                  <c:v>0.84209999999999996</c:v>
                </c:pt>
                <c:pt idx="12">
                  <c:v>0.78259999999999996</c:v>
                </c:pt>
                <c:pt idx="13">
                  <c:v>0.76190000000000002</c:v>
                </c:pt>
                <c:pt idx="14">
                  <c:v>0.7742</c:v>
                </c:pt>
                <c:pt idx="15">
                  <c:v>0.89359999999999995</c:v>
                </c:pt>
                <c:pt idx="16">
                  <c:v>0.83020000000000005</c:v>
                </c:pt>
                <c:pt idx="17">
                  <c:v>0.86209999999999998</c:v>
                </c:pt>
                <c:pt idx="18">
                  <c:v>0.90910000000000002</c:v>
                </c:pt>
                <c:pt idx="19">
                  <c:v>0.92300000000000004</c:v>
                </c:pt>
                <c:pt idx="20">
                  <c:v>0.7742</c:v>
                </c:pt>
                <c:pt idx="21">
                  <c:v>0.81820000000000004</c:v>
                </c:pt>
                <c:pt idx="22">
                  <c:v>0.88890000000000002</c:v>
                </c:pt>
                <c:pt idx="23">
                  <c:v>0.79369999999999996</c:v>
                </c:pt>
                <c:pt idx="24">
                  <c:v>0.85370000000000001</c:v>
                </c:pt>
                <c:pt idx="25">
                  <c:v>0.94120000000000004</c:v>
                </c:pt>
                <c:pt idx="26">
                  <c:v>0.65569999999999995</c:v>
                </c:pt>
                <c:pt idx="27">
                  <c:v>0.81079999999999997</c:v>
                </c:pt>
                <c:pt idx="28">
                  <c:v>0.78259999999999996</c:v>
                </c:pt>
                <c:pt idx="29">
                  <c:v>0.84850000000000003</c:v>
                </c:pt>
                <c:pt idx="30">
                  <c:v>0.8</c:v>
                </c:pt>
                <c:pt idx="31">
                  <c:v>0.90910000000000002</c:v>
                </c:pt>
                <c:pt idx="32">
                  <c:v>0.83020000000000005</c:v>
                </c:pt>
                <c:pt idx="33">
                  <c:v>0.84</c:v>
                </c:pt>
                <c:pt idx="34">
                  <c:v>0.46589999999999998</c:v>
                </c:pt>
                <c:pt idx="35">
                  <c:v>0.78049999999999997</c:v>
                </c:pt>
                <c:pt idx="36">
                  <c:v>0.92310000000000003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4-CC9A-48B9-835E-8FD938C0E9C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Finetune</c:v>
                </c:pt>
              </c:strCache>
            </c:strRef>
          </c:tx>
          <c:spPr>
            <a:ln w="31750" cap="flat">
              <a:solidFill>
                <a:srgbClr val="C77B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C77B3A"/>
              </a:solidFill>
              <a:ln w="9525" cap="flat">
                <a:solidFill>
                  <a:srgbClr val="C77B3A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65.63</c:v>
                </c:pt>
                <c:pt idx="1">
                  <c:v>74.27</c:v>
                </c:pt>
                <c:pt idx="2">
                  <c:v>84.46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FB4-4C2F-827E-92CD8A2F97F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Distillation</c:v>
                </c:pt>
              </c:strCache>
            </c:strRef>
          </c:tx>
          <c:spPr>
            <a:ln w="31750" cap="flat">
              <a:solidFill>
                <a:srgbClr val="178582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78582"/>
              </a:solidFill>
              <a:ln w="9525" cap="flat">
                <a:solidFill>
                  <a:srgbClr val="178582"/>
                </a:solidFill>
                <a:prstDash val="solid"/>
                <a:round/>
              </a:ln>
              <a:effectLst/>
            </c:spPr>
          </c:marker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000" b="0" i="0" u="none" strike="noStrike">
                    <a:solidFill>
                      <a:srgbClr val="00000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Sheet1!$A$2:$A$4</c:f>
              <c:strCache>
                <c:ptCount val="3"/>
                <c:pt idx="0">
                  <c:v>10%</c:v>
                </c:pt>
                <c:pt idx="1">
                  <c:v>25%</c:v>
                </c:pt>
                <c:pt idx="2">
                  <c:v>100%</c:v>
                </c:pt>
              </c:strCache>
            </c: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75.010000000000005</c:v>
                </c:pt>
                <c:pt idx="1">
                  <c:v>83.07</c:v>
                </c:pt>
                <c:pt idx="2">
                  <c:v>87.54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FB4-4C2F-827E-92CD8A2F97F1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95"/>
          <c:min val="55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6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Distilled 100%</c:v>
                </c:pt>
              </c:strCache>
            </c:strRef>
          </c:tx>
          <c:spPr>
            <a:ln w="22860" cap="flat">
              <a:solidFill>
                <a:srgbClr val="1E2761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E2761"/>
              </a:solidFill>
              <a:ln w="9525" cap="flat">
                <a:solidFill>
                  <a:srgbClr val="1E2761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0.87760000000000005</c:v>
                </c:pt>
                <c:pt idx="1">
                  <c:v>0.74039999999999995</c:v>
                </c:pt>
                <c:pt idx="2">
                  <c:v>0.58750000000000002</c:v>
                </c:pt>
                <c:pt idx="3">
                  <c:v>0.87439999999999996</c:v>
                </c:pt>
                <c:pt idx="4">
                  <c:v>0.84789999999999999</c:v>
                </c:pt>
                <c:pt idx="5">
                  <c:v>0.83330000000000004</c:v>
                </c:pt>
                <c:pt idx="6">
                  <c:v>0.79049999999999998</c:v>
                </c:pt>
                <c:pt idx="7">
                  <c:v>0.94510000000000005</c:v>
                </c:pt>
                <c:pt idx="8">
                  <c:v>0.86539999999999995</c:v>
                </c:pt>
                <c:pt idx="9">
                  <c:v>0.87760000000000005</c:v>
                </c:pt>
                <c:pt idx="10">
                  <c:v>0.82679999999999998</c:v>
                </c:pt>
                <c:pt idx="11">
                  <c:v>0.88770000000000004</c:v>
                </c:pt>
                <c:pt idx="12">
                  <c:v>0.8821</c:v>
                </c:pt>
                <c:pt idx="13">
                  <c:v>0.89690000000000003</c:v>
                </c:pt>
                <c:pt idx="14">
                  <c:v>0.89910000000000001</c:v>
                </c:pt>
                <c:pt idx="15">
                  <c:v>0.91790000000000005</c:v>
                </c:pt>
                <c:pt idx="16">
                  <c:v>0.91</c:v>
                </c:pt>
                <c:pt idx="17">
                  <c:v>0.90100000000000002</c:v>
                </c:pt>
                <c:pt idx="18">
                  <c:v>0.96909999999999996</c:v>
                </c:pt>
                <c:pt idx="19">
                  <c:v>0.94059999999999999</c:v>
                </c:pt>
                <c:pt idx="20">
                  <c:v>0.86699999999999999</c:v>
                </c:pt>
                <c:pt idx="21">
                  <c:v>0.90159999999999996</c:v>
                </c:pt>
                <c:pt idx="22">
                  <c:v>0.93069999999999997</c:v>
                </c:pt>
                <c:pt idx="23">
                  <c:v>0.86339999999999995</c:v>
                </c:pt>
                <c:pt idx="24">
                  <c:v>0.92779999999999996</c:v>
                </c:pt>
                <c:pt idx="25">
                  <c:v>0.96909999999999996</c:v>
                </c:pt>
                <c:pt idx="26">
                  <c:v>0.80210000000000004</c:v>
                </c:pt>
                <c:pt idx="27">
                  <c:v>0.8901</c:v>
                </c:pt>
                <c:pt idx="28">
                  <c:v>0.88349999999999995</c:v>
                </c:pt>
                <c:pt idx="29">
                  <c:v>0.91259999999999997</c:v>
                </c:pt>
                <c:pt idx="30">
                  <c:v>0.95</c:v>
                </c:pt>
                <c:pt idx="31">
                  <c:v>0.91349999999999998</c:v>
                </c:pt>
                <c:pt idx="32">
                  <c:v>0.89659999999999995</c:v>
                </c:pt>
                <c:pt idx="33">
                  <c:v>0.91869999999999996</c:v>
                </c:pt>
                <c:pt idx="34">
                  <c:v>0.58330000000000004</c:v>
                </c:pt>
                <c:pt idx="35">
                  <c:v>0.89</c:v>
                </c:pt>
                <c:pt idx="36">
                  <c:v>0.94850000000000001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43AD-4BF7-9D7D-E5A53159AD29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Distilled 25%</c:v>
                </c:pt>
              </c:strCache>
            </c:strRef>
          </c:tx>
          <c:spPr>
            <a:ln w="22860" cap="flat">
              <a:solidFill>
                <a:srgbClr val="3A5FA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3A5FA0"/>
              </a:solidFill>
              <a:ln w="9525" cap="flat">
                <a:solidFill>
                  <a:srgbClr val="3A5FA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0.84970000000000001</c:v>
                </c:pt>
                <c:pt idx="1">
                  <c:v>0.69169999999999998</c:v>
                </c:pt>
                <c:pt idx="2">
                  <c:v>0.42470000000000002</c:v>
                </c:pt>
                <c:pt idx="3">
                  <c:v>0.81740000000000002</c:v>
                </c:pt>
                <c:pt idx="4">
                  <c:v>0.71199999999999997</c:v>
                </c:pt>
                <c:pt idx="5">
                  <c:v>0.82</c:v>
                </c:pt>
                <c:pt idx="6">
                  <c:v>0.7087</c:v>
                </c:pt>
                <c:pt idx="7">
                  <c:v>0.92310000000000003</c:v>
                </c:pt>
                <c:pt idx="8">
                  <c:v>0.78820000000000001</c:v>
                </c:pt>
                <c:pt idx="9">
                  <c:v>0.80810000000000004</c:v>
                </c:pt>
                <c:pt idx="10">
                  <c:v>0.75280000000000002</c:v>
                </c:pt>
                <c:pt idx="11">
                  <c:v>0.86870000000000003</c:v>
                </c:pt>
                <c:pt idx="12">
                  <c:v>0.78069999999999995</c:v>
                </c:pt>
                <c:pt idx="13">
                  <c:v>0.76439999999999997</c:v>
                </c:pt>
                <c:pt idx="14">
                  <c:v>0.88680000000000003</c:v>
                </c:pt>
                <c:pt idx="15">
                  <c:v>0.88890000000000002</c:v>
                </c:pt>
                <c:pt idx="16">
                  <c:v>0.85309999999999997</c:v>
                </c:pt>
                <c:pt idx="17">
                  <c:v>0.85289999999999999</c:v>
                </c:pt>
                <c:pt idx="18">
                  <c:v>0.9798</c:v>
                </c:pt>
                <c:pt idx="19">
                  <c:v>0.93069999999999997</c:v>
                </c:pt>
                <c:pt idx="20">
                  <c:v>0.81410000000000005</c:v>
                </c:pt>
                <c:pt idx="21">
                  <c:v>0.84419999999999995</c:v>
                </c:pt>
                <c:pt idx="22">
                  <c:v>0.90820000000000001</c:v>
                </c:pt>
                <c:pt idx="23">
                  <c:v>0.84150000000000003</c:v>
                </c:pt>
                <c:pt idx="24">
                  <c:v>0.94469999999999998</c:v>
                </c:pt>
                <c:pt idx="25">
                  <c:v>0.92230000000000001</c:v>
                </c:pt>
                <c:pt idx="26">
                  <c:v>0.74629999999999996</c:v>
                </c:pt>
                <c:pt idx="27">
                  <c:v>0.81679999999999997</c:v>
                </c:pt>
                <c:pt idx="28">
                  <c:v>0.8629</c:v>
                </c:pt>
                <c:pt idx="29">
                  <c:v>0.91710000000000003</c:v>
                </c:pt>
                <c:pt idx="30">
                  <c:v>0.92390000000000005</c:v>
                </c:pt>
                <c:pt idx="31">
                  <c:v>0.88780000000000003</c:v>
                </c:pt>
                <c:pt idx="32">
                  <c:v>0.83250000000000002</c:v>
                </c:pt>
                <c:pt idx="33">
                  <c:v>0.90380000000000005</c:v>
                </c:pt>
                <c:pt idx="34">
                  <c:v>0.55169999999999997</c:v>
                </c:pt>
                <c:pt idx="35">
                  <c:v>0.90620000000000001</c:v>
                </c:pt>
                <c:pt idx="36">
                  <c:v>0.92779999999999996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43AD-4BF7-9D7D-E5A53159AD29}"/>
            </c:ext>
          </c:extLst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Distilled 10%</c:v>
                </c:pt>
              </c:strCache>
            </c:strRef>
          </c:tx>
          <c:spPr>
            <a:ln w="22860" cap="flat">
              <a:solidFill>
                <a:srgbClr val="4FC3F7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4FC3F7"/>
              </a:solidFill>
              <a:ln w="9525" cap="flat">
                <a:solidFill>
                  <a:srgbClr val="4FC3F7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c0</c:v>
                </c:pt>
                <c:pt idx="1">
                  <c:v>c1</c:v>
                </c:pt>
                <c:pt idx="2">
                  <c:v>c2</c:v>
                </c:pt>
                <c:pt idx="3">
                  <c:v>c3</c:v>
                </c:pt>
                <c:pt idx="4">
                  <c:v>c4</c:v>
                </c:pt>
                <c:pt idx="5">
                  <c:v>c5</c:v>
                </c:pt>
                <c:pt idx="6">
                  <c:v>c6</c:v>
                </c:pt>
                <c:pt idx="7">
                  <c:v>c7</c:v>
                </c:pt>
                <c:pt idx="8">
                  <c:v>c8</c:v>
                </c:pt>
                <c:pt idx="9">
                  <c:v>c9</c:v>
                </c:pt>
                <c:pt idx="10">
                  <c:v>c10</c:v>
                </c:pt>
                <c:pt idx="11">
                  <c:v>c11</c:v>
                </c:pt>
                <c:pt idx="12">
                  <c:v>c12</c:v>
                </c:pt>
                <c:pt idx="13">
                  <c:v>c13</c:v>
                </c:pt>
                <c:pt idx="14">
                  <c:v>c14</c:v>
                </c:pt>
                <c:pt idx="15">
                  <c:v>c15</c:v>
                </c:pt>
                <c:pt idx="16">
                  <c:v>c16</c:v>
                </c:pt>
                <c:pt idx="17">
                  <c:v>c17</c:v>
                </c:pt>
                <c:pt idx="18">
                  <c:v>c18</c:v>
                </c:pt>
                <c:pt idx="19">
                  <c:v>c19</c:v>
                </c:pt>
                <c:pt idx="20">
                  <c:v>c20</c:v>
                </c:pt>
                <c:pt idx="21">
                  <c:v>c21</c:v>
                </c:pt>
                <c:pt idx="22">
                  <c:v>c22</c:v>
                </c:pt>
                <c:pt idx="23">
                  <c:v>c23</c:v>
                </c:pt>
                <c:pt idx="24">
                  <c:v>c24</c:v>
                </c:pt>
                <c:pt idx="25">
                  <c:v>c25</c:v>
                </c:pt>
                <c:pt idx="26">
                  <c:v>c26</c:v>
                </c:pt>
                <c:pt idx="27">
                  <c:v>c27</c:v>
                </c:pt>
                <c:pt idx="28">
                  <c:v>c28</c:v>
                </c:pt>
                <c:pt idx="29">
                  <c:v>c29</c:v>
                </c:pt>
                <c:pt idx="30">
                  <c:v>c30</c:v>
                </c:pt>
                <c:pt idx="31">
                  <c:v>c31</c:v>
                </c:pt>
                <c:pt idx="32">
                  <c:v>c32</c:v>
                </c:pt>
                <c:pt idx="33">
                  <c:v>c33</c:v>
                </c:pt>
                <c:pt idx="34">
                  <c:v>c34</c:v>
                </c:pt>
                <c:pt idx="35">
                  <c:v>c35</c:v>
                </c:pt>
                <c:pt idx="36">
                  <c:v>c36</c:v>
                </c:pt>
              </c:strCache>
            </c:strRef>
          </c:cat>
          <c:val>
            <c:numRef>
              <c:f>Sheet1!$D$2:$D$38</c:f>
              <c:numCache>
                <c:formatCode>General</c:formatCode>
                <c:ptCount val="37"/>
                <c:pt idx="0">
                  <c:v>0.75</c:v>
                </c:pt>
                <c:pt idx="1">
                  <c:v>0.65129999999999999</c:v>
                </c:pt>
                <c:pt idx="2">
                  <c:v>0.38219999999999998</c:v>
                </c:pt>
                <c:pt idx="3">
                  <c:v>0.70399999999999996</c:v>
                </c:pt>
                <c:pt idx="4">
                  <c:v>0.48</c:v>
                </c:pt>
                <c:pt idx="5">
                  <c:v>0.79479999999999995</c:v>
                </c:pt>
                <c:pt idx="6">
                  <c:v>0.57140000000000002</c:v>
                </c:pt>
                <c:pt idx="7">
                  <c:v>0.88139999999999996</c:v>
                </c:pt>
                <c:pt idx="8">
                  <c:v>0.77549999999999997</c:v>
                </c:pt>
                <c:pt idx="9">
                  <c:v>0.71189999999999998</c:v>
                </c:pt>
                <c:pt idx="10">
                  <c:v>0.58679999999999999</c:v>
                </c:pt>
                <c:pt idx="11">
                  <c:v>0.80469999999999997</c:v>
                </c:pt>
                <c:pt idx="12">
                  <c:v>0.77159999999999995</c:v>
                </c:pt>
                <c:pt idx="13">
                  <c:v>0.7016</c:v>
                </c:pt>
                <c:pt idx="14">
                  <c:v>0.83330000000000004</c:v>
                </c:pt>
                <c:pt idx="15">
                  <c:v>0.8</c:v>
                </c:pt>
                <c:pt idx="16">
                  <c:v>0.70530000000000004</c:v>
                </c:pt>
                <c:pt idx="17">
                  <c:v>0.75270000000000004</c:v>
                </c:pt>
                <c:pt idx="18">
                  <c:v>0.93269999999999997</c:v>
                </c:pt>
                <c:pt idx="19">
                  <c:v>0.87250000000000005</c:v>
                </c:pt>
                <c:pt idx="20">
                  <c:v>0.75949999999999995</c:v>
                </c:pt>
                <c:pt idx="21">
                  <c:v>0.80210000000000004</c:v>
                </c:pt>
                <c:pt idx="22">
                  <c:v>0.81030000000000002</c:v>
                </c:pt>
                <c:pt idx="23">
                  <c:v>0.82869999999999999</c:v>
                </c:pt>
                <c:pt idx="24">
                  <c:v>0.86029999999999995</c:v>
                </c:pt>
                <c:pt idx="25">
                  <c:v>0.88080000000000003</c:v>
                </c:pt>
                <c:pt idx="26">
                  <c:v>0.58620000000000005</c:v>
                </c:pt>
                <c:pt idx="27">
                  <c:v>0.74629999999999996</c:v>
                </c:pt>
                <c:pt idx="28">
                  <c:v>0.78720000000000001</c:v>
                </c:pt>
                <c:pt idx="29">
                  <c:v>0.84509999999999996</c:v>
                </c:pt>
                <c:pt idx="30">
                  <c:v>0.79139999999999999</c:v>
                </c:pt>
                <c:pt idx="31">
                  <c:v>0.82830000000000004</c:v>
                </c:pt>
                <c:pt idx="32">
                  <c:v>0.75449999999999995</c:v>
                </c:pt>
                <c:pt idx="33">
                  <c:v>0.83040000000000003</c:v>
                </c:pt>
                <c:pt idx="34">
                  <c:v>0.48620000000000002</c:v>
                </c:pt>
                <c:pt idx="35">
                  <c:v>0.73370000000000002</c:v>
                </c:pt>
                <c:pt idx="36">
                  <c:v>0.87560000000000004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2-43AD-4BF7-9D7D-E5A53159AD29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7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Direct (oversampling)</c:v>
                </c:pt>
              </c:strCache>
            </c:strRef>
          </c:tx>
          <c:spPr>
            <a:ln w="25400" cap="flat">
              <a:solidFill>
                <a:srgbClr val="E65100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E65100"/>
              </a:solidFill>
              <a:ln w="9525" cap="flat">
                <a:solidFill>
                  <a:srgbClr val="E65100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Abyssinian_cat</c:v>
                </c:pt>
                <c:pt idx="1">
                  <c:v>american_bulldog_dog</c:v>
                </c:pt>
                <c:pt idx="2">
                  <c:v>american_pit_bull_terrier_dog</c:v>
                </c:pt>
                <c:pt idx="3">
                  <c:v>basset_hound_dog</c:v>
                </c:pt>
                <c:pt idx="4">
                  <c:v>beagle_dog</c:v>
                </c:pt>
                <c:pt idx="5">
                  <c:v>Bengal_cat</c:v>
                </c:pt>
                <c:pt idx="6">
                  <c:v>Birman_cat</c:v>
                </c:pt>
                <c:pt idx="7">
                  <c:v>Bombay_cat</c:v>
                </c:pt>
                <c:pt idx="8">
                  <c:v>boxer_dog</c:v>
                </c:pt>
                <c:pt idx="9">
                  <c:v>British_Shorthair_cat</c:v>
                </c:pt>
                <c:pt idx="10">
                  <c:v>chihuahua_dog</c:v>
                </c:pt>
                <c:pt idx="11">
                  <c:v>Egyptian_Mau_cat</c:v>
                </c:pt>
                <c:pt idx="12">
                  <c:v>english_cocker_spaniel_dog</c:v>
                </c:pt>
                <c:pt idx="13">
                  <c:v>english_setter_dog</c:v>
                </c:pt>
                <c:pt idx="14">
                  <c:v>german_shorthaired_dog</c:v>
                </c:pt>
                <c:pt idx="15">
                  <c:v>great_pyrenees_dog</c:v>
                </c:pt>
                <c:pt idx="16">
                  <c:v>havanese_dog</c:v>
                </c:pt>
                <c:pt idx="17">
                  <c:v>japanese_chin_dog</c:v>
                </c:pt>
                <c:pt idx="18">
                  <c:v>keeshond_dog</c:v>
                </c:pt>
                <c:pt idx="19">
                  <c:v>leonberger_dog</c:v>
                </c:pt>
                <c:pt idx="20">
                  <c:v>Maine_Coon_cat</c:v>
                </c:pt>
                <c:pt idx="21">
                  <c:v>miniature_pinscher_dog</c:v>
                </c:pt>
                <c:pt idx="22">
                  <c:v>newfoundland_dog</c:v>
                </c:pt>
                <c:pt idx="23">
                  <c:v>Persian_cat</c:v>
                </c:pt>
                <c:pt idx="24">
                  <c:v>pomeranian_dog</c:v>
                </c:pt>
                <c:pt idx="25">
                  <c:v>pug_dog</c:v>
                </c:pt>
                <c:pt idx="26">
                  <c:v>Ragdoll_cat</c:v>
                </c:pt>
                <c:pt idx="27">
                  <c:v>Russian_Blue_cat</c:v>
                </c:pt>
                <c:pt idx="28">
                  <c:v>saint_bernard_dog</c:v>
                </c:pt>
                <c:pt idx="29">
                  <c:v>samoyed_dog</c:v>
                </c:pt>
                <c:pt idx="30">
                  <c:v>scottish_terrier_dog</c:v>
                </c:pt>
                <c:pt idx="31">
                  <c:v>shiba_inu_dog</c:v>
                </c:pt>
                <c:pt idx="32">
                  <c:v>Siamese_cat</c:v>
                </c:pt>
                <c:pt idx="33">
                  <c:v>Sphynx_cat</c:v>
                </c:pt>
                <c:pt idx="34">
                  <c:v>staffordshire_bull_terrier_dog</c:v>
                </c:pt>
                <c:pt idx="35">
                  <c:v>wheaten_terrier_dog</c:v>
                </c:pt>
                <c:pt idx="36">
                  <c:v>yorkshire_terrier_dog</c:v>
                </c:pt>
              </c:strCache>
            </c:strRef>
          </c:cat>
          <c:val>
            <c:numRef>
              <c:f>Sheet1!$B$2:$B$38</c:f>
              <c:numCache>
                <c:formatCode>General</c:formatCode>
                <c:ptCount val="37"/>
                <c:pt idx="0">
                  <c:v>0.68500000000000005</c:v>
                </c:pt>
                <c:pt idx="1">
                  <c:v>0.746</c:v>
                </c:pt>
                <c:pt idx="2">
                  <c:v>0.50600000000000001</c:v>
                </c:pt>
                <c:pt idx="3">
                  <c:v>0.84099999999999997</c:v>
                </c:pt>
                <c:pt idx="4">
                  <c:v>0.77400000000000002</c:v>
                </c:pt>
                <c:pt idx="5">
                  <c:v>0.69399999999999995</c:v>
                </c:pt>
                <c:pt idx="6">
                  <c:v>0.63400000000000001</c:v>
                </c:pt>
                <c:pt idx="7">
                  <c:v>0.80900000000000005</c:v>
                </c:pt>
                <c:pt idx="8">
                  <c:v>0.752</c:v>
                </c:pt>
                <c:pt idx="9">
                  <c:v>0.70399999999999996</c:v>
                </c:pt>
                <c:pt idx="10">
                  <c:v>0.76800000000000002</c:v>
                </c:pt>
                <c:pt idx="11">
                  <c:v>0.74399999999999999</c:v>
                </c:pt>
                <c:pt idx="12">
                  <c:v>0.81399999999999995</c:v>
                </c:pt>
                <c:pt idx="13">
                  <c:v>0.79300000000000004</c:v>
                </c:pt>
                <c:pt idx="14">
                  <c:v>0.88500000000000001</c:v>
                </c:pt>
                <c:pt idx="15">
                  <c:v>0.89700000000000002</c:v>
                </c:pt>
                <c:pt idx="16">
                  <c:v>0.83699999999999997</c:v>
                </c:pt>
                <c:pt idx="17">
                  <c:v>0.84399999999999997</c:v>
                </c:pt>
                <c:pt idx="18">
                  <c:v>0.93700000000000006</c:v>
                </c:pt>
                <c:pt idx="19">
                  <c:v>0.92800000000000005</c:v>
                </c:pt>
                <c:pt idx="20">
                  <c:v>0.73</c:v>
                </c:pt>
                <c:pt idx="21">
                  <c:v>0.83699999999999997</c:v>
                </c:pt>
                <c:pt idx="22">
                  <c:v>0.88800000000000001</c:v>
                </c:pt>
                <c:pt idx="23">
                  <c:v>0.753</c:v>
                </c:pt>
                <c:pt idx="24">
                  <c:v>0.91100000000000003</c:v>
                </c:pt>
                <c:pt idx="25">
                  <c:v>0.95</c:v>
                </c:pt>
                <c:pt idx="26">
                  <c:v>0.503</c:v>
                </c:pt>
                <c:pt idx="27">
                  <c:v>0.61199999999999999</c:v>
                </c:pt>
                <c:pt idx="28">
                  <c:v>0.83899999999999997</c:v>
                </c:pt>
                <c:pt idx="29">
                  <c:v>0.89900000000000002</c:v>
                </c:pt>
                <c:pt idx="30">
                  <c:v>0.88500000000000001</c:v>
                </c:pt>
                <c:pt idx="31">
                  <c:v>0.877</c:v>
                </c:pt>
                <c:pt idx="32">
                  <c:v>0.82099999999999995</c:v>
                </c:pt>
                <c:pt idx="33">
                  <c:v>0.84599999999999997</c:v>
                </c:pt>
                <c:pt idx="34">
                  <c:v>0.52600000000000002</c:v>
                </c:pt>
                <c:pt idx="35">
                  <c:v>0.86299999999999999</c:v>
                </c:pt>
                <c:pt idx="36">
                  <c:v>0.89900000000000002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8D9A-495F-958A-36B2774289BA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Distillation</c:v>
                </c:pt>
              </c:strCache>
            </c:strRef>
          </c:tx>
          <c:spPr>
            <a:ln w="25400" cap="flat">
              <a:solidFill>
                <a:srgbClr val="7C3AED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7C3AED"/>
              </a:solidFill>
              <a:ln w="9525" cap="flat">
                <a:solidFill>
                  <a:srgbClr val="7C3AED"/>
                </a:solidFill>
                <a:prstDash val="solid"/>
                <a:round/>
              </a:ln>
              <a:effectLst/>
            </c:spPr>
          </c:marker>
          <c:cat>
            <c:strRef>
              <c:f>Sheet1!$A$2:$A$38</c:f>
              <c:strCache>
                <c:ptCount val="37"/>
                <c:pt idx="0">
                  <c:v>Abyssinian_cat</c:v>
                </c:pt>
                <c:pt idx="1">
                  <c:v>american_bulldog_dog</c:v>
                </c:pt>
                <c:pt idx="2">
                  <c:v>american_pit_bull_terrier_dog</c:v>
                </c:pt>
                <c:pt idx="3">
                  <c:v>basset_hound_dog</c:v>
                </c:pt>
                <c:pt idx="4">
                  <c:v>beagle_dog</c:v>
                </c:pt>
                <c:pt idx="5">
                  <c:v>Bengal_cat</c:v>
                </c:pt>
                <c:pt idx="6">
                  <c:v>Birman_cat</c:v>
                </c:pt>
                <c:pt idx="7">
                  <c:v>Bombay_cat</c:v>
                </c:pt>
                <c:pt idx="8">
                  <c:v>boxer_dog</c:v>
                </c:pt>
                <c:pt idx="9">
                  <c:v>British_Shorthair_cat</c:v>
                </c:pt>
                <c:pt idx="10">
                  <c:v>chihuahua_dog</c:v>
                </c:pt>
                <c:pt idx="11">
                  <c:v>Egyptian_Mau_cat</c:v>
                </c:pt>
                <c:pt idx="12">
                  <c:v>english_cocker_spaniel_dog</c:v>
                </c:pt>
                <c:pt idx="13">
                  <c:v>english_setter_dog</c:v>
                </c:pt>
                <c:pt idx="14">
                  <c:v>german_shorthaired_dog</c:v>
                </c:pt>
                <c:pt idx="15">
                  <c:v>great_pyrenees_dog</c:v>
                </c:pt>
                <c:pt idx="16">
                  <c:v>havanese_dog</c:v>
                </c:pt>
                <c:pt idx="17">
                  <c:v>japanese_chin_dog</c:v>
                </c:pt>
                <c:pt idx="18">
                  <c:v>keeshond_dog</c:v>
                </c:pt>
                <c:pt idx="19">
                  <c:v>leonberger_dog</c:v>
                </c:pt>
                <c:pt idx="20">
                  <c:v>Maine_Coon_cat</c:v>
                </c:pt>
                <c:pt idx="21">
                  <c:v>miniature_pinscher_dog</c:v>
                </c:pt>
                <c:pt idx="22">
                  <c:v>newfoundland_dog</c:v>
                </c:pt>
                <c:pt idx="23">
                  <c:v>Persian_cat</c:v>
                </c:pt>
                <c:pt idx="24">
                  <c:v>pomeranian_dog</c:v>
                </c:pt>
                <c:pt idx="25">
                  <c:v>pug_dog</c:v>
                </c:pt>
                <c:pt idx="26">
                  <c:v>Ragdoll_cat</c:v>
                </c:pt>
                <c:pt idx="27">
                  <c:v>Russian_Blue_cat</c:v>
                </c:pt>
                <c:pt idx="28">
                  <c:v>saint_bernard_dog</c:v>
                </c:pt>
                <c:pt idx="29">
                  <c:v>samoyed_dog</c:v>
                </c:pt>
                <c:pt idx="30">
                  <c:v>scottish_terrier_dog</c:v>
                </c:pt>
                <c:pt idx="31">
                  <c:v>shiba_inu_dog</c:v>
                </c:pt>
                <c:pt idx="32">
                  <c:v>Siamese_cat</c:v>
                </c:pt>
                <c:pt idx="33">
                  <c:v>Sphynx_cat</c:v>
                </c:pt>
                <c:pt idx="34">
                  <c:v>staffordshire_bull_terrier_dog</c:v>
                </c:pt>
                <c:pt idx="35">
                  <c:v>wheaten_terrier_dog</c:v>
                </c:pt>
                <c:pt idx="36">
                  <c:v>yorkshire_terrier_dog</c:v>
                </c:pt>
              </c:strCache>
            </c:strRef>
          </c:cat>
          <c:val>
            <c:numRef>
              <c:f>Sheet1!$C$2:$C$38</c:f>
              <c:numCache>
                <c:formatCode>General</c:formatCode>
                <c:ptCount val="37"/>
                <c:pt idx="0">
                  <c:v>0.84299999999999997</c:v>
                </c:pt>
                <c:pt idx="1">
                  <c:v>0.76200000000000001</c:v>
                </c:pt>
                <c:pt idx="2">
                  <c:v>0.622</c:v>
                </c:pt>
                <c:pt idx="3">
                  <c:v>0.89700000000000002</c:v>
                </c:pt>
                <c:pt idx="4">
                  <c:v>0.83199999999999996</c:v>
                </c:pt>
                <c:pt idx="5">
                  <c:v>0.78500000000000003</c:v>
                </c:pt>
                <c:pt idx="6">
                  <c:v>0.73799999999999999</c:v>
                </c:pt>
                <c:pt idx="7">
                  <c:v>0.85299999999999998</c:v>
                </c:pt>
                <c:pt idx="8">
                  <c:v>0.85599999999999998</c:v>
                </c:pt>
                <c:pt idx="9">
                  <c:v>0.81699999999999995</c:v>
                </c:pt>
                <c:pt idx="10">
                  <c:v>0.81499999999999995</c:v>
                </c:pt>
                <c:pt idx="11">
                  <c:v>0.84199999999999997</c:v>
                </c:pt>
                <c:pt idx="12">
                  <c:v>0.88400000000000001</c:v>
                </c:pt>
                <c:pt idx="13">
                  <c:v>0.876</c:v>
                </c:pt>
                <c:pt idx="14">
                  <c:v>0.89</c:v>
                </c:pt>
                <c:pt idx="15">
                  <c:v>0.91600000000000004</c:v>
                </c:pt>
                <c:pt idx="16">
                  <c:v>0.89900000000000002</c:v>
                </c:pt>
                <c:pt idx="17">
                  <c:v>0.89800000000000002</c:v>
                </c:pt>
                <c:pt idx="18">
                  <c:v>0.97499999999999998</c:v>
                </c:pt>
                <c:pt idx="19">
                  <c:v>0.96</c:v>
                </c:pt>
                <c:pt idx="20">
                  <c:v>0.78600000000000003</c:v>
                </c:pt>
                <c:pt idx="21">
                  <c:v>0.86899999999999999</c:v>
                </c:pt>
                <c:pt idx="22">
                  <c:v>0.90800000000000003</c:v>
                </c:pt>
                <c:pt idx="23">
                  <c:v>0.79</c:v>
                </c:pt>
                <c:pt idx="24">
                  <c:v>0.92700000000000005</c:v>
                </c:pt>
                <c:pt idx="25">
                  <c:v>0.96899999999999997</c:v>
                </c:pt>
                <c:pt idx="26">
                  <c:v>0.68100000000000005</c:v>
                </c:pt>
                <c:pt idx="27">
                  <c:v>0.74099999999999999</c:v>
                </c:pt>
                <c:pt idx="28">
                  <c:v>0.90300000000000002</c:v>
                </c:pt>
                <c:pt idx="29">
                  <c:v>0.90300000000000002</c:v>
                </c:pt>
                <c:pt idx="30">
                  <c:v>0.93100000000000005</c:v>
                </c:pt>
                <c:pt idx="31">
                  <c:v>0.91500000000000004</c:v>
                </c:pt>
                <c:pt idx="32">
                  <c:v>0.83299999999999996</c:v>
                </c:pt>
                <c:pt idx="33">
                  <c:v>0.95099999999999996</c:v>
                </c:pt>
                <c:pt idx="34">
                  <c:v>0.57799999999999996</c:v>
                </c:pt>
                <c:pt idx="35">
                  <c:v>0.89800000000000002</c:v>
                </c:pt>
                <c:pt idx="36">
                  <c:v>0.95399999999999996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8D9A-495F-958A-36B2774289B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1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"/>
          <c:min val="0.4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8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Cat classes (minority)</c:v>
                </c:pt>
              </c:strCache>
            </c:strRef>
          </c:tx>
          <c:spPr>
            <a:solidFill>
              <a:srgbClr val="7C3AED"/>
            </a:solidFill>
            <a:effectLst/>
          </c:spPr>
          <c:invertIfNegative val="0"/>
          <c:dLbls>
            <c:numFmt formatCode="#,##0.0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Abyssinian_cat</c:v>
                </c:pt>
                <c:pt idx="1">
                  <c:v>Bengal_cat</c:v>
                </c:pt>
                <c:pt idx="2">
                  <c:v>Birman_cat</c:v>
                </c:pt>
                <c:pt idx="3">
                  <c:v>Bombay_cat</c:v>
                </c:pt>
                <c:pt idx="4">
                  <c:v>British_Shorthair_cat</c:v>
                </c:pt>
                <c:pt idx="5">
                  <c:v>Egyptian_Mau_cat</c:v>
                </c:pt>
                <c:pt idx="6">
                  <c:v>Maine_Coon_cat</c:v>
                </c:pt>
                <c:pt idx="7">
                  <c:v>Persian_cat</c:v>
                </c:pt>
                <c:pt idx="8">
                  <c:v>Ragdoll_cat</c:v>
                </c:pt>
                <c:pt idx="9">
                  <c:v>Russian_Blue_cat</c:v>
                </c:pt>
                <c:pt idx="10">
                  <c:v>Siamese_cat</c:v>
                </c:pt>
                <c:pt idx="11">
                  <c:v>Sphynx_cat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0.157999999999999</c:v>
                </c:pt>
                <c:pt idx="1">
                  <c:v>9.0999999999999998E-2</c:v>
                </c:pt>
                <c:pt idx="2">
                  <c:v>0.103999999999999</c:v>
                </c:pt>
                <c:pt idx="3">
                  <c:v>4.39999999999999E-2</c:v>
                </c:pt>
                <c:pt idx="4">
                  <c:v>0.112999999999999</c:v>
                </c:pt>
                <c:pt idx="5">
                  <c:v>9.7999999999999907E-2</c:v>
                </c:pt>
                <c:pt idx="6">
                  <c:v>5.6000000000000001E-2</c:v>
                </c:pt>
                <c:pt idx="7">
                  <c:v>3.6999999999999998E-2</c:v>
                </c:pt>
                <c:pt idx="8">
                  <c:v>0.17799999999999999</c:v>
                </c:pt>
                <c:pt idx="9">
                  <c:v>0.129</c:v>
                </c:pt>
                <c:pt idx="10">
                  <c:v>1.2E-2</c:v>
                </c:pt>
                <c:pt idx="11">
                  <c:v>0.104999999999999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8B83-454D-A233-A50101BD240B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19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Dog classes (majority)</c:v>
                </c:pt>
              </c:strCache>
            </c:strRef>
          </c:tx>
          <c:spPr>
            <a:solidFill>
              <a:srgbClr val="0369A1"/>
            </a:solidFill>
            <a:effectLst/>
          </c:spPr>
          <c:invertIfNegative val="0"/>
          <c:dLbls>
            <c:numFmt formatCode="#,##0.0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800" b="0" i="0" u="none" strike="noStrike">
                    <a:solidFill>
                      <a:srgbClr val="1E2B38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Sheet1!$A$2:$A$26</c:f>
              <c:strCache>
                <c:ptCount val="25"/>
                <c:pt idx="0">
                  <c:v>american_bulldog_dog</c:v>
                </c:pt>
                <c:pt idx="1">
                  <c:v>american_pit_bull_terrier_dog</c:v>
                </c:pt>
                <c:pt idx="2">
                  <c:v>basset_hound_dog</c:v>
                </c:pt>
                <c:pt idx="3">
                  <c:v>beagle_dog</c:v>
                </c:pt>
                <c:pt idx="4">
                  <c:v>boxer_dog</c:v>
                </c:pt>
                <c:pt idx="5">
                  <c:v>chihuahua_dog</c:v>
                </c:pt>
                <c:pt idx="6">
                  <c:v>english_cocker_spaniel_dog</c:v>
                </c:pt>
                <c:pt idx="7">
                  <c:v>english_setter_dog</c:v>
                </c:pt>
                <c:pt idx="8">
                  <c:v>german_shorthaired_dog</c:v>
                </c:pt>
                <c:pt idx="9">
                  <c:v>great_pyrenees_dog</c:v>
                </c:pt>
                <c:pt idx="10">
                  <c:v>havanese_dog</c:v>
                </c:pt>
                <c:pt idx="11">
                  <c:v>japanese_chin_dog</c:v>
                </c:pt>
                <c:pt idx="12">
                  <c:v>keeshond_dog</c:v>
                </c:pt>
                <c:pt idx="13">
                  <c:v>leonberger_dog</c:v>
                </c:pt>
                <c:pt idx="14">
                  <c:v>miniature_pinscher_dog</c:v>
                </c:pt>
                <c:pt idx="15">
                  <c:v>newfoundland_dog</c:v>
                </c:pt>
                <c:pt idx="16">
                  <c:v>pomeranian_dog</c:v>
                </c:pt>
                <c:pt idx="17">
                  <c:v>pug_dog</c:v>
                </c:pt>
                <c:pt idx="18">
                  <c:v>saint_bernard_dog</c:v>
                </c:pt>
                <c:pt idx="19">
                  <c:v>samoyed_dog</c:v>
                </c:pt>
                <c:pt idx="20">
                  <c:v>scottish_terrier_dog</c:v>
                </c:pt>
                <c:pt idx="21">
                  <c:v>shiba_inu_dog</c:v>
                </c:pt>
                <c:pt idx="22">
                  <c:v>staffordshire_bull_terrier_dog</c:v>
                </c:pt>
                <c:pt idx="23">
                  <c:v>wheaten_terrier_dog</c:v>
                </c:pt>
                <c:pt idx="24">
                  <c:v>yorkshire_terrier_dog</c:v>
                </c:pt>
              </c:strCache>
            </c:strRef>
          </c:cat>
          <c:val>
            <c:numRef>
              <c:f>Sheet1!$B$2:$B$26</c:f>
              <c:numCache>
                <c:formatCode>General</c:formatCode>
                <c:ptCount val="25"/>
                <c:pt idx="0">
                  <c:v>1.6E-2</c:v>
                </c:pt>
                <c:pt idx="1">
                  <c:v>0.11599999999999901</c:v>
                </c:pt>
                <c:pt idx="2">
                  <c:v>5.6000000000000001E-2</c:v>
                </c:pt>
                <c:pt idx="3">
                  <c:v>5.7999999999999899E-2</c:v>
                </c:pt>
                <c:pt idx="4">
                  <c:v>0.103999999999999</c:v>
                </c:pt>
                <c:pt idx="5">
                  <c:v>4.6999999999999903E-2</c:v>
                </c:pt>
                <c:pt idx="6">
                  <c:v>7.0000000000000007E-2</c:v>
                </c:pt>
                <c:pt idx="7">
                  <c:v>8.2999999999999893E-2</c:v>
                </c:pt>
                <c:pt idx="8">
                  <c:v>5.0000000000000001E-3</c:v>
                </c:pt>
                <c:pt idx="9">
                  <c:v>1.9E-2</c:v>
                </c:pt>
                <c:pt idx="10">
                  <c:v>6.2E-2</c:v>
                </c:pt>
                <c:pt idx="11">
                  <c:v>5.3999999999999999E-2</c:v>
                </c:pt>
                <c:pt idx="12">
                  <c:v>3.7999999999999902E-2</c:v>
                </c:pt>
                <c:pt idx="13">
                  <c:v>3.1999999999999897E-2</c:v>
                </c:pt>
                <c:pt idx="14">
                  <c:v>3.2000000000000001E-2</c:v>
                </c:pt>
                <c:pt idx="15">
                  <c:v>0.02</c:v>
                </c:pt>
                <c:pt idx="16">
                  <c:v>1.6E-2</c:v>
                </c:pt>
                <c:pt idx="17">
                  <c:v>1.9E-2</c:v>
                </c:pt>
                <c:pt idx="18">
                  <c:v>6.4000000000000001E-2</c:v>
                </c:pt>
                <c:pt idx="19">
                  <c:v>4.0000000000000001E-3</c:v>
                </c:pt>
                <c:pt idx="20">
                  <c:v>4.5999999999999999E-2</c:v>
                </c:pt>
                <c:pt idx="21">
                  <c:v>3.7999999999999999E-2</c:v>
                </c:pt>
                <c:pt idx="22">
                  <c:v>5.19999999999999E-2</c:v>
                </c:pt>
                <c:pt idx="23">
                  <c:v>3.5000000000000003E-2</c:v>
                </c:pt>
                <c:pt idx="24">
                  <c:v>5.4999999999999903E-2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DF9-4E78-BA28-F1AE8FE06EC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8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0.2"/>
          <c:min val="0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432012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5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6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7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8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9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0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1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3.xml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4.xml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5.xml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6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7.xml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8.xml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19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1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914400"/>
            <a:ext cx="786384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Fine-tuning Vision Transformers</a:t>
            </a:r>
            <a:endParaRPr lang="en-US" sz="3800" dirty="0"/>
          </a:p>
          <a:p>
            <a:pPr marL="0" indent="0" algn="ctr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Knowledge Distillation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640080" y="2743200"/>
            <a:ext cx="78638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6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DD2424 · Deep Learning in Data Science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7863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Oxford-IIIT Pet Dataset · 37 Breed Classes · ViT + ResNet + Distillation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3840480"/>
            <a:ext cx="78638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Matteo Camellini  ·  Bhaswat Raj  ·  Grace Xu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3931920" y="4343400"/>
            <a:ext cx="182880" cy="182880"/>
          </a:xfrm>
          <a:prstGeom prst="ellipse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279392" y="4343400"/>
            <a:ext cx="182880" cy="182880"/>
          </a:xfrm>
          <a:prstGeom prst="ellipse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626864" y="4343400"/>
            <a:ext cx="182880" cy="182880"/>
          </a:xfrm>
          <a:prstGeom prst="ellipse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 — two-stage pipeline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15727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1572768" cy="457200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93192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320040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Teacher Fine-tuning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1480" y="204825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Linear probe baseline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11480" y="2633472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Simultaneous vs gradual unfreeze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411480" y="32186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Augmentation experiments (MixUp, CutMix, erasing)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2039112" y="841248"/>
            <a:ext cx="15727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2039112" y="841248"/>
            <a:ext cx="1572768" cy="457200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112264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039112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&amp; Class Imbalance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2130552" y="204825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Stratified subsets: 10% / 25% / 50% / 100%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2130552" y="2633472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L2 regularisation sensitivity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2130552" y="32186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20% cat-breed undersampling — weighted CE, oversampling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3758184" y="841248"/>
            <a:ext cx="15727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758184" y="841248"/>
            <a:ext cx="1572768" cy="457200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831336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800" dirty="0"/>
          </a:p>
        </p:txBody>
      </p:sp>
      <p:sp>
        <p:nvSpPr>
          <p:cNvPr id="20" name="Text 18"/>
          <p:cNvSpPr/>
          <p:nvPr/>
        </p:nvSpPr>
        <p:spPr>
          <a:xfrm>
            <a:off x="3758184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vs ResNet Comparison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849624" y="204825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ViT-B/16 vs ResNet-RS152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849624" y="2633472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Accuracy, training efficiency, LR schedule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849624" y="32186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Same augmentation, same dataset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5477256" y="841248"/>
            <a:ext cx="15727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5477256" y="841248"/>
            <a:ext cx="1572768" cy="457200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550408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5477256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5568696" y="204825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ViT-Base → ViT-Tiny (15× compression)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5568696" y="2633472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KL + MSE + CE + intermediate feature loss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5568696" y="32186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Ablation: pretrained×gradual configurations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7196328" y="841248"/>
            <a:ext cx="1572768" cy="39776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7196328" y="841248"/>
            <a:ext cx="1572768" cy="457200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269480" y="84124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800" dirty="0"/>
          </a:p>
        </p:txBody>
      </p:sp>
      <p:sp>
        <p:nvSpPr>
          <p:cNvPr id="34" name="Text 32"/>
          <p:cNvSpPr/>
          <p:nvPr/>
        </p:nvSpPr>
        <p:spPr>
          <a:xfrm>
            <a:off x="7196328" y="1389888"/>
            <a:ext cx="157276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Extensions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287768" y="2048256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Data efficiency: 10%/25%/100% regimes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7287768" y="2633472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Minority class recovery under imbalance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7287768" y="3218688"/>
            <a:ext cx="138988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• UMAP embedding analysis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solidFill>
            <a:srgbClr val="178582">
              <a:alpha val="30000"/>
            </a:srgbClr>
          </a:solidFill>
          <a:ln w="12700">
            <a:solidFill>
              <a:srgbClr val="178582">
                <a:alpha val="3000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320040" y="4864608"/>
            <a:ext cx="850392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Dataset: Oxford-IIIT Pet · 37 breeds · 3,669 test samples · PyTorch · timm · personal GPU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Teacher Fine-tuning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Three strategies · Augmentation pipeline · Oxford-IIIT Pet 37 classes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fine-tuning strategies compared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2633472" cy="64008"/>
          </a:xfrm>
          <a:prstGeom prst="rect">
            <a:avLst/>
          </a:prstGeom>
          <a:solidFill>
            <a:srgbClr val="8EA3B4"/>
          </a:solidFill>
          <a:ln w="12700">
            <a:solidFill>
              <a:srgbClr val="8EA3B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8755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Linear Probe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457200" y="160020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blocks frozen.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Head trained only.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LR = 1e-3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Fast · Low VRAM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3035808"/>
            <a:ext cx="2359152" cy="54864"/>
          </a:xfrm>
          <a:prstGeom prst="rect">
            <a:avLst/>
          </a:prstGeom>
          <a:solidFill>
            <a:srgbClr val="D0DAE4"/>
          </a:solidFill>
          <a:ln w="12700">
            <a:solidFill>
              <a:srgbClr val="D0DAE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31272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result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457200" y="33375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92.04% best</a:t>
            </a:r>
            <a:endParaRPr lang="en-US" sz="1400" dirty="0"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91.20 – 92.04% Range</a:t>
            </a:r>
          </a:p>
        </p:txBody>
      </p:sp>
      <p:sp>
        <p:nvSpPr>
          <p:cNvPr id="10" name="Shape 8"/>
          <p:cNvSpPr/>
          <p:nvPr/>
        </p:nvSpPr>
        <p:spPr>
          <a:xfrm>
            <a:off x="3172968" y="84124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172968" y="841248"/>
            <a:ext cx="2633472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310128" y="98755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Simultaneous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(2,4,6 Blocks)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310128" y="160020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Last l blocks + head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unfrozen together.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All unfrozen params train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epoch 1.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3310128" y="3035808"/>
            <a:ext cx="2359152" cy="54864"/>
          </a:xfrm>
          <a:prstGeom prst="rect">
            <a:avLst/>
          </a:prstGeom>
          <a:solidFill>
            <a:srgbClr val="D0DAE4"/>
          </a:solidFill>
          <a:ln w="12700">
            <a:solidFill>
              <a:srgbClr val="D0DAE4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0128" y="31272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result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310128" y="33375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92.97% best</a:t>
            </a:r>
            <a:endParaRPr lang="en-US" sz="1400" dirty="0"/>
          </a:p>
          <a:p>
            <a:r>
              <a:rPr lang="en-US" sz="14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92.07 – 92.97% Range</a:t>
            </a:r>
          </a:p>
        </p:txBody>
      </p:sp>
      <p:sp>
        <p:nvSpPr>
          <p:cNvPr id="17" name="Shape 15"/>
          <p:cNvSpPr/>
          <p:nvPr/>
        </p:nvSpPr>
        <p:spPr>
          <a:xfrm>
            <a:off x="6025896" y="841248"/>
            <a:ext cx="2633472" cy="34290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025896" y="841248"/>
            <a:ext cx="2633472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6163056" y="987552"/>
            <a:ext cx="235915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</a:t>
            </a:r>
            <a:endParaRPr lang="en-US" sz="1600" dirty="0"/>
          </a:p>
          <a:p>
            <a:pPr marL="0" indent="0">
              <a:buNone/>
            </a:pPr>
            <a:r>
              <a:rPr lang="en-US" sz="1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Unfreeze (1-6 Blocks)</a:t>
            </a:r>
            <a:endParaRPr lang="en-US" sz="1600" dirty="0"/>
          </a:p>
        </p:txBody>
      </p:sp>
      <p:sp>
        <p:nvSpPr>
          <p:cNvPr id="20" name="Text 18"/>
          <p:cNvSpPr/>
          <p:nvPr/>
        </p:nvSpPr>
        <p:spPr>
          <a:xfrm>
            <a:off x="6163056" y="1600200"/>
            <a:ext cx="2359152" cy="1417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One block exposed per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(LR decays).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13-phase schedule.</a:t>
            </a:r>
            <a:endParaRPr lang="en-US" sz="11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Slower · More stable.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6163056" y="3035808"/>
            <a:ext cx="2359152" cy="54864"/>
          </a:xfrm>
          <a:prstGeom prst="rect">
            <a:avLst/>
          </a:prstGeom>
          <a:solidFill>
            <a:srgbClr val="D0DAE4"/>
          </a:solidFill>
          <a:ln w="12700">
            <a:solidFill>
              <a:srgbClr val="D0DAE4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163056" y="3127248"/>
            <a:ext cx="235915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result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63056" y="3337560"/>
            <a:ext cx="2359152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93.16% best</a:t>
            </a:r>
            <a:endParaRPr lang="en-US" sz="1400" dirty="0"/>
          </a:p>
          <a:p>
            <a:r>
              <a:rPr lang="en-US" sz="14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92.26 – 93.16% Range</a:t>
            </a:r>
          </a:p>
        </p:txBody>
      </p:sp>
      <p:sp>
        <p:nvSpPr>
          <p:cNvPr id="24" name="Shape 22"/>
          <p:cNvSpPr/>
          <p:nvPr/>
        </p:nvSpPr>
        <p:spPr>
          <a:xfrm>
            <a:off x="320040" y="4389120"/>
            <a:ext cx="8503920" cy="658368"/>
          </a:xfrm>
          <a:prstGeom prst="rect">
            <a:avLst/>
          </a:prstGeom>
          <a:solidFill>
            <a:srgbClr val="EAF6F4"/>
          </a:solidFill>
          <a:ln w="6350">
            <a:solidFill>
              <a:srgbClr val="178582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4434840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✓ Gradual unfreeze is the best strategy — 93.16% accuracy. The phased schedule acts as built-in regularisation: each newly exposed block adapts before the next opens, protecting pretrained representations and preventing catastrophic forgetting.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Learning Rate Strategy &amp; Training Engine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</a:rPr>
              <a:t>6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512064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228600" y="822960"/>
            <a:ext cx="5120640" cy="34747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822960"/>
            <a:ext cx="4937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Learning Rate Schedule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1148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Start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41148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1e-3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(LP/Phase 1)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141732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164592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164592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Plateau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Detect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164592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3 epochs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no improve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265176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288036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288036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LR × 0.1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88036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reduce by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factor 10</a:t>
            </a:r>
            <a:endParaRPr lang="en-US" sz="850" dirty="0"/>
          </a:p>
        </p:txBody>
      </p:sp>
      <p:sp>
        <p:nvSpPr>
          <p:cNvPr id="19" name="Text 17"/>
          <p:cNvSpPr/>
          <p:nvPr/>
        </p:nvSpPr>
        <p:spPr>
          <a:xfrm>
            <a:off x="3886200" y="1463040"/>
            <a:ext cx="228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2563EB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114800" y="1298448"/>
            <a:ext cx="1005840" cy="640080"/>
          </a:xfrm>
          <a:prstGeom prst="rect">
            <a:avLst/>
          </a:prstGeom>
          <a:solidFill>
            <a:srgbClr val="DBEAFE"/>
          </a:solidFill>
          <a:ln w="12700">
            <a:solidFill>
              <a:srgbClr val="2563EB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4114800" y="1316736"/>
            <a:ext cx="10058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Min LR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2563EB"/>
                </a:solidFill>
              </a:rPr>
              <a:t>Floor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4114800" y="1591056"/>
            <a:ext cx="1005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1e-6</a:t>
            </a:r>
            <a:endParaRPr lang="en-US" sz="850" dirty="0"/>
          </a:p>
          <a:p>
            <a:pPr marL="0" indent="0" algn="ctr">
              <a:buNone/>
            </a:pPr>
            <a:r>
              <a:rPr lang="en-US" sz="850" dirty="0">
                <a:solidFill>
                  <a:srgbClr val="475569"/>
                </a:solidFill>
              </a:rPr>
              <a:t>(stop decay)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0040" y="210312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</a:rPr>
              <a:t>Gradual Unfreeze Phase Scheduling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411480" y="2423160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1:</a:t>
            </a:r>
            <a:r>
              <a:rPr lang="en-US" sz="1000" dirty="0">
                <a:solidFill>
                  <a:srgbClr val="0F172A"/>
                </a:solidFill>
              </a:rPr>
              <a:t>  Train head only — LR 1e-3, up to 20 epochs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11480" y="2724912"/>
            <a:ext cx="47548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7C3AED"/>
                </a:solidFill>
              </a:rPr>
              <a:t>Phase 2+:</a:t>
            </a:r>
            <a:r>
              <a:rPr lang="en-US" sz="1000" dirty="0">
                <a:solidFill>
                  <a:srgbClr val="0F172A"/>
                </a:solidFill>
              </a:rPr>
              <a:t>  Unfreeze next block group — LR 1e-4, up to 20 epochs each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320040" y="3108960"/>
            <a:ext cx="4846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DC2626"/>
                </a:solidFill>
              </a:rPr>
              <a:t>Early Stopping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38912" y="345643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66928" y="340156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Patience = 6 epochs (no val_loss improvement)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438912" y="373075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66928" y="367588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Delta threshold = 1e-4 (minimum meaningful gain)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438912" y="400507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395020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Best checkpoint saved on every improvement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438912" y="4279392"/>
            <a:ext cx="73152" cy="73152"/>
          </a:xfrm>
          <a:prstGeom prst="rect">
            <a:avLst/>
          </a:prstGeom>
          <a:solidFill>
            <a:srgbClr val="DC2626"/>
          </a:solidFill>
          <a:ln w="12700">
            <a:solidFill>
              <a:srgbClr val="DC262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4224528"/>
            <a:ext cx="4572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475569"/>
                </a:solidFill>
              </a:rPr>
              <a:t>Applied per training phase in gradual unfreeze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5577840" y="822960"/>
            <a:ext cx="3337560" cy="4023360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6" name="Shape 34"/>
          <p:cNvSpPr/>
          <p:nvPr/>
        </p:nvSpPr>
        <p:spPr>
          <a:xfrm>
            <a:off x="5577840" y="822960"/>
            <a:ext cx="333756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5669280" y="822960"/>
            <a:ext cx="3154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TrainingEngine Features</a:t>
            </a:r>
            <a:endParaRPr lang="en-US" sz="1300" dirty="0"/>
          </a:p>
        </p:txBody>
      </p:sp>
      <p:sp>
        <p:nvSpPr>
          <p:cNvPr id="38" name="Shape 36"/>
          <p:cNvSpPr/>
          <p:nvPr/>
        </p:nvSpPr>
        <p:spPr>
          <a:xfrm>
            <a:off x="5577840" y="1298448"/>
            <a:ext cx="33375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5669280" y="134416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⚡ Mixed Precision (AMP)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5669280" y="160934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torch.autocast + GradScaler for CUDA. Scheduler step skipped on overflow.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5577840" y="2167128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669280" y="221284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📊 sklearn Macro Metrics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5669280" y="247802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Precision, Recall, F1 computed end-of-epoch over full prediction set.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5577840" y="3035808"/>
            <a:ext cx="3337560" cy="804672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669280" y="308152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🔀 Batch Augmentation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5669280" y="334670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CutMix / MixUp applied after DataLoader yields. Soft one-hot labels for mixed samples.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5577840" y="3904488"/>
            <a:ext cx="33375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669280" y="3950208"/>
            <a:ext cx="3154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9488"/>
                </a:solidFill>
              </a:rPr>
              <a:t>⏱ tqdm Progress Bars</a:t>
            </a: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5669280" y="4215384"/>
            <a:ext cx="31546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950" dirty="0">
                <a:solidFill>
                  <a:srgbClr val="475569"/>
                </a:solidFill>
              </a:rPr>
              <a:t>Live loss + acc tracking per batch. Separate colour per phase (green=train, blue=eval).</a:t>
            </a:r>
            <a:endParaRPr lang="en-US" sz="9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Augmentation Experiment Configurations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</a:rPr>
              <a:t>5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20040" y="682752"/>
            <a:ext cx="27432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682752"/>
            <a:ext cx="26517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Experiment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099816" y="682752"/>
            <a:ext cx="210312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145536" y="682752"/>
            <a:ext cx="20116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Spatial Augs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239512" y="682752"/>
            <a:ext cx="91440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285232" y="682752"/>
            <a:ext cx="822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Erasing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190488" y="682752"/>
            <a:ext cx="82296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236208" y="682752"/>
            <a:ext cx="7315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Jitter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7050024" y="682752"/>
            <a:ext cx="1554480" cy="347472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095744" y="682752"/>
            <a:ext cx="14630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Batch Aug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320040" y="108508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65760" y="108508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no_augs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099816" y="1085088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45536" y="108508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5239512" y="1085088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285232" y="108508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190488" y="108508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6236208" y="108508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7050024" y="108508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095744" y="108508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" y="1423416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365760" y="142341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basic_augs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3099816" y="1423416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145536" y="142341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5239512" y="1423416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5285232" y="142341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1" name="Shape 29"/>
          <p:cNvSpPr/>
          <p:nvPr/>
        </p:nvSpPr>
        <p:spPr>
          <a:xfrm>
            <a:off x="6190488" y="1423416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36208" y="142341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7050024" y="1423416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7095744" y="142341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320040" y="1761744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365760" y="176174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erasing_only_low_prob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3099816" y="1761744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145536" y="176174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5239512" y="1761744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285232" y="176174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190488" y="1761744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6236208" y="176174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7050024" y="1761744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7095744" y="176174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20040" y="2100072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65760" y="210007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erasing_only_high_prob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3099816" y="2100072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3145536" y="210007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5239512" y="2100072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285232" y="210007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  <p:sp>
        <p:nvSpPr>
          <p:cNvPr id="51" name="Shape 49"/>
          <p:cNvSpPr/>
          <p:nvPr/>
        </p:nvSpPr>
        <p:spPr>
          <a:xfrm>
            <a:off x="6190488" y="2100072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6236208" y="210007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53" name="Shape 51"/>
          <p:cNvSpPr/>
          <p:nvPr/>
        </p:nvSpPr>
        <p:spPr>
          <a:xfrm>
            <a:off x="7050024" y="2100072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7095744" y="210007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320040" y="2438400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6" name="Text 54"/>
          <p:cNvSpPr/>
          <p:nvPr/>
        </p:nvSpPr>
        <p:spPr>
          <a:xfrm>
            <a:off x="365760" y="243840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jitter_only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3099816" y="2438400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3145536" y="243840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59" name="Shape 57"/>
          <p:cNvSpPr/>
          <p:nvPr/>
        </p:nvSpPr>
        <p:spPr>
          <a:xfrm>
            <a:off x="5239512" y="2438400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0" name="Text 58"/>
          <p:cNvSpPr/>
          <p:nvPr/>
        </p:nvSpPr>
        <p:spPr>
          <a:xfrm>
            <a:off x="5285232" y="243840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6190488" y="2438400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2" name="Text 60"/>
          <p:cNvSpPr/>
          <p:nvPr/>
        </p:nvSpPr>
        <p:spPr>
          <a:xfrm>
            <a:off x="6236208" y="243840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Color Jitter</a:t>
            </a:r>
            <a:endParaRPr lang="en-US" sz="950" dirty="0"/>
          </a:p>
        </p:txBody>
      </p:sp>
      <p:sp>
        <p:nvSpPr>
          <p:cNvPr id="63" name="Shape 61"/>
          <p:cNvSpPr/>
          <p:nvPr/>
        </p:nvSpPr>
        <p:spPr>
          <a:xfrm>
            <a:off x="7050024" y="2438400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4" name="Text 62"/>
          <p:cNvSpPr/>
          <p:nvPr/>
        </p:nvSpPr>
        <p:spPr>
          <a:xfrm>
            <a:off x="7095744" y="243840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320040" y="2776728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6" name="Text 64"/>
          <p:cNvSpPr/>
          <p:nvPr/>
        </p:nvSpPr>
        <p:spPr>
          <a:xfrm>
            <a:off x="365760" y="277672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mixup_only_low_alpha</a:t>
            </a:r>
            <a:endParaRPr lang="en-US" sz="900" dirty="0"/>
          </a:p>
        </p:txBody>
      </p:sp>
      <p:sp>
        <p:nvSpPr>
          <p:cNvPr id="67" name="Shape 65"/>
          <p:cNvSpPr/>
          <p:nvPr/>
        </p:nvSpPr>
        <p:spPr>
          <a:xfrm>
            <a:off x="3099816" y="2776728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68" name="Text 66"/>
          <p:cNvSpPr/>
          <p:nvPr/>
        </p:nvSpPr>
        <p:spPr>
          <a:xfrm>
            <a:off x="3145536" y="277672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69" name="Shape 67"/>
          <p:cNvSpPr/>
          <p:nvPr/>
        </p:nvSpPr>
        <p:spPr>
          <a:xfrm>
            <a:off x="5239512" y="2776728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0" name="Text 68"/>
          <p:cNvSpPr/>
          <p:nvPr/>
        </p:nvSpPr>
        <p:spPr>
          <a:xfrm>
            <a:off x="5285232" y="277672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71" name="Shape 69"/>
          <p:cNvSpPr/>
          <p:nvPr/>
        </p:nvSpPr>
        <p:spPr>
          <a:xfrm>
            <a:off x="6190488" y="2776728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2" name="Text 70"/>
          <p:cNvSpPr/>
          <p:nvPr/>
        </p:nvSpPr>
        <p:spPr>
          <a:xfrm>
            <a:off x="6236208" y="277672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7050024" y="2776728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4" name="Text 72"/>
          <p:cNvSpPr/>
          <p:nvPr/>
        </p:nvSpPr>
        <p:spPr>
          <a:xfrm>
            <a:off x="7095744" y="277672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α=0.2</a:t>
            </a:r>
            <a:endParaRPr lang="en-US" sz="950" dirty="0"/>
          </a:p>
        </p:txBody>
      </p:sp>
      <p:sp>
        <p:nvSpPr>
          <p:cNvPr id="75" name="Shape 73"/>
          <p:cNvSpPr/>
          <p:nvPr/>
        </p:nvSpPr>
        <p:spPr>
          <a:xfrm>
            <a:off x="320040" y="3115056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6" name="Text 74"/>
          <p:cNvSpPr/>
          <p:nvPr/>
        </p:nvSpPr>
        <p:spPr>
          <a:xfrm>
            <a:off x="365760" y="311505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mixup_only_moderate_alpha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3099816" y="3115056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78" name="Text 76"/>
          <p:cNvSpPr/>
          <p:nvPr/>
        </p:nvSpPr>
        <p:spPr>
          <a:xfrm>
            <a:off x="3145536" y="311505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79" name="Shape 77"/>
          <p:cNvSpPr/>
          <p:nvPr/>
        </p:nvSpPr>
        <p:spPr>
          <a:xfrm>
            <a:off x="5239512" y="3115056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0" name="Text 78"/>
          <p:cNvSpPr/>
          <p:nvPr/>
        </p:nvSpPr>
        <p:spPr>
          <a:xfrm>
            <a:off x="5285232" y="311505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6190488" y="3115056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2" name="Text 80"/>
          <p:cNvSpPr/>
          <p:nvPr/>
        </p:nvSpPr>
        <p:spPr>
          <a:xfrm>
            <a:off x="6236208" y="311505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83" name="Shape 81"/>
          <p:cNvSpPr/>
          <p:nvPr/>
        </p:nvSpPr>
        <p:spPr>
          <a:xfrm>
            <a:off x="7050024" y="3115056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4" name="Text 82"/>
          <p:cNvSpPr/>
          <p:nvPr/>
        </p:nvSpPr>
        <p:spPr>
          <a:xfrm>
            <a:off x="7095744" y="311505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α=0.4</a:t>
            </a:r>
            <a:endParaRPr lang="en-US" sz="950" dirty="0"/>
          </a:p>
        </p:txBody>
      </p:sp>
      <p:sp>
        <p:nvSpPr>
          <p:cNvPr id="85" name="Shape 83"/>
          <p:cNvSpPr/>
          <p:nvPr/>
        </p:nvSpPr>
        <p:spPr>
          <a:xfrm>
            <a:off x="320040" y="3453384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6" name="Text 84"/>
          <p:cNvSpPr/>
          <p:nvPr/>
        </p:nvSpPr>
        <p:spPr>
          <a:xfrm>
            <a:off x="365760" y="3453384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cutmix_only_low_alpha</a:t>
            </a:r>
            <a:endParaRPr lang="en-US" sz="900" dirty="0"/>
          </a:p>
        </p:txBody>
      </p:sp>
      <p:sp>
        <p:nvSpPr>
          <p:cNvPr id="87" name="Shape 85"/>
          <p:cNvSpPr/>
          <p:nvPr/>
        </p:nvSpPr>
        <p:spPr>
          <a:xfrm>
            <a:off x="3099816" y="3453384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88" name="Text 86"/>
          <p:cNvSpPr/>
          <p:nvPr/>
        </p:nvSpPr>
        <p:spPr>
          <a:xfrm>
            <a:off x="3145536" y="34533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89" name="Shape 87"/>
          <p:cNvSpPr/>
          <p:nvPr/>
        </p:nvSpPr>
        <p:spPr>
          <a:xfrm>
            <a:off x="5239512" y="3453384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0" name="Text 88"/>
          <p:cNvSpPr/>
          <p:nvPr/>
        </p:nvSpPr>
        <p:spPr>
          <a:xfrm>
            <a:off x="5285232" y="3453384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91" name="Shape 89"/>
          <p:cNvSpPr/>
          <p:nvPr/>
        </p:nvSpPr>
        <p:spPr>
          <a:xfrm>
            <a:off x="6190488" y="3453384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2" name="Text 90"/>
          <p:cNvSpPr/>
          <p:nvPr/>
        </p:nvSpPr>
        <p:spPr>
          <a:xfrm>
            <a:off x="6236208" y="3453384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93" name="Shape 91"/>
          <p:cNvSpPr/>
          <p:nvPr/>
        </p:nvSpPr>
        <p:spPr>
          <a:xfrm>
            <a:off x="7050024" y="3453384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4" name="Text 92"/>
          <p:cNvSpPr/>
          <p:nvPr/>
        </p:nvSpPr>
        <p:spPr>
          <a:xfrm>
            <a:off x="7095744" y="3453384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α=0.5</a:t>
            </a:r>
            <a:endParaRPr lang="en-US" sz="950" dirty="0"/>
          </a:p>
        </p:txBody>
      </p:sp>
      <p:sp>
        <p:nvSpPr>
          <p:cNvPr id="95" name="Shape 93"/>
          <p:cNvSpPr/>
          <p:nvPr/>
        </p:nvSpPr>
        <p:spPr>
          <a:xfrm>
            <a:off x="320040" y="3791712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6" name="Text 94"/>
          <p:cNvSpPr/>
          <p:nvPr/>
        </p:nvSpPr>
        <p:spPr>
          <a:xfrm>
            <a:off x="365760" y="3791712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cutmix_only_moderate_alpha</a:t>
            </a:r>
            <a:endParaRPr lang="en-US" sz="900" dirty="0"/>
          </a:p>
        </p:txBody>
      </p:sp>
      <p:sp>
        <p:nvSpPr>
          <p:cNvPr id="97" name="Shape 95"/>
          <p:cNvSpPr/>
          <p:nvPr/>
        </p:nvSpPr>
        <p:spPr>
          <a:xfrm>
            <a:off x="3099816" y="3791712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3145536" y="37917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99" name="Shape 97"/>
          <p:cNvSpPr/>
          <p:nvPr/>
        </p:nvSpPr>
        <p:spPr>
          <a:xfrm>
            <a:off x="5239512" y="3791712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0" name="Text 98"/>
          <p:cNvSpPr/>
          <p:nvPr/>
        </p:nvSpPr>
        <p:spPr>
          <a:xfrm>
            <a:off x="5285232" y="3791712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01" name="Shape 99"/>
          <p:cNvSpPr/>
          <p:nvPr/>
        </p:nvSpPr>
        <p:spPr>
          <a:xfrm>
            <a:off x="6190488" y="3791712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6236208" y="3791712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03" name="Shape 101"/>
          <p:cNvSpPr/>
          <p:nvPr/>
        </p:nvSpPr>
        <p:spPr>
          <a:xfrm>
            <a:off x="7050024" y="3791712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7095744" y="3791712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α=1.0</a:t>
            </a:r>
            <a:endParaRPr lang="en-US" sz="950" dirty="0"/>
          </a:p>
        </p:txBody>
      </p:sp>
      <p:sp>
        <p:nvSpPr>
          <p:cNvPr id="105" name="Shape 103"/>
          <p:cNvSpPr/>
          <p:nvPr/>
        </p:nvSpPr>
        <p:spPr>
          <a:xfrm>
            <a:off x="320040" y="4130040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365760" y="4130040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mixup_cutmix</a:t>
            </a:r>
            <a:endParaRPr lang="en-US" sz="900" dirty="0"/>
          </a:p>
        </p:txBody>
      </p:sp>
      <p:sp>
        <p:nvSpPr>
          <p:cNvPr id="107" name="Shape 105"/>
          <p:cNvSpPr/>
          <p:nvPr/>
        </p:nvSpPr>
        <p:spPr>
          <a:xfrm>
            <a:off x="3099816" y="4130040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3145536" y="4130040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09" name="Shape 107"/>
          <p:cNvSpPr/>
          <p:nvPr/>
        </p:nvSpPr>
        <p:spPr>
          <a:xfrm>
            <a:off x="5239512" y="4130040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5285232" y="4130040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11" name="Shape 109"/>
          <p:cNvSpPr/>
          <p:nvPr/>
        </p:nvSpPr>
        <p:spPr>
          <a:xfrm>
            <a:off x="6190488" y="4130040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6236208" y="4130040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94A3B8"/>
                </a:solidFill>
              </a:rPr>
              <a:t>—</a:t>
            </a:r>
            <a:endParaRPr lang="en-US" sz="950" dirty="0"/>
          </a:p>
        </p:txBody>
      </p:sp>
      <p:sp>
        <p:nvSpPr>
          <p:cNvPr id="113" name="Shape 111"/>
          <p:cNvSpPr/>
          <p:nvPr/>
        </p:nvSpPr>
        <p:spPr>
          <a:xfrm>
            <a:off x="7050024" y="4130040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7095744" y="4130040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Both α=0.4/1.0</a:t>
            </a:r>
            <a:endParaRPr lang="en-US" sz="950" dirty="0"/>
          </a:p>
        </p:txBody>
      </p:sp>
      <p:sp>
        <p:nvSpPr>
          <p:cNvPr id="115" name="Shape 113"/>
          <p:cNvSpPr/>
          <p:nvPr/>
        </p:nvSpPr>
        <p:spPr>
          <a:xfrm>
            <a:off x="320040" y="4468368"/>
            <a:ext cx="2743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365760" y="4468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erasing_jitter_mixup_cutmix_low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3099816" y="4468368"/>
            <a:ext cx="210312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3145536" y="446836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19" name="Shape 117"/>
          <p:cNvSpPr/>
          <p:nvPr/>
        </p:nvSpPr>
        <p:spPr>
          <a:xfrm>
            <a:off x="5239512" y="4468368"/>
            <a:ext cx="9144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285232" y="4468368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121" name="Shape 119"/>
          <p:cNvSpPr/>
          <p:nvPr/>
        </p:nvSpPr>
        <p:spPr>
          <a:xfrm>
            <a:off x="6190488" y="4468368"/>
            <a:ext cx="82296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6236208" y="4468368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0F172A"/>
                </a:solidFill>
              </a:rPr>
              <a:t>Color Jitter</a:t>
            </a:r>
            <a:endParaRPr lang="en-US" sz="950" dirty="0"/>
          </a:p>
        </p:txBody>
      </p:sp>
      <p:sp>
        <p:nvSpPr>
          <p:cNvPr id="123" name="Shape 121"/>
          <p:cNvSpPr/>
          <p:nvPr/>
        </p:nvSpPr>
        <p:spPr>
          <a:xfrm>
            <a:off x="7050024" y="4468368"/>
            <a:ext cx="155448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095744" y="4468368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p=0.2</a:t>
            </a:r>
            <a:endParaRPr lang="en-US" sz="950" dirty="0"/>
          </a:p>
        </p:txBody>
      </p:sp>
      <p:sp>
        <p:nvSpPr>
          <p:cNvPr id="125" name="Shape 123"/>
          <p:cNvSpPr/>
          <p:nvPr/>
        </p:nvSpPr>
        <p:spPr>
          <a:xfrm>
            <a:off x="320040" y="4806696"/>
            <a:ext cx="27432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365760" y="4806696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563EB"/>
                </a:solidFill>
              </a:rPr>
              <a:t>erasing_jitter_mixup_cutmix_high</a:t>
            </a:r>
            <a:endParaRPr lang="en-US" sz="900" dirty="0"/>
          </a:p>
        </p:txBody>
      </p:sp>
      <p:sp>
        <p:nvSpPr>
          <p:cNvPr id="127" name="Shape 125"/>
          <p:cNvSpPr/>
          <p:nvPr/>
        </p:nvSpPr>
        <p:spPr>
          <a:xfrm>
            <a:off x="3099816" y="4806696"/>
            <a:ext cx="210312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145536" y="480669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Flip+Rot+Crop+Gray</a:t>
            </a:r>
            <a:endParaRPr lang="en-US" sz="950" dirty="0"/>
          </a:p>
        </p:txBody>
      </p:sp>
      <p:sp>
        <p:nvSpPr>
          <p:cNvPr id="129" name="Shape 127"/>
          <p:cNvSpPr/>
          <p:nvPr/>
        </p:nvSpPr>
        <p:spPr>
          <a:xfrm>
            <a:off x="5239512" y="4806696"/>
            <a:ext cx="91440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5285232" y="4806696"/>
            <a:ext cx="8229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  <p:sp>
        <p:nvSpPr>
          <p:cNvPr id="131" name="Shape 129"/>
          <p:cNvSpPr/>
          <p:nvPr/>
        </p:nvSpPr>
        <p:spPr>
          <a:xfrm>
            <a:off x="6190488" y="4806696"/>
            <a:ext cx="82296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6236208" y="4806696"/>
            <a:ext cx="7315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950" dirty="0">
                <a:solidFill>
                  <a:srgbClr val="0F172A"/>
                </a:solidFill>
              </a:rPr>
              <a:t>Color Jitter</a:t>
            </a:r>
            <a:endParaRPr lang="en-US" sz="950" dirty="0"/>
          </a:p>
        </p:txBody>
      </p:sp>
      <p:sp>
        <p:nvSpPr>
          <p:cNvPr id="133" name="Shape 131"/>
          <p:cNvSpPr/>
          <p:nvPr/>
        </p:nvSpPr>
        <p:spPr>
          <a:xfrm>
            <a:off x="7050024" y="4806696"/>
            <a:ext cx="1554480" cy="320040"/>
          </a:xfrm>
          <a:prstGeom prst="rect">
            <a:avLst/>
          </a:prstGeom>
          <a:solidFill>
            <a:srgbClr val="F8FAFC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7095744" y="4806696"/>
            <a:ext cx="1463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0F172A"/>
                </a:solidFill>
              </a:rPr>
              <a:t>p=0.5</a:t>
            </a:r>
            <a:endParaRPr lang="en-US" sz="9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Simultaneous Unfreeze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</a:rPr>
              <a:t>8 / 12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804672"/>
          <a:ext cx="6035040" cy="2926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182880" y="3840480"/>
          <a:ext cx="6035040" cy="10515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6446520" y="804672"/>
            <a:ext cx="2468880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6446520" y="804672"/>
            <a:ext cx="2468880" cy="34747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6537960" y="804672"/>
            <a:ext cx="22860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Stats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6446520" y="1261872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6537960" y="126187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7635240" y="126187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</a:rPr>
              <a:t>92.97%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6446520" y="1709928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6537960" y="170992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Experiment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7635240" y="170992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erasing_low_prob</a:t>
            </a:r>
            <a:endParaRPr lang="en-US" sz="1000" dirty="0"/>
          </a:p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(2 layers)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446520" y="2157984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6537960" y="215798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Range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7635240" y="215798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75569"/>
                </a:solidFill>
              </a:rPr>
              <a:t>92.07 – 92.97%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6446520" y="2606040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6537960" y="2606040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Linear Probe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7635240" y="2606040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</a:rPr>
              <a:t>+0.93 pp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6446520" y="3054096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6537960" y="3054096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(2 blocks)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7635240" y="3054096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92.61%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6446520" y="3502152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6537960" y="3502152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(4 blocks)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7635240" y="3502152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75569"/>
                </a:solidFill>
              </a:rPr>
              <a:t>92.40%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6446520" y="3950208"/>
            <a:ext cx="24688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6537960" y="3950208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Avg (6 blocks)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7635240" y="3950208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75569"/>
                </a:solidFill>
              </a:rPr>
              <a:t>92.38%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6446520" y="4398264"/>
            <a:ext cx="24688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6537960" y="4398264"/>
            <a:ext cx="109728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Sweet spot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7635240" y="4398264"/>
            <a:ext cx="118872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</a:rPr>
              <a:t>L = 2 blocks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Results — Gradual Unfreeze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</a:rPr>
              <a:t>9 / 12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182880" y="804672"/>
          <a:ext cx="393192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6" name="Chart 1"/>
          <p:cNvGraphicFramePr/>
          <p:nvPr/>
        </p:nvGraphicFramePr>
        <p:xfrm>
          <a:off x="182880" y="3200400"/>
          <a:ext cx="3931920" cy="1691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7" name="Shape 3"/>
          <p:cNvSpPr/>
          <p:nvPr/>
        </p:nvSpPr>
        <p:spPr>
          <a:xfrm>
            <a:off x="4343400" y="804672"/>
            <a:ext cx="4526280" cy="4087368"/>
          </a:xfrm>
          <a:prstGeom prst="rect">
            <a:avLst/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4"/>
          <p:cNvSpPr/>
          <p:nvPr/>
        </p:nvSpPr>
        <p:spPr>
          <a:xfrm>
            <a:off x="4343400" y="804672"/>
            <a:ext cx="4526280" cy="34747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5"/>
          <p:cNvSpPr/>
          <p:nvPr/>
        </p:nvSpPr>
        <p:spPr>
          <a:xfrm>
            <a:off x="4434840" y="804672"/>
            <a:ext cx="43434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</a:rPr>
              <a:t>Key Stats &amp; Observations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4343400" y="1261872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434840" y="126187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Accuracy</a:t>
            </a:r>
            <a:endParaRPr lang="en-US" sz="900" dirty="0"/>
          </a:p>
        </p:txBody>
      </p:sp>
      <p:sp>
        <p:nvSpPr>
          <p:cNvPr id="12" name="Text 8"/>
          <p:cNvSpPr/>
          <p:nvPr/>
        </p:nvSpPr>
        <p:spPr>
          <a:xfrm>
            <a:off x="6263640" y="126187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</a:rPr>
              <a:t>93.16%</a:t>
            </a:r>
            <a:endParaRPr lang="en-US" sz="1000" dirty="0"/>
          </a:p>
        </p:txBody>
      </p:sp>
      <p:sp>
        <p:nvSpPr>
          <p:cNvPr id="13" name="Shape 9"/>
          <p:cNvSpPr/>
          <p:nvPr/>
        </p:nvSpPr>
        <p:spPr>
          <a:xfrm>
            <a:off x="4343400" y="1709928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4" name="Text 10"/>
          <p:cNvSpPr/>
          <p:nvPr/>
        </p:nvSpPr>
        <p:spPr>
          <a:xfrm>
            <a:off x="4434840" y="170992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Best Config</a:t>
            </a:r>
            <a:endParaRPr lang="en-US" sz="900" dirty="0"/>
          </a:p>
        </p:txBody>
      </p:sp>
      <p:sp>
        <p:nvSpPr>
          <p:cNvPr id="15" name="Text 11"/>
          <p:cNvSpPr/>
          <p:nvPr/>
        </p:nvSpPr>
        <p:spPr>
          <a:xfrm>
            <a:off x="6263640" y="170992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7C3AED"/>
                </a:solidFill>
              </a:rPr>
              <a:t>no_augs + 5 block groups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4343400" y="2157984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17" name="Text 13"/>
          <p:cNvSpPr/>
          <p:nvPr/>
        </p:nvSpPr>
        <p:spPr>
          <a:xfrm>
            <a:off x="4434840" y="215798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Runner-Up</a:t>
            </a:r>
            <a:endParaRPr lang="en-US" sz="900" dirty="0"/>
          </a:p>
        </p:txBody>
      </p:sp>
      <p:sp>
        <p:nvSpPr>
          <p:cNvPr id="18" name="Text 14"/>
          <p:cNvSpPr/>
          <p:nvPr/>
        </p:nvSpPr>
        <p:spPr>
          <a:xfrm>
            <a:off x="6263640" y="215798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75569"/>
                </a:solidFill>
              </a:rPr>
              <a:t>93.00% (erasing+jitter low)</a:t>
            </a:r>
            <a:endParaRPr lang="en-US" sz="1000" dirty="0"/>
          </a:p>
        </p:txBody>
      </p:sp>
      <p:sp>
        <p:nvSpPr>
          <p:cNvPr id="19" name="Shape 15"/>
          <p:cNvSpPr/>
          <p:nvPr/>
        </p:nvSpPr>
        <p:spPr>
          <a:xfrm>
            <a:off x="4343400" y="2606040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0" name="Text 16"/>
          <p:cNvSpPr/>
          <p:nvPr/>
        </p:nvSpPr>
        <p:spPr>
          <a:xfrm>
            <a:off x="4434840" y="2606040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Range</a:t>
            </a:r>
            <a:endParaRPr lang="en-US" sz="900" dirty="0"/>
          </a:p>
        </p:txBody>
      </p:sp>
      <p:sp>
        <p:nvSpPr>
          <p:cNvPr id="21" name="Text 17"/>
          <p:cNvSpPr/>
          <p:nvPr/>
        </p:nvSpPr>
        <p:spPr>
          <a:xfrm>
            <a:off x="6263640" y="2606040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75569"/>
                </a:solidFill>
              </a:rPr>
              <a:t>92.26 – 93.16%</a:t>
            </a:r>
            <a:endParaRPr lang="en-US" sz="1000" dirty="0"/>
          </a:p>
        </p:txBody>
      </p:sp>
      <p:sp>
        <p:nvSpPr>
          <p:cNvPr id="22" name="Shape 18"/>
          <p:cNvSpPr/>
          <p:nvPr/>
        </p:nvSpPr>
        <p:spPr>
          <a:xfrm>
            <a:off x="4343400" y="3054096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3" name="Text 19"/>
          <p:cNvSpPr/>
          <p:nvPr/>
        </p:nvSpPr>
        <p:spPr>
          <a:xfrm>
            <a:off x="4434840" y="3054096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Linear Probe</a:t>
            </a:r>
            <a:endParaRPr lang="en-US" sz="900" dirty="0"/>
          </a:p>
        </p:txBody>
      </p:sp>
      <p:sp>
        <p:nvSpPr>
          <p:cNvPr id="24" name="Text 20"/>
          <p:cNvSpPr/>
          <p:nvPr/>
        </p:nvSpPr>
        <p:spPr>
          <a:xfrm>
            <a:off x="6263640" y="3054096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59669"/>
                </a:solidFill>
              </a:rPr>
              <a:t>+1.96 pp</a:t>
            </a:r>
            <a:endParaRPr lang="en-US" sz="1000" dirty="0"/>
          </a:p>
        </p:txBody>
      </p:sp>
      <p:sp>
        <p:nvSpPr>
          <p:cNvPr id="25" name="Shape 21"/>
          <p:cNvSpPr/>
          <p:nvPr/>
        </p:nvSpPr>
        <p:spPr>
          <a:xfrm>
            <a:off x="4343400" y="3502152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6" name="Text 22"/>
          <p:cNvSpPr/>
          <p:nvPr/>
        </p:nvSpPr>
        <p:spPr>
          <a:xfrm>
            <a:off x="4434840" y="3502152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vs Sim Unfreeze</a:t>
            </a:r>
            <a:endParaRPr lang="en-US" sz="900" dirty="0"/>
          </a:p>
        </p:txBody>
      </p:sp>
      <p:sp>
        <p:nvSpPr>
          <p:cNvPr id="27" name="Text 23"/>
          <p:cNvSpPr/>
          <p:nvPr/>
        </p:nvSpPr>
        <p:spPr>
          <a:xfrm>
            <a:off x="6263640" y="3502152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0D9488"/>
                </a:solidFill>
              </a:rPr>
              <a:t>+0.19 pp</a:t>
            </a:r>
            <a:endParaRPr lang="en-US" sz="1000" dirty="0"/>
          </a:p>
        </p:txBody>
      </p:sp>
      <p:sp>
        <p:nvSpPr>
          <p:cNvPr id="28" name="Shape 24"/>
          <p:cNvSpPr/>
          <p:nvPr/>
        </p:nvSpPr>
        <p:spPr>
          <a:xfrm>
            <a:off x="4343400" y="3950208"/>
            <a:ext cx="4526280" cy="420624"/>
          </a:xfrm>
          <a:prstGeom prst="rect">
            <a:avLst/>
          </a:prstGeom>
          <a:solidFill>
            <a:srgbClr val="F1F5F9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5"/>
          <p:cNvSpPr/>
          <p:nvPr/>
        </p:nvSpPr>
        <p:spPr>
          <a:xfrm>
            <a:off x="4434840" y="3950208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Sweet spot blocks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63640" y="3950208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97706"/>
                </a:solidFill>
              </a:rPr>
              <a:t>3 blocks (avg 92.53%)</a:t>
            </a:r>
            <a:endParaRPr lang="en-US" sz="1000" dirty="0"/>
          </a:p>
        </p:txBody>
      </p:sp>
      <p:sp>
        <p:nvSpPr>
          <p:cNvPr id="31" name="Shape 27"/>
          <p:cNvSpPr/>
          <p:nvPr/>
        </p:nvSpPr>
        <p:spPr>
          <a:xfrm>
            <a:off x="4343400" y="4398264"/>
            <a:ext cx="4526280" cy="420624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32" name="Text 28"/>
          <p:cNvSpPr/>
          <p:nvPr/>
        </p:nvSpPr>
        <p:spPr>
          <a:xfrm>
            <a:off x="4434840" y="4398264"/>
            <a:ext cx="18288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75569"/>
                </a:solidFill>
              </a:rPr>
              <a:t>Worst config</a:t>
            </a:r>
            <a:endParaRPr lang="en-US" sz="900" dirty="0"/>
          </a:p>
        </p:txBody>
      </p:sp>
      <p:sp>
        <p:nvSpPr>
          <p:cNvPr id="33" name="Text 29"/>
          <p:cNvSpPr/>
          <p:nvPr/>
        </p:nvSpPr>
        <p:spPr>
          <a:xfrm>
            <a:off x="6263640" y="4398264"/>
            <a:ext cx="2514600" cy="42062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DC2626"/>
                </a:solidFill>
              </a:rPr>
              <a:t>mixup_low_alpha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A2B4A"/>
          </a:solidFill>
          <a:ln w="12700">
            <a:solidFill>
              <a:srgbClr val="1A2B4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0"/>
            <a:ext cx="7315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Augmentation Impact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498080" y="0"/>
            <a:ext cx="150876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DBEAFE"/>
                </a:solidFill>
              </a:rPr>
              <a:t>11 / 12</a:t>
            </a:r>
            <a:endParaRPr lang="en-US" sz="1100" dirty="0"/>
          </a:p>
        </p:txBody>
      </p:sp>
      <p:graphicFrame>
        <p:nvGraphicFramePr>
          <p:cNvPr id="5" name="Chart 0"/>
          <p:cNvGraphicFramePr/>
          <p:nvPr>
            <p:extLst>
              <p:ext uri="{D42A27DB-BD31-4B8C-83A1-F6EECF244321}">
                <p14:modId xmlns:p14="http://schemas.microsoft.com/office/powerpoint/2010/main" val="3424019786"/>
              </p:ext>
            </p:extLst>
          </p:nvPr>
        </p:nvGraphicFramePr>
        <p:xfrm>
          <a:off x="182880" y="804672"/>
          <a:ext cx="877824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6" name="Shape 3"/>
          <p:cNvSpPr/>
          <p:nvPr/>
        </p:nvSpPr>
        <p:spPr>
          <a:xfrm>
            <a:off x="182880" y="411480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274320" y="4114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LP is most sensitive to aug type — range of 0.84pp. Best: combined erasing+jitter+cutmix (high prob).</a:t>
            </a:r>
            <a:endParaRPr lang="en-US" sz="900" dirty="0"/>
          </a:p>
        </p:txBody>
      </p:sp>
      <p:sp>
        <p:nvSpPr>
          <p:cNvPr id="8" name="Shape 5"/>
          <p:cNvSpPr/>
          <p:nvPr/>
        </p:nvSpPr>
        <p:spPr>
          <a:xfrm>
            <a:off x="182880" y="4114800"/>
            <a:ext cx="64008" cy="438912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4617720" y="411480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09160" y="411480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Sim Unfreeze benefits most from spatial augs (erasing, basic). Batch augs (MixUp alone) are less helpful.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4617720" y="4114800"/>
            <a:ext cx="64008" cy="438912"/>
          </a:xfrm>
          <a:prstGeom prst="rect">
            <a:avLst/>
          </a:prstGeom>
          <a:solidFill>
            <a:srgbClr val="0D9488"/>
          </a:solidFill>
          <a:ln w="12700">
            <a:solidFill>
              <a:srgbClr val="0D9488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82880" y="461772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274320" y="4617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Gradual Unfreeze is surprisingly robust — even no_augs hits 93.16%, the overall best result.</a:t>
            </a:r>
            <a:endParaRPr lang="en-US" sz="900" dirty="0"/>
          </a:p>
        </p:txBody>
      </p:sp>
      <p:sp>
        <p:nvSpPr>
          <p:cNvPr id="14" name="Shape 11"/>
          <p:cNvSpPr/>
          <p:nvPr/>
        </p:nvSpPr>
        <p:spPr>
          <a:xfrm>
            <a:off x="182880" y="4617720"/>
            <a:ext cx="64008" cy="438912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4617720" y="4617720"/>
            <a:ext cx="42976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E2E8F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709160" y="4617720"/>
            <a:ext cx="411480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0F172A"/>
                </a:solidFill>
              </a:rPr>
              <a:t>MixUp alone tends to underperform across all methods. CutMix and combined strategies are more reliable.</a:t>
            </a:r>
            <a:endParaRPr lang="en-US" sz="900" dirty="0"/>
          </a:p>
        </p:txBody>
      </p:sp>
      <p:sp>
        <p:nvSpPr>
          <p:cNvPr id="17" name="Shape 14"/>
          <p:cNvSpPr/>
          <p:nvPr/>
        </p:nvSpPr>
        <p:spPr>
          <a:xfrm>
            <a:off x="4617720" y="4617720"/>
            <a:ext cx="64008" cy="438912"/>
          </a:xfrm>
          <a:prstGeom prst="rect">
            <a:avLst/>
          </a:prstGeom>
          <a:solidFill>
            <a:srgbClr val="D97706"/>
          </a:solidFill>
          <a:ln w="12700">
            <a:solidFill>
              <a:srgbClr val="D97706"/>
            </a:solidFill>
            <a:prstDash val="solid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pipeline &amp; key results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39319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393192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950976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experiments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57200" y="1353312"/>
            <a:ext cx="54864" cy="256032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85216" y="1344168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Spatial: RandomResizedCrop, HorizontalFlip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682496"/>
            <a:ext cx="54864" cy="256032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85216" y="1673352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Colour: ColorJitter (brightness/contrast/sat/hue)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54864" cy="256032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85216" y="2002536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Erasing: RandomErasing (patch occlusion)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57200" y="2340864"/>
            <a:ext cx="54864" cy="256032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85216" y="2331720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Batch: MixUp (α=0.4) and CutMix (α=1.0)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57200" y="2670048"/>
            <a:ext cx="54864" cy="256032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585216" y="2660904"/>
            <a:ext cx="3502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Early stopping patience=6 · ReduceLROnPlateau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434840" y="822960"/>
            <a:ext cx="4389120" cy="214884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434840" y="822960"/>
            <a:ext cx="438912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0" y="950976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findings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0" y="1353312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700016" y="1344168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LP most sensitive — 0.84pp range across aug configs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572000" y="1682496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673352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 Unfreeze benefits most from spatial+erasing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572000" y="2011680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2002536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robust — even no_augs hits 93.16% (best overall)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4572000" y="2340864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700016" y="2331720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MixUp alone less helpful; combined with erasing is optimal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4572000" y="2670048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00016" y="2660904"/>
            <a:ext cx="39593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Combined: erasing + jitter + CutMix = best for LP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3090672"/>
            <a:ext cx="199339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20040" y="3090672"/>
            <a:ext cx="1993392" cy="64008"/>
          </a:xfrm>
          <a:prstGeom prst="rect">
            <a:avLst/>
          </a:prstGeom>
          <a:solidFill>
            <a:srgbClr val="8EA3B4"/>
          </a:solidFill>
          <a:ln w="12700">
            <a:solidFill>
              <a:srgbClr val="8EA3B4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48056" y="32278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92.04%</a:t>
            </a:r>
            <a:endParaRPr lang="en-US" sz="2600" dirty="0"/>
          </a:p>
        </p:txBody>
      </p:sp>
      <p:sp>
        <p:nvSpPr>
          <p:cNvPr id="32" name="Text 30"/>
          <p:cNvSpPr/>
          <p:nvPr/>
        </p:nvSpPr>
        <p:spPr>
          <a:xfrm>
            <a:off x="448056" y="37764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Linear probe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496312" y="3090672"/>
            <a:ext cx="199339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2496312" y="3090672"/>
            <a:ext cx="1993392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2624328" y="32278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92.97%</a:t>
            </a:r>
            <a:endParaRPr lang="en-US" sz="2600" dirty="0"/>
          </a:p>
        </p:txBody>
      </p:sp>
      <p:sp>
        <p:nvSpPr>
          <p:cNvPr id="36" name="Text 34"/>
          <p:cNvSpPr/>
          <p:nvPr/>
        </p:nvSpPr>
        <p:spPr>
          <a:xfrm>
            <a:off x="2624328" y="37764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Sim unfreeze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4672584" y="3090672"/>
            <a:ext cx="199339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72584" y="3090672"/>
            <a:ext cx="1993392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4800600" y="32278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93.16%</a:t>
            </a:r>
            <a:endParaRPr lang="en-US" sz="2600" dirty="0"/>
          </a:p>
        </p:txBody>
      </p:sp>
      <p:sp>
        <p:nvSpPr>
          <p:cNvPr id="40" name="Text 38"/>
          <p:cNvSpPr/>
          <p:nvPr/>
        </p:nvSpPr>
        <p:spPr>
          <a:xfrm>
            <a:off x="4800600" y="37764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unfreeze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accuracy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6848856" y="3090672"/>
            <a:ext cx="1993392" cy="16002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6848856" y="3090672"/>
            <a:ext cx="1993392" cy="64008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976872" y="3227832"/>
            <a:ext cx="1737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+0.84pp</a:t>
            </a:r>
            <a:endParaRPr lang="en-US" sz="2600" dirty="0"/>
          </a:p>
        </p:txBody>
      </p:sp>
      <p:sp>
        <p:nvSpPr>
          <p:cNvPr id="44" name="Text 42"/>
          <p:cNvSpPr/>
          <p:nvPr/>
        </p:nvSpPr>
        <p:spPr>
          <a:xfrm>
            <a:off x="6976872" y="3776472"/>
            <a:ext cx="17373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Aug sensitivity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range (LP)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&amp; Class Imbalance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Stratified subsets 10–100% · L2 regularisation · 20% cat undersampling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Limited Data Study — Setup &amp; Key Numbers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Stratified subsets preserve class proportions at every fraction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2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1148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41148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41148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D6FA4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~5,900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41148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Full train set (100%)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256032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56032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56032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0E8A7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~1,472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256032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 subset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470916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0916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470916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C47D0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~736</a:t>
            </a:r>
            <a:endParaRPr lang="en-US" sz="2800" dirty="0"/>
          </a:p>
        </p:txBody>
      </p:sp>
      <p:sp>
        <p:nvSpPr>
          <p:cNvPr id="17" name="Text 15"/>
          <p:cNvSpPr/>
          <p:nvPr/>
        </p:nvSpPr>
        <p:spPr>
          <a:xfrm>
            <a:off x="470916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 subset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858000" y="1024128"/>
            <a:ext cx="192024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858000" y="1024128"/>
            <a:ext cx="1920240" cy="7772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858000" y="1060704"/>
            <a:ext cx="19202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B52A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294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6858000" y="1481328"/>
            <a:ext cx="1920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 subset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411480" y="1938528"/>
            <a:ext cx="411480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11480" y="1938528"/>
            <a:ext cx="4114800" cy="27249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548640" y="201168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Experimental Design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11480" y="237744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48640" y="23774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Data fractions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1965960" y="23774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100%, 50%, 25%, 10%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548640" y="274320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L2 regimes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1965960" y="274320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wd_standard (1e-4), wd_strong (1e-2)</a:t>
            </a:r>
            <a:endParaRPr lang="en-US" sz="1000" dirty="0"/>
          </a:p>
        </p:txBody>
      </p:sp>
      <p:sp>
        <p:nvSpPr>
          <p:cNvPr id="30" name="Shape 28"/>
          <p:cNvSpPr/>
          <p:nvPr/>
        </p:nvSpPr>
        <p:spPr>
          <a:xfrm>
            <a:off x="411480" y="310896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48640" y="310896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Methods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965960" y="310896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Linear Probe, Sim Unfreeze, Gradual (3 blocks)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548640" y="347472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Aug experiments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1965960" y="347472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4 selected per fraction (no_augs, basic, erasing_jitter_low/high)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411480" y="3840480"/>
            <a:ext cx="4114800" cy="365760"/>
          </a:xfrm>
          <a:prstGeom prst="rect">
            <a:avLst/>
          </a:prstGeom>
          <a:solidFill>
            <a:srgbClr val="F0F5FA"/>
          </a:solidFill>
          <a:ln w="12700">
            <a:solidFill>
              <a:srgbClr val="F0F5FA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48640" y="384048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Val / Test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1965960" y="384048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Always full unmodified splits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48640" y="4206240"/>
            <a:ext cx="1371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4A5568"/>
                </a:solidFill>
              </a:rPr>
              <a:t>Stratification</a:t>
            </a:r>
            <a:endParaRPr lang="en-US" sz="1000" dirty="0"/>
          </a:p>
        </p:txBody>
      </p:sp>
      <p:sp>
        <p:nvSpPr>
          <p:cNvPr id="39" name="Text 37"/>
          <p:cNvSpPr/>
          <p:nvPr/>
        </p:nvSpPr>
        <p:spPr>
          <a:xfrm>
            <a:off x="1965960" y="4206240"/>
            <a:ext cx="2423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</a:rPr>
              <a:t>StratifiedShuffleSplit on breed labels (37 classes)</a:t>
            </a:r>
            <a:endParaRPr lang="en-US" sz="1000" dirty="0"/>
          </a:p>
        </p:txBody>
      </p:sp>
      <p:sp>
        <p:nvSpPr>
          <p:cNvPr id="40" name="Shape 38"/>
          <p:cNvSpPr/>
          <p:nvPr/>
        </p:nvSpPr>
        <p:spPr>
          <a:xfrm>
            <a:off x="4754880" y="1938528"/>
            <a:ext cx="3977640" cy="2724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754880" y="1938528"/>
            <a:ext cx="3977640" cy="27249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42" name="Text 40"/>
          <p:cNvSpPr/>
          <p:nvPr/>
        </p:nvSpPr>
        <p:spPr>
          <a:xfrm>
            <a:off x="4892040" y="2011680"/>
            <a:ext cx="3703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</a:rPr>
              <a:t>Key Drops (avg accuracy 100%→10%)</a:t>
            </a:r>
            <a:endParaRPr lang="en-US" sz="1200" dirty="0"/>
          </a:p>
        </p:txBody>
      </p:sp>
      <p:sp>
        <p:nvSpPr>
          <p:cNvPr id="43" name="Shape 41"/>
          <p:cNvSpPr/>
          <p:nvPr/>
        </p:nvSpPr>
        <p:spPr>
          <a:xfrm>
            <a:off x="4754880" y="2423160"/>
            <a:ext cx="3977640" cy="594360"/>
          </a:xfrm>
          <a:prstGeom prst="rect">
            <a:avLst/>
          </a:prstGeom>
          <a:solidFill>
            <a:srgbClr val="D6EAF8"/>
          </a:solidFill>
          <a:ln w="12700">
            <a:solidFill>
              <a:srgbClr val="D6EAF8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892040" y="246888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D6FA4"/>
                </a:solidFill>
              </a:rPr>
              <a:t>Linear Probe</a:t>
            </a:r>
            <a:endParaRPr lang="en-US" sz="1000" dirty="0"/>
          </a:p>
        </p:txBody>
      </p:sp>
      <p:sp>
        <p:nvSpPr>
          <p:cNvPr id="45" name="Text 43"/>
          <p:cNvSpPr/>
          <p:nvPr/>
        </p:nvSpPr>
        <p:spPr>
          <a:xfrm>
            <a:off x="4892040" y="2697480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91.61% → 87.50%</a:t>
            </a:r>
            <a:endParaRPr lang="en-US" sz="1100" dirty="0"/>
          </a:p>
        </p:txBody>
      </p:sp>
      <p:sp>
        <p:nvSpPr>
          <p:cNvPr id="46" name="Text 44"/>
          <p:cNvSpPr/>
          <p:nvPr/>
        </p:nvSpPr>
        <p:spPr>
          <a:xfrm>
            <a:off x="7406640" y="2660904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−4.11 pp</a:t>
            </a:r>
            <a:endParaRPr lang="en-US" sz="1400" dirty="0"/>
          </a:p>
        </p:txBody>
      </p:sp>
      <p:sp>
        <p:nvSpPr>
          <p:cNvPr id="47" name="Shape 45"/>
          <p:cNvSpPr/>
          <p:nvPr/>
        </p:nvSpPr>
        <p:spPr>
          <a:xfrm>
            <a:off x="4754880" y="3081528"/>
            <a:ext cx="3977640" cy="594360"/>
          </a:xfrm>
          <a:prstGeom prst="rect">
            <a:avLst/>
          </a:prstGeom>
          <a:solidFill>
            <a:srgbClr val="E8F8F5"/>
          </a:solidFill>
          <a:ln w="12700">
            <a:solidFill>
              <a:srgbClr val="E8F8F5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4892040" y="3127248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E8A7B"/>
                </a:solidFill>
              </a:rPr>
              <a:t>Sim Unfreeze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4892040" y="335584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92.46% → 85.64%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7406640" y="3319272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−6.83 pp</a:t>
            </a:r>
            <a:endParaRPr lang="en-US" sz="1400" dirty="0"/>
          </a:p>
        </p:txBody>
      </p:sp>
      <p:sp>
        <p:nvSpPr>
          <p:cNvPr id="51" name="Shape 49"/>
          <p:cNvSpPr/>
          <p:nvPr/>
        </p:nvSpPr>
        <p:spPr>
          <a:xfrm>
            <a:off x="4754880" y="3739896"/>
            <a:ext cx="3977640" cy="594360"/>
          </a:xfrm>
          <a:prstGeom prst="rect">
            <a:avLst/>
          </a:prstGeom>
          <a:solidFill>
            <a:srgbClr val="D9C8F0"/>
          </a:solidFill>
          <a:ln w="12700">
            <a:solidFill>
              <a:srgbClr val="D9C8F0"/>
            </a:solidFill>
            <a:prstDash val="solid"/>
          </a:ln>
        </p:spPr>
      </p:sp>
      <p:sp>
        <p:nvSpPr>
          <p:cNvPr id="52" name="Text 50"/>
          <p:cNvSpPr/>
          <p:nvPr/>
        </p:nvSpPr>
        <p:spPr>
          <a:xfrm>
            <a:off x="4892040" y="3785616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5B2D8E"/>
                </a:solidFill>
              </a:rPr>
              <a:t>Gradual (3 blk)</a:t>
            </a:r>
            <a:endParaRPr lang="en-US" sz="1000" dirty="0"/>
          </a:p>
        </p:txBody>
      </p:sp>
      <p:sp>
        <p:nvSpPr>
          <p:cNvPr id="53" name="Text 51"/>
          <p:cNvSpPr/>
          <p:nvPr/>
        </p:nvSpPr>
        <p:spPr>
          <a:xfrm>
            <a:off x="4892040" y="4014216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</a:rPr>
              <a:t>92.30% → 87.15%</a:t>
            </a:r>
            <a:endParaRPr lang="en-US" sz="1100" dirty="0"/>
          </a:p>
        </p:txBody>
      </p:sp>
      <p:sp>
        <p:nvSpPr>
          <p:cNvPr id="54" name="Text 52"/>
          <p:cNvSpPr/>
          <p:nvPr/>
        </p:nvSpPr>
        <p:spPr>
          <a:xfrm>
            <a:off x="7406640" y="3977640"/>
            <a:ext cx="1188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400" b="1" dirty="0">
                <a:solidFill>
                  <a:srgbClr val="B52A2A"/>
                </a:solidFill>
              </a:rPr>
              <a:t>−5.15 pp</a:t>
            </a:r>
            <a:endParaRPr lang="en-US" sz="1400" dirty="0"/>
          </a:p>
        </p:txBody>
      </p:sp>
      <p:sp>
        <p:nvSpPr>
          <p:cNvPr id="55" name="Text 53"/>
          <p:cNvSpPr/>
          <p:nvPr/>
        </p:nvSpPr>
        <p:spPr>
          <a:xfrm>
            <a:off x="4892040" y="4224528"/>
            <a:ext cx="374904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C47D0E"/>
                </a:solidFill>
              </a:rPr>
              <a:t>⚡ Sim Unfreeze is most sensitive to data size (−6.83 pp)</a:t>
            </a:r>
            <a:endParaRPr lang="en-US" sz="1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Augmentation Benefit Across Data Fractions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Does augmentation matter more when data is scarce?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4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365760" y="987552"/>
            <a:ext cx="8412480" cy="283464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365760" y="987552"/>
            <a:ext cx="8412480" cy="283464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57200" y="987552"/>
            <a:ext cx="91440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987552"/>
            <a:ext cx="9144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1389888" y="987552"/>
            <a:ext cx="5029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389888" y="987552"/>
            <a:ext cx="5029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Frac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1911096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1911096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no_augs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2752344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2752344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basic_augs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3593592" y="987552"/>
            <a:ext cx="86868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593592" y="987552"/>
            <a:ext cx="86868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aug acc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4480560" y="987552"/>
            <a:ext cx="233172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480560" y="987552"/>
            <a:ext cx="23317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Best config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6830568" y="987552"/>
            <a:ext cx="822960" cy="310896"/>
          </a:xfrm>
          <a:prstGeom prst="rect">
            <a:avLst/>
          </a:prstGeom>
          <a:solidFill>
            <a:srgbClr val="1E3A5F"/>
          </a:solidFill>
          <a:ln w="12700">
            <a:solidFill>
              <a:srgbClr val="1E3A5F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30568" y="987552"/>
            <a:ext cx="82296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</a:rPr>
              <a:t>Gain (no→best)</a:t>
            </a:r>
            <a:endParaRPr lang="en-US" sz="850" dirty="0"/>
          </a:p>
        </p:txBody>
      </p:sp>
      <p:sp>
        <p:nvSpPr>
          <p:cNvPr id="22" name="Shape 20"/>
          <p:cNvSpPr/>
          <p:nvPr/>
        </p:nvSpPr>
        <p:spPr>
          <a:xfrm>
            <a:off x="457200" y="131673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57200" y="131673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389888" y="131673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1389888" y="13167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100%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1911096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911096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91.20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2752344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2752344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91.61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3593592" y="131673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593592" y="131673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92.04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480560" y="131673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480560" y="131673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erasing+jitter+cutmix_high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6830568" y="131673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830568" y="13167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+0.84 pp</a:t>
            </a:r>
            <a:endParaRPr lang="en-US" sz="900" dirty="0"/>
          </a:p>
        </p:txBody>
      </p:sp>
      <p:sp>
        <p:nvSpPr>
          <p:cNvPr id="36" name="Shape 34"/>
          <p:cNvSpPr/>
          <p:nvPr/>
        </p:nvSpPr>
        <p:spPr>
          <a:xfrm>
            <a:off x="457200" y="163677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57200" y="163677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1389888" y="163677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1389888" y="163677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</a:t>
            </a:r>
            <a:endParaRPr lang="en-US" sz="900" dirty="0"/>
          </a:p>
        </p:txBody>
      </p:sp>
      <p:sp>
        <p:nvSpPr>
          <p:cNvPr id="40" name="Shape 38"/>
          <p:cNvSpPr/>
          <p:nvPr/>
        </p:nvSpPr>
        <p:spPr>
          <a:xfrm>
            <a:off x="1911096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1911096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90.19</a:t>
            </a:r>
            <a:endParaRPr lang="en-US" sz="900" dirty="0"/>
          </a:p>
        </p:txBody>
      </p:sp>
      <p:sp>
        <p:nvSpPr>
          <p:cNvPr id="42" name="Shape 40"/>
          <p:cNvSpPr/>
          <p:nvPr/>
        </p:nvSpPr>
        <p:spPr>
          <a:xfrm>
            <a:off x="2752344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2752344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90.43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3593592" y="163677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3593592" y="163677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91.47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4480560" y="163677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4480560" y="163677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erasing+jitter+cutmix_low</a:t>
            </a:r>
            <a:endParaRPr lang="en-US" sz="800" dirty="0"/>
          </a:p>
        </p:txBody>
      </p:sp>
      <p:sp>
        <p:nvSpPr>
          <p:cNvPr id="48" name="Shape 46"/>
          <p:cNvSpPr/>
          <p:nvPr/>
        </p:nvSpPr>
        <p:spPr>
          <a:xfrm>
            <a:off x="6830568" y="163677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6830568" y="16367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+1.28 pp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457200" y="195681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457200" y="195681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1389888" y="195681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1389888" y="195681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</a:t>
            </a:r>
            <a:endParaRPr lang="en-US" sz="900" dirty="0"/>
          </a:p>
        </p:txBody>
      </p:sp>
      <p:sp>
        <p:nvSpPr>
          <p:cNvPr id="54" name="Shape 52"/>
          <p:cNvSpPr/>
          <p:nvPr/>
        </p:nvSpPr>
        <p:spPr>
          <a:xfrm>
            <a:off x="1911096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5" name="Text 53"/>
          <p:cNvSpPr/>
          <p:nvPr/>
        </p:nvSpPr>
        <p:spPr>
          <a:xfrm>
            <a:off x="1911096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88.66</a:t>
            </a:r>
            <a:endParaRPr lang="en-US" sz="900" dirty="0"/>
          </a:p>
        </p:txBody>
      </p:sp>
      <p:sp>
        <p:nvSpPr>
          <p:cNvPr id="56" name="Shape 54"/>
          <p:cNvSpPr/>
          <p:nvPr/>
        </p:nvSpPr>
        <p:spPr>
          <a:xfrm>
            <a:off x="2752344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7" name="Text 55"/>
          <p:cNvSpPr/>
          <p:nvPr/>
        </p:nvSpPr>
        <p:spPr>
          <a:xfrm>
            <a:off x="2752344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89.53</a:t>
            </a:r>
            <a:endParaRPr lang="en-US" sz="900" dirty="0"/>
          </a:p>
        </p:txBody>
      </p:sp>
      <p:sp>
        <p:nvSpPr>
          <p:cNvPr id="58" name="Shape 56"/>
          <p:cNvSpPr/>
          <p:nvPr/>
        </p:nvSpPr>
        <p:spPr>
          <a:xfrm>
            <a:off x="3593592" y="195681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9" name="Text 57"/>
          <p:cNvSpPr/>
          <p:nvPr/>
        </p:nvSpPr>
        <p:spPr>
          <a:xfrm>
            <a:off x="3593592" y="195681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89.53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4480560" y="195681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1" name="Text 59"/>
          <p:cNvSpPr/>
          <p:nvPr/>
        </p:nvSpPr>
        <p:spPr>
          <a:xfrm>
            <a:off x="4480560" y="195681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basic_augs</a:t>
            </a:r>
            <a:endParaRPr lang="en-US" sz="800" dirty="0"/>
          </a:p>
        </p:txBody>
      </p:sp>
      <p:sp>
        <p:nvSpPr>
          <p:cNvPr id="62" name="Shape 60"/>
          <p:cNvSpPr/>
          <p:nvPr/>
        </p:nvSpPr>
        <p:spPr>
          <a:xfrm>
            <a:off x="6830568" y="195681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3" name="Text 61"/>
          <p:cNvSpPr/>
          <p:nvPr/>
        </p:nvSpPr>
        <p:spPr>
          <a:xfrm>
            <a:off x="6830568" y="19568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+0.87 pp</a:t>
            </a:r>
            <a:endParaRPr lang="en-US" sz="900" dirty="0"/>
          </a:p>
        </p:txBody>
      </p:sp>
      <p:sp>
        <p:nvSpPr>
          <p:cNvPr id="64" name="Shape 62"/>
          <p:cNvSpPr/>
          <p:nvPr/>
        </p:nvSpPr>
        <p:spPr>
          <a:xfrm>
            <a:off x="457200" y="227685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5" name="Text 63"/>
          <p:cNvSpPr/>
          <p:nvPr/>
        </p:nvSpPr>
        <p:spPr>
          <a:xfrm>
            <a:off x="457200" y="227685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Linear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1389888" y="227685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7" name="Text 65"/>
          <p:cNvSpPr/>
          <p:nvPr/>
        </p:nvSpPr>
        <p:spPr>
          <a:xfrm>
            <a:off x="1389888" y="227685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1911096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69" name="Text 67"/>
          <p:cNvSpPr/>
          <p:nvPr/>
        </p:nvSpPr>
        <p:spPr>
          <a:xfrm>
            <a:off x="1911096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87.16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2752344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1" name="Text 69"/>
          <p:cNvSpPr/>
          <p:nvPr/>
        </p:nvSpPr>
        <p:spPr>
          <a:xfrm>
            <a:off x="2752344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87.74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3593592" y="227685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3" name="Text 71"/>
          <p:cNvSpPr/>
          <p:nvPr/>
        </p:nvSpPr>
        <p:spPr>
          <a:xfrm>
            <a:off x="3593592" y="227685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88.44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4480560" y="227685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5" name="Text 73"/>
          <p:cNvSpPr/>
          <p:nvPr/>
        </p:nvSpPr>
        <p:spPr>
          <a:xfrm>
            <a:off x="4480560" y="227685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erasing+jitter+cutmix_high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830568" y="227685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77" name="Text 75"/>
          <p:cNvSpPr/>
          <p:nvPr/>
        </p:nvSpPr>
        <p:spPr>
          <a:xfrm>
            <a:off x="6830568" y="227685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+1.28 pp</a:t>
            </a:r>
            <a:endParaRPr lang="en-US" sz="900" dirty="0"/>
          </a:p>
        </p:txBody>
      </p:sp>
      <p:sp>
        <p:nvSpPr>
          <p:cNvPr id="78" name="Shape 76"/>
          <p:cNvSpPr/>
          <p:nvPr/>
        </p:nvSpPr>
        <p:spPr>
          <a:xfrm>
            <a:off x="457200" y="259689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79" name="Text 77"/>
          <p:cNvSpPr/>
          <p:nvPr/>
        </p:nvSpPr>
        <p:spPr>
          <a:xfrm>
            <a:off x="457200" y="259689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80" name="Shape 78"/>
          <p:cNvSpPr/>
          <p:nvPr/>
        </p:nvSpPr>
        <p:spPr>
          <a:xfrm>
            <a:off x="1389888" y="259689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1" name="Text 79"/>
          <p:cNvSpPr/>
          <p:nvPr/>
        </p:nvSpPr>
        <p:spPr>
          <a:xfrm>
            <a:off x="1389888" y="259689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100%</a:t>
            </a:r>
            <a:endParaRPr lang="en-US" sz="900" dirty="0"/>
          </a:p>
        </p:txBody>
      </p:sp>
      <p:sp>
        <p:nvSpPr>
          <p:cNvPr id="82" name="Shape 80"/>
          <p:cNvSpPr/>
          <p:nvPr/>
        </p:nvSpPr>
        <p:spPr>
          <a:xfrm>
            <a:off x="1911096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3" name="Text 81"/>
          <p:cNvSpPr/>
          <p:nvPr/>
        </p:nvSpPr>
        <p:spPr>
          <a:xfrm>
            <a:off x="1911096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91.50</a:t>
            </a:r>
            <a:endParaRPr lang="en-US" sz="900" dirty="0"/>
          </a:p>
        </p:txBody>
      </p:sp>
      <p:sp>
        <p:nvSpPr>
          <p:cNvPr id="84" name="Shape 82"/>
          <p:cNvSpPr/>
          <p:nvPr/>
        </p:nvSpPr>
        <p:spPr>
          <a:xfrm>
            <a:off x="2752344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5" name="Text 83"/>
          <p:cNvSpPr/>
          <p:nvPr/>
        </p:nvSpPr>
        <p:spPr>
          <a:xfrm>
            <a:off x="2752344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92.26</a:t>
            </a:r>
            <a:endParaRPr lang="en-US" sz="900" dirty="0"/>
          </a:p>
        </p:txBody>
      </p:sp>
      <p:sp>
        <p:nvSpPr>
          <p:cNvPr id="86" name="Shape 84"/>
          <p:cNvSpPr/>
          <p:nvPr/>
        </p:nvSpPr>
        <p:spPr>
          <a:xfrm>
            <a:off x="3593592" y="259689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7" name="Text 85"/>
          <p:cNvSpPr/>
          <p:nvPr/>
        </p:nvSpPr>
        <p:spPr>
          <a:xfrm>
            <a:off x="3593592" y="259689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93.16</a:t>
            </a:r>
            <a:endParaRPr lang="en-US" sz="900" dirty="0"/>
          </a:p>
        </p:txBody>
      </p:sp>
      <p:sp>
        <p:nvSpPr>
          <p:cNvPr id="88" name="Shape 86"/>
          <p:cNvSpPr/>
          <p:nvPr/>
        </p:nvSpPr>
        <p:spPr>
          <a:xfrm>
            <a:off x="4480560" y="259689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9" name="Text 87"/>
          <p:cNvSpPr/>
          <p:nvPr/>
        </p:nvSpPr>
        <p:spPr>
          <a:xfrm>
            <a:off x="4480560" y="259689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 (no aug wins!)</a:t>
            </a:r>
            <a:endParaRPr lang="en-US" sz="800" dirty="0"/>
          </a:p>
        </p:txBody>
      </p:sp>
      <p:sp>
        <p:nvSpPr>
          <p:cNvPr id="90" name="Shape 88"/>
          <p:cNvSpPr/>
          <p:nvPr/>
        </p:nvSpPr>
        <p:spPr>
          <a:xfrm>
            <a:off x="6830568" y="259689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91" name="Text 89"/>
          <p:cNvSpPr/>
          <p:nvPr/>
        </p:nvSpPr>
        <p:spPr>
          <a:xfrm>
            <a:off x="6830568" y="259689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7A4A"/>
                </a:solidFill>
              </a:rPr>
              <a:t>+1.66 pp</a:t>
            </a:r>
            <a:endParaRPr lang="en-US" sz="900" dirty="0"/>
          </a:p>
        </p:txBody>
      </p:sp>
      <p:sp>
        <p:nvSpPr>
          <p:cNvPr id="92" name="Shape 90"/>
          <p:cNvSpPr/>
          <p:nvPr/>
        </p:nvSpPr>
        <p:spPr>
          <a:xfrm>
            <a:off x="457200" y="291693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3" name="Text 91"/>
          <p:cNvSpPr/>
          <p:nvPr/>
        </p:nvSpPr>
        <p:spPr>
          <a:xfrm>
            <a:off x="457200" y="291693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94" name="Shape 92"/>
          <p:cNvSpPr/>
          <p:nvPr/>
        </p:nvSpPr>
        <p:spPr>
          <a:xfrm>
            <a:off x="1389888" y="291693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5" name="Text 93"/>
          <p:cNvSpPr/>
          <p:nvPr/>
        </p:nvSpPr>
        <p:spPr>
          <a:xfrm>
            <a:off x="1389888" y="291693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50%</a:t>
            </a:r>
            <a:endParaRPr lang="en-US" sz="900" dirty="0"/>
          </a:p>
        </p:txBody>
      </p:sp>
      <p:sp>
        <p:nvSpPr>
          <p:cNvPr id="96" name="Shape 94"/>
          <p:cNvSpPr/>
          <p:nvPr/>
        </p:nvSpPr>
        <p:spPr>
          <a:xfrm>
            <a:off x="1911096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7" name="Text 95"/>
          <p:cNvSpPr/>
          <p:nvPr/>
        </p:nvSpPr>
        <p:spPr>
          <a:xfrm>
            <a:off x="1911096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91.85</a:t>
            </a:r>
            <a:endParaRPr lang="en-US" sz="900" dirty="0"/>
          </a:p>
        </p:txBody>
      </p:sp>
      <p:sp>
        <p:nvSpPr>
          <p:cNvPr id="98" name="Shape 96"/>
          <p:cNvSpPr/>
          <p:nvPr/>
        </p:nvSpPr>
        <p:spPr>
          <a:xfrm>
            <a:off x="2752344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99" name="Text 97"/>
          <p:cNvSpPr/>
          <p:nvPr/>
        </p:nvSpPr>
        <p:spPr>
          <a:xfrm>
            <a:off x="2752344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91.82</a:t>
            </a:r>
            <a:endParaRPr lang="en-US" sz="900" dirty="0"/>
          </a:p>
        </p:txBody>
      </p:sp>
      <p:sp>
        <p:nvSpPr>
          <p:cNvPr id="100" name="Shape 98"/>
          <p:cNvSpPr/>
          <p:nvPr/>
        </p:nvSpPr>
        <p:spPr>
          <a:xfrm>
            <a:off x="3593592" y="291693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3593592" y="291693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91.85</a:t>
            </a:r>
            <a:endParaRPr lang="en-US" sz="900" dirty="0"/>
          </a:p>
        </p:txBody>
      </p:sp>
      <p:sp>
        <p:nvSpPr>
          <p:cNvPr id="102" name="Shape 100"/>
          <p:cNvSpPr/>
          <p:nvPr/>
        </p:nvSpPr>
        <p:spPr>
          <a:xfrm>
            <a:off x="4480560" y="291693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4480560" y="291693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</a:t>
            </a:r>
            <a:endParaRPr lang="en-US" sz="800" dirty="0"/>
          </a:p>
        </p:txBody>
      </p:sp>
      <p:sp>
        <p:nvSpPr>
          <p:cNvPr id="104" name="Shape 102"/>
          <p:cNvSpPr/>
          <p:nvPr/>
        </p:nvSpPr>
        <p:spPr>
          <a:xfrm>
            <a:off x="6830568" y="291693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05" name="Text 103"/>
          <p:cNvSpPr/>
          <p:nvPr/>
        </p:nvSpPr>
        <p:spPr>
          <a:xfrm>
            <a:off x="6830568" y="291693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</a:rPr>
              <a:t>+0.00 pp</a:t>
            </a:r>
            <a:endParaRPr lang="en-US" sz="900" dirty="0"/>
          </a:p>
        </p:txBody>
      </p:sp>
      <p:sp>
        <p:nvSpPr>
          <p:cNvPr id="106" name="Shape 104"/>
          <p:cNvSpPr/>
          <p:nvPr/>
        </p:nvSpPr>
        <p:spPr>
          <a:xfrm>
            <a:off x="457200" y="3236976"/>
            <a:ext cx="91440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457200" y="323697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108" name="Shape 106"/>
          <p:cNvSpPr/>
          <p:nvPr/>
        </p:nvSpPr>
        <p:spPr>
          <a:xfrm>
            <a:off x="1389888" y="3236976"/>
            <a:ext cx="5029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1389888" y="323697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25%</a:t>
            </a:r>
            <a:endParaRPr lang="en-US" sz="900" dirty="0"/>
          </a:p>
        </p:txBody>
      </p:sp>
      <p:sp>
        <p:nvSpPr>
          <p:cNvPr id="110" name="Shape 108"/>
          <p:cNvSpPr/>
          <p:nvPr/>
        </p:nvSpPr>
        <p:spPr>
          <a:xfrm>
            <a:off x="1911096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1911096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2" name="Shape 110"/>
          <p:cNvSpPr/>
          <p:nvPr/>
        </p:nvSpPr>
        <p:spPr>
          <a:xfrm>
            <a:off x="2752344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2752344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4" name="Shape 112"/>
          <p:cNvSpPr/>
          <p:nvPr/>
        </p:nvSpPr>
        <p:spPr>
          <a:xfrm>
            <a:off x="3593592" y="3236976"/>
            <a:ext cx="86868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593592" y="323697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90.65</a:t>
            </a:r>
            <a:endParaRPr lang="en-US" sz="900" dirty="0"/>
          </a:p>
        </p:txBody>
      </p:sp>
      <p:sp>
        <p:nvSpPr>
          <p:cNvPr id="116" name="Shape 114"/>
          <p:cNvSpPr/>
          <p:nvPr/>
        </p:nvSpPr>
        <p:spPr>
          <a:xfrm>
            <a:off x="4480560" y="3236976"/>
            <a:ext cx="233172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480560" y="323697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no_augs</a:t>
            </a:r>
            <a:endParaRPr lang="en-US" sz="800" dirty="0"/>
          </a:p>
        </p:txBody>
      </p:sp>
      <p:sp>
        <p:nvSpPr>
          <p:cNvPr id="118" name="Shape 116"/>
          <p:cNvSpPr/>
          <p:nvPr/>
        </p:nvSpPr>
        <p:spPr>
          <a:xfrm>
            <a:off x="6830568" y="3236976"/>
            <a:ext cx="822960" cy="30175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830568" y="323697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4A5568"/>
                </a:solidFill>
              </a:rPr>
              <a:t>+0.00 pp</a:t>
            </a:r>
            <a:endParaRPr lang="en-US" sz="900" dirty="0"/>
          </a:p>
        </p:txBody>
      </p:sp>
      <p:sp>
        <p:nvSpPr>
          <p:cNvPr id="120" name="Shape 118"/>
          <p:cNvSpPr/>
          <p:nvPr/>
        </p:nvSpPr>
        <p:spPr>
          <a:xfrm>
            <a:off x="457200" y="3557016"/>
            <a:ext cx="91440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457200" y="3557016"/>
            <a:ext cx="91440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D6FA4"/>
                </a:solidFill>
              </a:rPr>
              <a:t>Gradual</a:t>
            </a:r>
            <a:endParaRPr lang="en-US" sz="900" dirty="0"/>
          </a:p>
        </p:txBody>
      </p:sp>
      <p:sp>
        <p:nvSpPr>
          <p:cNvPr id="122" name="Shape 120"/>
          <p:cNvSpPr/>
          <p:nvPr/>
        </p:nvSpPr>
        <p:spPr>
          <a:xfrm>
            <a:off x="1389888" y="3557016"/>
            <a:ext cx="5029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1389888" y="3557016"/>
            <a:ext cx="5029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4A5568"/>
                </a:solidFill>
              </a:rPr>
              <a:t>10%</a:t>
            </a:r>
            <a:endParaRPr lang="en-US" sz="900" dirty="0"/>
          </a:p>
        </p:txBody>
      </p:sp>
      <p:sp>
        <p:nvSpPr>
          <p:cNvPr id="124" name="Shape 122"/>
          <p:cNvSpPr/>
          <p:nvPr/>
        </p:nvSpPr>
        <p:spPr>
          <a:xfrm>
            <a:off x="1911096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911096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86.64</a:t>
            </a:r>
            <a:endParaRPr lang="en-US" sz="900" dirty="0"/>
          </a:p>
        </p:txBody>
      </p:sp>
      <p:sp>
        <p:nvSpPr>
          <p:cNvPr id="126" name="Shape 124"/>
          <p:cNvSpPr/>
          <p:nvPr/>
        </p:nvSpPr>
        <p:spPr>
          <a:xfrm>
            <a:off x="2752344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2752344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86.45</a:t>
            </a:r>
            <a:endParaRPr lang="en-US" sz="900" dirty="0"/>
          </a:p>
        </p:txBody>
      </p:sp>
      <p:sp>
        <p:nvSpPr>
          <p:cNvPr id="128" name="Shape 126"/>
          <p:cNvSpPr/>
          <p:nvPr/>
        </p:nvSpPr>
        <p:spPr>
          <a:xfrm>
            <a:off x="3593592" y="3557016"/>
            <a:ext cx="86868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3593592" y="3557016"/>
            <a:ext cx="8686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D1B2A"/>
                </a:solidFill>
              </a:rPr>
              <a:t>87.54</a:t>
            </a:r>
            <a:endParaRPr lang="en-US" sz="900" dirty="0"/>
          </a:p>
        </p:txBody>
      </p:sp>
      <p:sp>
        <p:nvSpPr>
          <p:cNvPr id="130" name="Shape 128"/>
          <p:cNvSpPr/>
          <p:nvPr/>
        </p:nvSpPr>
        <p:spPr>
          <a:xfrm>
            <a:off x="4480560" y="3557016"/>
            <a:ext cx="233172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4480560" y="3557016"/>
            <a:ext cx="233172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erasing+jitter+cutmix_low</a:t>
            </a:r>
            <a:endParaRPr lang="en-US" sz="800" dirty="0"/>
          </a:p>
        </p:txBody>
      </p:sp>
      <p:sp>
        <p:nvSpPr>
          <p:cNvPr id="132" name="Shape 130"/>
          <p:cNvSpPr/>
          <p:nvPr/>
        </p:nvSpPr>
        <p:spPr>
          <a:xfrm>
            <a:off x="6830568" y="3557016"/>
            <a:ext cx="822960" cy="301752"/>
          </a:xfrm>
          <a:prstGeom prst="rect">
            <a:avLst/>
          </a:prstGeom>
          <a:solidFill>
            <a:srgbClr val="F7FAFD"/>
          </a:solidFill>
          <a:ln w="12700">
            <a:solidFill>
              <a:srgbClr val="F7FAFD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830568" y="3557016"/>
            <a:ext cx="82296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C47D0E"/>
                </a:solidFill>
              </a:rPr>
              <a:t>+0.90 pp</a:t>
            </a:r>
            <a:endParaRPr lang="en-US" sz="900" dirty="0"/>
          </a:p>
        </p:txBody>
      </p:sp>
      <p:sp>
        <p:nvSpPr>
          <p:cNvPr id="134" name="Shape 132"/>
          <p:cNvSpPr/>
          <p:nvPr/>
        </p:nvSpPr>
        <p:spPr>
          <a:xfrm>
            <a:off x="365760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365760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6" name="Shape 134"/>
          <p:cNvSpPr/>
          <p:nvPr/>
        </p:nvSpPr>
        <p:spPr>
          <a:xfrm>
            <a:off x="365760" y="3950208"/>
            <a:ext cx="54864" cy="896112"/>
          </a:xfrm>
          <a:prstGeom prst="rect">
            <a:avLst/>
          </a:prstGeom>
          <a:solidFill>
            <a:srgbClr val="1D6FA4"/>
          </a:solidFill>
          <a:ln w="12700">
            <a:solidFill>
              <a:srgbClr val="1D6FA4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493776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Probe: augs consistently help (+0.84–1.28 pp). Benefit roughly stable across fractions.</a:t>
            </a:r>
            <a:endParaRPr lang="en-US" sz="900" dirty="0"/>
          </a:p>
        </p:txBody>
      </p:sp>
      <p:sp>
        <p:nvSpPr>
          <p:cNvPr id="138" name="Shape 136"/>
          <p:cNvSpPr/>
          <p:nvPr/>
        </p:nvSpPr>
        <p:spPr>
          <a:xfrm>
            <a:off x="3182112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9" name="Shape 137"/>
          <p:cNvSpPr/>
          <p:nvPr/>
        </p:nvSpPr>
        <p:spPr>
          <a:xfrm>
            <a:off x="3182112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0" name="Shape 138"/>
          <p:cNvSpPr/>
          <p:nvPr/>
        </p:nvSpPr>
        <p:spPr>
          <a:xfrm>
            <a:off x="3182112" y="3950208"/>
            <a:ext cx="54864" cy="896112"/>
          </a:xfrm>
          <a:prstGeom prst="rect">
            <a:avLst/>
          </a:prstGeom>
          <a:solidFill>
            <a:srgbClr val="5B2D8E"/>
          </a:solidFill>
          <a:ln w="12700">
            <a:solidFill>
              <a:srgbClr val="5B2D8E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310128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Gradual: no_augs wins at 100%–25% (pretrained features + phased unfreezing already regularises). Augs help only at 10%.</a:t>
            </a:r>
            <a:endParaRPr lang="en-US" sz="900" dirty="0"/>
          </a:p>
        </p:txBody>
      </p:sp>
      <p:sp>
        <p:nvSpPr>
          <p:cNvPr id="142" name="Shape 140"/>
          <p:cNvSpPr/>
          <p:nvPr/>
        </p:nvSpPr>
        <p:spPr>
          <a:xfrm>
            <a:off x="5998464" y="3950208"/>
            <a:ext cx="2697480" cy="8961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3" name="Shape 141"/>
          <p:cNvSpPr/>
          <p:nvPr/>
        </p:nvSpPr>
        <p:spPr>
          <a:xfrm>
            <a:off x="5998464" y="3950208"/>
            <a:ext cx="2697480" cy="896112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44" name="Shape 142"/>
          <p:cNvSpPr/>
          <p:nvPr/>
        </p:nvSpPr>
        <p:spPr>
          <a:xfrm>
            <a:off x="5998464" y="3950208"/>
            <a:ext cx="54864" cy="896112"/>
          </a:xfrm>
          <a:prstGeom prst="rect">
            <a:avLst/>
          </a:prstGeom>
          <a:solidFill>
            <a:srgbClr val="C47D0E"/>
          </a:solidFill>
          <a:ln w="12700">
            <a:solidFill>
              <a:srgbClr val="C47D0E"/>
            </a:solidFill>
            <a:prstDash val="solid"/>
          </a:ln>
        </p:spPr>
      </p:sp>
      <p:sp>
        <p:nvSpPr>
          <p:cNvPr id="145" name="Text 143"/>
          <p:cNvSpPr/>
          <p:nvPr/>
        </p:nvSpPr>
        <p:spPr>
          <a:xfrm>
            <a:off x="6126480" y="4005072"/>
            <a:ext cx="2487168" cy="7863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Augmentation becomes critical for all methods only at 10% data, where the model is most at risk of overfitting.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7315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L2 Regularisation: Standard (1e-4) vs Strong (1e-2)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411480" y="603504"/>
            <a:ext cx="6400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FA3B1"/>
                </a:solidFill>
              </a:rPr>
              <a:t>Does stronger weight decay help when training data is limited?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863840" y="164592"/>
            <a:ext cx="1188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FA3B1"/>
                </a:solidFill>
              </a:rPr>
              <a:t>5 / 12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411480" y="896112"/>
            <a:ext cx="8321040" cy="0"/>
          </a:xfrm>
          <a:prstGeom prst="line">
            <a:avLst/>
          </a:prstGeom>
          <a:noFill/>
          <a:ln w="9525">
            <a:solidFill>
              <a:srgbClr val="E2E8F0"/>
            </a:solidFill>
            <a:prstDash val="solid"/>
          </a:ln>
        </p:spPr>
      </p:sp>
      <p:graphicFrame>
        <p:nvGraphicFramePr>
          <p:cNvPr id="6" name="Chart 0"/>
          <p:cNvGraphicFramePr/>
          <p:nvPr/>
        </p:nvGraphicFramePr>
        <p:xfrm>
          <a:off x="365760" y="1005840"/>
          <a:ext cx="5760720" cy="3200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7" name="Shape 4"/>
          <p:cNvSpPr/>
          <p:nvPr/>
        </p:nvSpPr>
        <p:spPr>
          <a:xfrm>
            <a:off x="6263640" y="1005840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263640" y="1005840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6400800" y="1078992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4A"/>
                </a:solidFill>
              </a:rPr>
              <a:t>✓ Strong L2 helps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400800" y="1371600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25%: +0.46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50%: +0.44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Sim @ 25%: +0.18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10%: +0.24 pp</a:t>
            </a:r>
            <a:endParaRPr lang="en-US" sz="900" dirty="0"/>
          </a:p>
        </p:txBody>
      </p:sp>
      <p:sp>
        <p:nvSpPr>
          <p:cNvPr id="11" name="Shape 8"/>
          <p:cNvSpPr/>
          <p:nvPr/>
        </p:nvSpPr>
        <p:spPr>
          <a:xfrm>
            <a:off x="6263640" y="2304288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6263640" y="2304288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Text 10"/>
          <p:cNvSpPr/>
          <p:nvPr/>
        </p:nvSpPr>
        <p:spPr>
          <a:xfrm>
            <a:off x="6400800" y="2377440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B52A2A"/>
                </a:solidFill>
              </a:rPr>
              <a:t>✗ Strong L2 hurts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6400800" y="2670048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25%: −0.77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Gradual @ 50%: −0.42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Sim @ 50%: −0.47 pp</a:t>
            </a:r>
            <a:endParaRPr lang="en-US" sz="9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Linear @ 10%: −0.33 pp</a:t>
            </a:r>
            <a:endParaRPr lang="en-US" sz="900" dirty="0"/>
          </a:p>
        </p:txBody>
      </p:sp>
      <p:sp>
        <p:nvSpPr>
          <p:cNvPr id="15" name="Shape 12"/>
          <p:cNvSpPr/>
          <p:nvPr/>
        </p:nvSpPr>
        <p:spPr>
          <a:xfrm>
            <a:off x="6263640" y="3602736"/>
            <a:ext cx="2468880" cy="118872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263640" y="3602736"/>
            <a:ext cx="2468880" cy="1188720"/>
          </a:xfrm>
          <a:prstGeom prst="rect">
            <a:avLst/>
          </a:prstGeom>
          <a:ln w="9525">
            <a:solidFill>
              <a:srgbClr val="D0DCE8"/>
            </a:solidFill>
            <a:prstDash val="solid"/>
          </a:ln>
          <a:effectLst>
            <a:outerShdw blurRad="76200" dist="254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6400800" y="3675888"/>
            <a:ext cx="21945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47D0E"/>
                </a:solidFill>
              </a:rPr>
              <a:t>⚡ Verdict</a:t>
            </a:r>
            <a:endParaRPr lang="en-US" sz="1100" dirty="0"/>
          </a:p>
        </p:txBody>
      </p:sp>
      <p:sp>
        <p:nvSpPr>
          <p:cNvPr id="18" name="Text 15"/>
          <p:cNvSpPr/>
          <p:nvPr/>
        </p:nvSpPr>
        <p:spPr>
          <a:xfrm>
            <a:off x="6400800" y="3968496"/>
            <a:ext cx="2194560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900" dirty="0">
                <a:solidFill>
                  <a:srgbClr val="0D1B2A"/>
                </a:solidFill>
              </a:rPr>
              <a:t>Benefits are small and inconsistent. Gradual Unfreeze already regularises through phased unfreezing — extra L2 is mostly redundant or harmful.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data study — accuracy vs training data fraction</a:t>
            </a:r>
            <a:endParaRPr lang="en-US" sz="21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20040" y="822960"/>
          <a:ext cx="502920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532120" y="822960"/>
            <a:ext cx="3246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532120" y="822960"/>
            <a:ext cx="324612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669280" y="96926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Gradual most robust</a:t>
            </a:r>
            <a:endParaRPr lang="en-US" sz="1150" dirty="0"/>
          </a:p>
        </p:txBody>
      </p:sp>
      <p:sp>
        <p:nvSpPr>
          <p:cNvPr id="7" name="Text 4"/>
          <p:cNvSpPr/>
          <p:nvPr/>
        </p:nvSpPr>
        <p:spPr>
          <a:xfrm>
            <a:off x="5669280" y="127101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at 10% (87.2%) and 25% (90.1%). Phased schedule acts as built-in regularisation.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532120" y="1828800"/>
            <a:ext cx="3246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532120" y="1828800"/>
            <a:ext cx="324612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669280" y="197510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 steepest drop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5669280" y="227685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Highest at 100% (92.5%) but sharpest degradation to 10% — sensitive to data volume.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532120" y="2834640"/>
            <a:ext cx="3246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532120" y="2834640"/>
            <a:ext cx="3246120" cy="640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298094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L2 strong (1e-2) helps</a:t>
            </a:r>
            <a:endParaRPr lang="en-US" sz="1150" dirty="0"/>
          </a:p>
        </p:txBody>
      </p:sp>
      <p:sp>
        <p:nvSpPr>
          <p:cNvPr id="15" name="Text 12"/>
          <p:cNvSpPr/>
          <p:nvPr/>
        </p:nvSpPr>
        <p:spPr>
          <a:xfrm>
            <a:off x="5669280" y="328269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LP +0.46pp at 25%, Gradual +0.24pp at 10%. Stronger regularisation beneficial when data scarce.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532120" y="3840480"/>
            <a:ext cx="324612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7" name="Shape 14"/>
          <p:cNvSpPr/>
          <p:nvPr/>
        </p:nvSpPr>
        <p:spPr>
          <a:xfrm>
            <a:off x="5532120" y="3840480"/>
            <a:ext cx="3246120" cy="640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5669280" y="3986784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Augmentation value</a:t>
            </a:r>
            <a:endParaRPr lang="en-US" sz="1150" dirty="0"/>
          </a:p>
        </p:txBody>
      </p:sp>
      <p:sp>
        <p:nvSpPr>
          <p:cNvPr id="19" name="Text 16"/>
          <p:cNvSpPr/>
          <p:nvPr/>
        </p:nvSpPr>
        <p:spPr>
          <a:xfrm>
            <a:off x="5669280" y="4288536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Benefit is consistent but not amplified under low data — architecture choice matters more.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46304" y="24917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 imbalance — 20% cat </a:t>
            </a:r>
            <a:r>
              <a:rPr lang="en-US" sz="2400" b="1" dirty="0" err="1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undersampling</a:t>
            </a:r>
            <a:r>
              <a:rPr lang="en-US" sz="2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· compensating strategies</a:t>
            </a:r>
            <a:endParaRPr lang="en-US" sz="2400" dirty="0"/>
          </a:p>
        </p:txBody>
      </p:sp>
      <p:sp>
        <p:nvSpPr>
          <p:cNvPr id="3" name="Text 1"/>
          <p:cNvSpPr/>
          <p:nvPr/>
        </p:nvSpPr>
        <p:spPr>
          <a:xfrm>
            <a:off x="347472" y="745236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only  ·  20% cat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9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0292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5486400" y="868680"/>
            <a:ext cx="338328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486400" y="868680"/>
            <a:ext cx="338328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486400" y="868680"/>
            <a:ext cx="3383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Cat / Dog F1 Gap (aug only)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5532120" y="1261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3550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Cat F1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0408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Dog F1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7726680" y="1261872"/>
            <a:ext cx="658368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Gap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5486400" y="1481328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532120" y="151790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Lin/Base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6327648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0.795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7022592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0.936</a:t>
            </a:r>
            <a:endParaRPr lang="en-US" sz="800" dirty="0"/>
          </a:p>
        </p:txBody>
      </p:sp>
      <p:sp>
        <p:nvSpPr>
          <p:cNvPr id="17" name="Text 14"/>
          <p:cNvSpPr/>
          <p:nvPr/>
        </p:nvSpPr>
        <p:spPr>
          <a:xfrm>
            <a:off x="7717536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0.141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5486400" y="1819656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5532120" y="185623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Lin/WCE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6327648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0.799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7022592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0.934</a:t>
            </a: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7717536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0.134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5486400" y="2157984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532120" y="219456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Lin/OS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6327648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0.815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7022592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0.938</a:t>
            </a:r>
            <a:endParaRPr lang="en-US" sz="800" dirty="0"/>
          </a:p>
        </p:txBody>
      </p:sp>
      <p:sp>
        <p:nvSpPr>
          <p:cNvPr id="27" name="Text 24"/>
          <p:cNvSpPr/>
          <p:nvPr/>
        </p:nvSpPr>
        <p:spPr>
          <a:xfrm>
            <a:off x="7717536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0.123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5486400" y="2496312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5532120" y="253288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Sim/Base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6327648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0.832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7022592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0.939</a:t>
            </a:r>
            <a:endParaRPr lang="en-US" sz="800" dirty="0"/>
          </a:p>
        </p:txBody>
      </p:sp>
      <p:sp>
        <p:nvSpPr>
          <p:cNvPr id="32" name="Text 29"/>
          <p:cNvSpPr/>
          <p:nvPr/>
        </p:nvSpPr>
        <p:spPr>
          <a:xfrm>
            <a:off x="7717536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0.106</a:t>
            </a:r>
            <a:endParaRPr lang="en-US" sz="850" dirty="0"/>
          </a:p>
        </p:txBody>
      </p:sp>
      <p:sp>
        <p:nvSpPr>
          <p:cNvPr id="33" name="Shape 30"/>
          <p:cNvSpPr/>
          <p:nvPr/>
        </p:nvSpPr>
        <p:spPr>
          <a:xfrm>
            <a:off x="5486400" y="2834640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5532120" y="2871216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Sim/WCE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6327648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0.819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7022592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0.940</a:t>
            </a:r>
            <a:endParaRPr lang="en-US" sz="800" dirty="0"/>
          </a:p>
        </p:txBody>
      </p:sp>
      <p:sp>
        <p:nvSpPr>
          <p:cNvPr id="37" name="Text 34"/>
          <p:cNvSpPr/>
          <p:nvPr/>
        </p:nvSpPr>
        <p:spPr>
          <a:xfrm>
            <a:off x="7717536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0.121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5486400" y="3172968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39" name="Text 36"/>
          <p:cNvSpPr/>
          <p:nvPr/>
        </p:nvSpPr>
        <p:spPr>
          <a:xfrm>
            <a:off x="5532120" y="3209544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Sim/OS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6327648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0.842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7022592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0.930</a:t>
            </a:r>
            <a:endParaRPr lang="en-US" sz="800" dirty="0"/>
          </a:p>
        </p:txBody>
      </p:sp>
      <p:sp>
        <p:nvSpPr>
          <p:cNvPr id="42" name="Text 39"/>
          <p:cNvSpPr/>
          <p:nvPr/>
        </p:nvSpPr>
        <p:spPr>
          <a:xfrm>
            <a:off x="7717536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0.088</a:t>
            </a:r>
            <a:endParaRPr lang="en-US" sz="850" dirty="0"/>
          </a:p>
        </p:txBody>
      </p:sp>
      <p:sp>
        <p:nvSpPr>
          <p:cNvPr id="43" name="Shape 40"/>
          <p:cNvSpPr/>
          <p:nvPr/>
        </p:nvSpPr>
        <p:spPr>
          <a:xfrm>
            <a:off x="5486400" y="3511296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5532120" y="3547872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Grad/Base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6327648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0.828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7022592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0.936</a:t>
            </a:r>
            <a:endParaRPr lang="en-US" sz="800" dirty="0"/>
          </a:p>
        </p:txBody>
      </p:sp>
      <p:sp>
        <p:nvSpPr>
          <p:cNvPr id="47" name="Text 44"/>
          <p:cNvSpPr/>
          <p:nvPr/>
        </p:nvSpPr>
        <p:spPr>
          <a:xfrm>
            <a:off x="7717536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0.109</a:t>
            </a:r>
            <a:endParaRPr lang="en-US" sz="850" dirty="0"/>
          </a:p>
        </p:txBody>
      </p:sp>
      <p:sp>
        <p:nvSpPr>
          <p:cNvPr id="48" name="Shape 45"/>
          <p:cNvSpPr/>
          <p:nvPr/>
        </p:nvSpPr>
        <p:spPr>
          <a:xfrm>
            <a:off x="5486400" y="3849624"/>
            <a:ext cx="338328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49" name="Text 46"/>
          <p:cNvSpPr/>
          <p:nvPr/>
        </p:nvSpPr>
        <p:spPr>
          <a:xfrm>
            <a:off x="5532120" y="3886200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Grad/WCE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6327648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0.822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7022592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0.931</a:t>
            </a:r>
            <a:endParaRPr lang="en-US" sz="800" dirty="0"/>
          </a:p>
        </p:txBody>
      </p:sp>
      <p:sp>
        <p:nvSpPr>
          <p:cNvPr id="52" name="Text 49"/>
          <p:cNvSpPr/>
          <p:nvPr/>
        </p:nvSpPr>
        <p:spPr>
          <a:xfrm>
            <a:off x="7717536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0.109</a:t>
            </a:r>
            <a:endParaRPr lang="en-US" sz="850" dirty="0"/>
          </a:p>
        </p:txBody>
      </p:sp>
      <p:sp>
        <p:nvSpPr>
          <p:cNvPr id="53" name="Shape 50"/>
          <p:cNvSpPr/>
          <p:nvPr/>
        </p:nvSpPr>
        <p:spPr>
          <a:xfrm>
            <a:off x="5486400" y="4187952"/>
            <a:ext cx="338328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Text 51"/>
          <p:cNvSpPr/>
          <p:nvPr/>
        </p:nvSpPr>
        <p:spPr>
          <a:xfrm>
            <a:off x="5532120" y="4224528"/>
            <a:ext cx="7772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Grad/OS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6327648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D6FA4"/>
                </a:solidFill>
              </a:rPr>
              <a:t>0.837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7022592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E8A7B"/>
                </a:solidFill>
              </a:rPr>
              <a:t>0.938</a:t>
            </a:r>
            <a:endParaRPr lang="en-US" sz="800" dirty="0"/>
          </a:p>
        </p:txBody>
      </p:sp>
      <p:sp>
        <p:nvSpPr>
          <p:cNvPr id="57" name="Text 54"/>
          <p:cNvSpPr/>
          <p:nvPr/>
        </p:nvSpPr>
        <p:spPr>
          <a:xfrm>
            <a:off x="7717536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C47D0E"/>
                </a:solidFill>
              </a:rPr>
              <a:t>0.101</a:t>
            </a:r>
            <a:endParaRPr lang="en-US" sz="850" dirty="0"/>
          </a:p>
        </p:txBody>
      </p:sp>
      <p:sp>
        <p:nvSpPr>
          <p:cNvPr id="58" name="Text 55"/>
          <p:cNvSpPr/>
          <p:nvPr/>
        </p:nvSpPr>
        <p:spPr>
          <a:xfrm>
            <a:off x="365760" y="490118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F2044"/>
                </a:solidFill>
              </a:rPr>
              <a:t>★  Best overall accuracy: Gradual+Oversampling (90.68%)   ★  Smallest cat-dog gap: Sim+Oversampling (0.088)</a:t>
            </a:r>
            <a:endParaRPr lang="en-US" sz="9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Effect of Augmentation on Imbalanced Training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no_augs vs basic_augs_rnd_erase_jitter  ·  All strategies  ·  20% cat data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8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74320" y="868680"/>
          <a:ext cx="548640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Shape 3"/>
          <p:cNvSpPr/>
          <p:nvPr/>
        </p:nvSpPr>
        <p:spPr>
          <a:xfrm>
            <a:off x="5989320" y="868680"/>
            <a:ext cx="2880360" cy="4069080"/>
          </a:xfrm>
          <a:prstGeom prst="rect">
            <a:avLst/>
          </a:prstGeom>
          <a:solidFill>
            <a:srgbClr val="FFFFFF"/>
          </a:solidFill>
          <a:ln w="9525">
            <a:solidFill>
              <a:srgbClr val="D0DCE8"/>
            </a:solidFill>
            <a:prstDash val="solid"/>
          </a:ln>
        </p:spPr>
      </p:sp>
      <p:sp>
        <p:nvSpPr>
          <p:cNvPr id="7" name="Shape 4"/>
          <p:cNvSpPr/>
          <p:nvPr/>
        </p:nvSpPr>
        <p:spPr>
          <a:xfrm>
            <a:off x="5989320" y="868680"/>
            <a:ext cx="2880360" cy="347472"/>
          </a:xfrm>
          <a:prstGeom prst="rect">
            <a:avLst/>
          </a:prstGeom>
          <a:solidFill>
            <a:srgbClr val="0F2044"/>
          </a:solidFill>
          <a:ln w="12700">
            <a:solidFill>
              <a:srgbClr val="0F2044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5989320" y="868680"/>
            <a:ext cx="2880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</a:rPr>
              <a:t>Aug Δ (aug − no_aug)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6080760" y="1261872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Method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6903720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No Aug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7635240" y="1261872"/>
            <a:ext cx="6858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3D5166"/>
                </a:solidFill>
              </a:rPr>
              <a:t>+ Aug</a:t>
            </a:r>
            <a:endParaRPr lang="en-US" sz="850" dirty="0"/>
          </a:p>
        </p:txBody>
      </p:sp>
      <p:sp>
        <p:nvSpPr>
          <p:cNvPr id="12" name="Shape 9"/>
          <p:cNvSpPr/>
          <p:nvPr/>
        </p:nvSpPr>
        <p:spPr>
          <a:xfrm>
            <a:off x="5989320" y="1481328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035040" y="151790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Lin/Base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6931152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88.9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7607808" y="151790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89.2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8284464" y="151790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+0.28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5989320" y="1819656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035040" y="185623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Lin/WCE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6931152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88.4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7607808" y="185623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89.2</a:t>
            </a:r>
            <a:endParaRPr lang="en-US" sz="800" dirty="0"/>
          </a:p>
        </p:txBody>
      </p:sp>
      <p:sp>
        <p:nvSpPr>
          <p:cNvPr id="21" name="Text 18"/>
          <p:cNvSpPr/>
          <p:nvPr/>
        </p:nvSpPr>
        <p:spPr>
          <a:xfrm>
            <a:off x="8284464" y="185623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+0.74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89320" y="2157984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0" y="219456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Lin/OS</a:t>
            </a:r>
            <a:endParaRPr lang="en-US" sz="800" dirty="0"/>
          </a:p>
        </p:txBody>
      </p:sp>
      <p:sp>
        <p:nvSpPr>
          <p:cNvPr id="24" name="Text 21"/>
          <p:cNvSpPr/>
          <p:nvPr/>
        </p:nvSpPr>
        <p:spPr>
          <a:xfrm>
            <a:off x="6931152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90.2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7607808" y="219456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89.9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8284464" y="219456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B52A2A"/>
                </a:solidFill>
              </a:rPr>
              <a:t>-0.32</a:t>
            </a:r>
            <a:endParaRPr lang="en-US" sz="850" dirty="0"/>
          </a:p>
        </p:txBody>
      </p:sp>
      <p:sp>
        <p:nvSpPr>
          <p:cNvPr id="27" name="Shape 24"/>
          <p:cNvSpPr/>
          <p:nvPr/>
        </p:nvSpPr>
        <p:spPr>
          <a:xfrm>
            <a:off x="5989320" y="2496312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6035040" y="253288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Sim/Base</a:t>
            </a:r>
            <a:endParaRPr lang="en-US" sz="800" dirty="0"/>
          </a:p>
        </p:txBody>
      </p:sp>
      <p:sp>
        <p:nvSpPr>
          <p:cNvPr id="29" name="Text 26"/>
          <p:cNvSpPr/>
          <p:nvPr/>
        </p:nvSpPr>
        <p:spPr>
          <a:xfrm>
            <a:off x="6931152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88.6</a:t>
            </a:r>
            <a:endParaRPr lang="en-US" sz="800" dirty="0"/>
          </a:p>
        </p:txBody>
      </p:sp>
      <p:sp>
        <p:nvSpPr>
          <p:cNvPr id="30" name="Text 27"/>
          <p:cNvSpPr/>
          <p:nvPr/>
        </p:nvSpPr>
        <p:spPr>
          <a:xfrm>
            <a:off x="7607808" y="253288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90.6</a:t>
            </a:r>
            <a:endParaRPr lang="en-US" sz="800" dirty="0"/>
          </a:p>
        </p:txBody>
      </p:sp>
      <p:sp>
        <p:nvSpPr>
          <p:cNvPr id="31" name="Text 28"/>
          <p:cNvSpPr/>
          <p:nvPr/>
        </p:nvSpPr>
        <p:spPr>
          <a:xfrm>
            <a:off x="8284464" y="2532888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+1.94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5989320" y="2834640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33" name="Text 30"/>
          <p:cNvSpPr/>
          <p:nvPr/>
        </p:nvSpPr>
        <p:spPr>
          <a:xfrm>
            <a:off x="6035040" y="2871216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Sim/WCE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6931152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89.6</a:t>
            </a:r>
            <a:endParaRPr lang="en-US" sz="800" dirty="0"/>
          </a:p>
        </p:txBody>
      </p:sp>
      <p:sp>
        <p:nvSpPr>
          <p:cNvPr id="35" name="Text 32"/>
          <p:cNvSpPr/>
          <p:nvPr/>
        </p:nvSpPr>
        <p:spPr>
          <a:xfrm>
            <a:off x="7607808" y="2871216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90.2</a:t>
            </a:r>
            <a:endParaRPr lang="en-US" sz="800" dirty="0"/>
          </a:p>
        </p:txBody>
      </p:sp>
      <p:sp>
        <p:nvSpPr>
          <p:cNvPr id="36" name="Text 33"/>
          <p:cNvSpPr/>
          <p:nvPr/>
        </p:nvSpPr>
        <p:spPr>
          <a:xfrm>
            <a:off x="8284464" y="2871216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+0.55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5989320" y="3172968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035040" y="3209544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Sim/OS</a:t>
            </a:r>
            <a:endParaRPr lang="en-US" sz="800" dirty="0"/>
          </a:p>
        </p:txBody>
      </p:sp>
      <p:sp>
        <p:nvSpPr>
          <p:cNvPr id="39" name="Text 36"/>
          <p:cNvSpPr/>
          <p:nvPr/>
        </p:nvSpPr>
        <p:spPr>
          <a:xfrm>
            <a:off x="6931152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89.3</a:t>
            </a:r>
            <a:endParaRPr lang="en-US" sz="800" dirty="0"/>
          </a:p>
        </p:txBody>
      </p:sp>
      <p:sp>
        <p:nvSpPr>
          <p:cNvPr id="40" name="Text 37"/>
          <p:cNvSpPr/>
          <p:nvPr/>
        </p:nvSpPr>
        <p:spPr>
          <a:xfrm>
            <a:off x="7607808" y="3209544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90.3</a:t>
            </a:r>
            <a:endParaRPr lang="en-US" sz="800" dirty="0"/>
          </a:p>
        </p:txBody>
      </p:sp>
      <p:sp>
        <p:nvSpPr>
          <p:cNvPr id="41" name="Text 38"/>
          <p:cNvSpPr/>
          <p:nvPr/>
        </p:nvSpPr>
        <p:spPr>
          <a:xfrm>
            <a:off x="8284464" y="3209544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1A7A4A"/>
                </a:solidFill>
              </a:rPr>
              <a:t>+1.04</a:t>
            </a:r>
            <a:endParaRPr lang="en-US" sz="850" dirty="0"/>
          </a:p>
        </p:txBody>
      </p:sp>
      <p:sp>
        <p:nvSpPr>
          <p:cNvPr id="42" name="Shape 39"/>
          <p:cNvSpPr/>
          <p:nvPr/>
        </p:nvSpPr>
        <p:spPr>
          <a:xfrm>
            <a:off x="5989320" y="3511296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43" name="Text 40"/>
          <p:cNvSpPr/>
          <p:nvPr/>
        </p:nvSpPr>
        <p:spPr>
          <a:xfrm>
            <a:off x="6035040" y="3547872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Grad/Base</a:t>
            </a:r>
            <a:endParaRPr lang="en-US" sz="800" dirty="0"/>
          </a:p>
        </p:txBody>
      </p:sp>
      <p:sp>
        <p:nvSpPr>
          <p:cNvPr id="44" name="Text 41"/>
          <p:cNvSpPr/>
          <p:nvPr/>
        </p:nvSpPr>
        <p:spPr>
          <a:xfrm>
            <a:off x="6931152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91.1</a:t>
            </a:r>
            <a:endParaRPr lang="en-US" sz="800" dirty="0"/>
          </a:p>
        </p:txBody>
      </p:sp>
      <p:sp>
        <p:nvSpPr>
          <p:cNvPr id="45" name="Text 42"/>
          <p:cNvSpPr/>
          <p:nvPr/>
        </p:nvSpPr>
        <p:spPr>
          <a:xfrm>
            <a:off x="7607808" y="3547872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90.3</a:t>
            </a:r>
            <a:endParaRPr lang="en-US" sz="800" dirty="0"/>
          </a:p>
        </p:txBody>
      </p:sp>
      <p:sp>
        <p:nvSpPr>
          <p:cNvPr id="46" name="Text 43"/>
          <p:cNvSpPr/>
          <p:nvPr/>
        </p:nvSpPr>
        <p:spPr>
          <a:xfrm>
            <a:off x="8284464" y="3547872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B52A2A"/>
                </a:solidFill>
              </a:rPr>
              <a:t>-0.79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5989320" y="3849624"/>
            <a:ext cx="2880360" cy="338328"/>
          </a:xfrm>
          <a:prstGeom prst="rect">
            <a:avLst/>
          </a:prstGeom>
          <a:solidFill>
            <a:srgbClr val="F2F6FA"/>
          </a:solidFill>
          <a:ln w="12700">
            <a:solidFill>
              <a:srgbClr val="F2F6FA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6035040" y="3886200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Grad/WCE</a:t>
            </a:r>
            <a:endParaRPr lang="en-US" sz="800" dirty="0"/>
          </a:p>
        </p:txBody>
      </p:sp>
      <p:sp>
        <p:nvSpPr>
          <p:cNvPr id="49" name="Text 46"/>
          <p:cNvSpPr/>
          <p:nvPr/>
        </p:nvSpPr>
        <p:spPr>
          <a:xfrm>
            <a:off x="6931152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89.5</a:t>
            </a:r>
            <a:endParaRPr lang="en-US" sz="800" dirty="0"/>
          </a:p>
        </p:txBody>
      </p:sp>
      <p:sp>
        <p:nvSpPr>
          <p:cNvPr id="50" name="Text 47"/>
          <p:cNvSpPr/>
          <p:nvPr/>
        </p:nvSpPr>
        <p:spPr>
          <a:xfrm>
            <a:off x="7607808" y="3886200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89.6</a:t>
            </a:r>
            <a:endParaRPr lang="en-US" sz="800" dirty="0"/>
          </a:p>
        </p:txBody>
      </p:sp>
      <p:sp>
        <p:nvSpPr>
          <p:cNvPr id="51" name="Text 48"/>
          <p:cNvSpPr/>
          <p:nvPr/>
        </p:nvSpPr>
        <p:spPr>
          <a:xfrm>
            <a:off x="8284464" y="3886200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+0.13</a:t>
            </a:r>
            <a:endParaRPr lang="en-US" sz="850" dirty="0"/>
          </a:p>
        </p:txBody>
      </p:sp>
      <p:sp>
        <p:nvSpPr>
          <p:cNvPr id="52" name="Shape 49"/>
          <p:cNvSpPr/>
          <p:nvPr/>
        </p:nvSpPr>
        <p:spPr>
          <a:xfrm>
            <a:off x="5989320" y="4187952"/>
            <a:ext cx="2880360" cy="33832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3" name="Text 50"/>
          <p:cNvSpPr/>
          <p:nvPr/>
        </p:nvSpPr>
        <p:spPr>
          <a:xfrm>
            <a:off x="6035040" y="4224528"/>
            <a:ext cx="8686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0D1B2A"/>
                </a:solidFill>
              </a:rPr>
              <a:t>Grad/OS</a:t>
            </a:r>
            <a:endParaRPr lang="en-US" sz="800" dirty="0"/>
          </a:p>
        </p:txBody>
      </p:sp>
      <p:sp>
        <p:nvSpPr>
          <p:cNvPr id="54" name="Text 51"/>
          <p:cNvSpPr/>
          <p:nvPr/>
        </p:nvSpPr>
        <p:spPr>
          <a:xfrm>
            <a:off x="6931152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6B84A0"/>
                </a:solidFill>
              </a:rPr>
              <a:t>90.3</a:t>
            </a:r>
            <a:endParaRPr lang="en-US" sz="800" dirty="0"/>
          </a:p>
        </p:txBody>
      </p:sp>
      <p:sp>
        <p:nvSpPr>
          <p:cNvPr id="55" name="Text 52"/>
          <p:cNvSpPr/>
          <p:nvPr/>
        </p:nvSpPr>
        <p:spPr>
          <a:xfrm>
            <a:off x="7607808" y="4224528"/>
            <a:ext cx="658368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0D1B2A"/>
                </a:solidFill>
              </a:rPr>
              <a:t>90.7</a:t>
            </a:r>
            <a:endParaRPr lang="en-US" sz="800" dirty="0"/>
          </a:p>
        </p:txBody>
      </p:sp>
      <p:sp>
        <p:nvSpPr>
          <p:cNvPr id="56" name="Text 53"/>
          <p:cNvSpPr/>
          <p:nvPr/>
        </p:nvSpPr>
        <p:spPr>
          <a:xfrm>
            <a:off x="8284464" y="4224528"/>
            <a:ext cx="530352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6B84A0"/>
                </a:solidFill>
              </a:rPr>
              <a:t>+0.38</a:t>
            </a:r>
            <a:endParaRPr lang="en-US" sz="850" dirty="0"/>
          </a:p>
        </p:txBody>
      </p:sp>
      <p:sp>
        <p:nvSpPr>
          <p:cNvPr id="57" name="Text 54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Key finding: Augmentation most benefits Sim Unfreeze (up to +1.94pp for baseline) and has mixed effects on Gradual (−0.79pp for baseline, which already regularises via phased unfreezing). Linear Probe sees modest gains.</a:t>
            </a:r>
            <a:endParaRPr lang="en-US" sz="9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47472" y="9144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D1B2A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Individual Cat Breed F1: Sim Unfreeze (aug only)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47472" y="548640"/>
            <a:ext cx="777240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B84A0"/>
                </a:solidFill>
              </a:rPr>
              <a:t>Aug: basic_augs_rnd_erase_jitter  ·  Baseline 90.57%  WCE 90.19%  Oversampling 90.30%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7955280" y="91440"/>
            <a:ext cx="10058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dirty="0">
                <a:solidFill>
                  <a:srgbClr val="6B84A0"/>
                </a:solidFill>
              </a:rPr>
              <a:t>11 / 13</a:t>
            </a:r>
            <a:endParaRPr lang="en-US" sz="900" dirty="0"/>
          </a:p>
        </p:txBody>
      </p:sp>
      <p:graphicFrame>
        <p:nvGraphicFramePr>
          <p:cNvPr id="5" name="Chart 0"/>
          <p:cNvGraphicFramePr/>
          <p:nvPr/>
        </p:nvGraphicFramePr>
        <p:xfrm>
          <a:off x="228600" y="804672"/>
          <a:ext cx="859536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 3"/>
          <p:cNvSpPr/>
          <p:nvPr/>
        </p:nvSpPr>
        <p:spPr>
          <a:xfrm>
            <a:off x="320040" y="4992624"/>
            <a:ext cx="8503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i="1" dirty="0">
                <a:solidFill>
                  <a:srgbClr val="3D5166"/>
                </a:solidFill>
              </a:rPr>
              <a:t>Ragdoll and Bengal remain lowest across all strategies. Oversampling helps Bengal (+0.024) most. WCE helps Siamese (+0.038) and Birman (+0.044) but hurts Bengal (−0.101).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vs ResNet Fine-tuning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ViT-B/16 vs ResNet-RS152 · same augmentation · accuracy, efficiency, LR sensitivity</a:t>
            </a:r>
            <a:endParaRPr lang="en-US" sz="14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ViT-B/16 vs ResNet-RS152 — accuracy, efficiency, LR schedule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196596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9601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92.59%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48056" y="1508760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ViT-B/16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23160" y="822960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23160" y="822960"/>
            <a:ext cx="196596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51176" y="9601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90.46%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51176" y="1508760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ResNet-RS152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26280" y="822960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526280" y="822960"/>
            <a:ext cx="1965960" cy="640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654296" y="9601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+2.13pt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654296" y="1508760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 advantage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(consistent across F1/P/R)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629400" y="822960"/>
            <a:ext cx="210312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629400" y="822960"/>
            <a:ext cx="2103120" cy="64008"/>
          </a:xfrm>
          <a:prstGeom prst="rect">
            <a:avLst/>
          </a:prstGeom>
          <a:solidFill>
            <a:srgbClr val="A63228"/>
          </a:solidFill>
          <a:ln w="12700">
            <a:solidFill>
              <a:srgbClr val="A6322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57416" y="960120"/>
            <a:ext cx="184708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A6322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−18%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757416" y="1508760"/>
            <a:ext cx="184708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 faster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(41.8 vs 49.4 min)</a:t>
            </a:r>
            <a:endParaRPr lang="en-US" sz="1000" dirty="0"/>
          </a:p>
        </p:txBody>
      </p:sp>
      <p:graphicFrame>
        <p:nvGraphicFramePr>
          <p:cNvPr id="19" name="Chart 0"/>
          <p:cNvGraphicFramePr/>
          <p:nvPr>
            <p:extLst>
              <p:ext uri="{D42A27DB-BD31-4B8C-83A1-F6EECF244321}">
                <p14:modId xmlns:p14="http://schemas.microsoft.com/office/powerpoint/2010/main" val="2293604999"/>
              </p:ext>
            </p:extLst>
          </p:nvPr>
        </p:nvGraphicFramePr>
        <p:xfrm>
          <a:off x="320040" y="2240280"/>
          <a:ext cx="4114800" cy="26060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20" name="Shape 17"/>
          <p:cNvSpPr/>
          <p:nvPr/>
        </p:nvSpPr>
        <p:spPr>
          <a:xfrm>
            <a:off x="4663440" y="2240280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663440" y="2240280"/>
            <a:ext cx="411480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800600" y="2322576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— 4-phase schedule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4800600" y="2578608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Phase 0: head (LR 1e-3) → Phases 1–3: one block group each (LR 1e-4 decaying). Requires structured unfreezing with LR decay.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663440" y="2898648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2"/>
          <p:cNvSpPr/>
          <p:nvPr/>
        </p:nvSpPr>
        <p:spPr>
          <a:xfrm>
            <a:off x="4663440" y="2898648"/>
            <a:ext cx="411480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800600" y="2980944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ResNet — 2 phases</a:t>
            </a:r>
            <a:endParaRPr lang="en-US" sz="1100" dirty="0"/>
          </a:p>
        </p:txBody>
      </p:sp>
      <p:sp>
        <p:nvSpPr>
          <p:cNvPr id="27" name="Text 24"/>
          <p:cNvSpPr/>
          <p:nvPr/>
        </p:nvSpPr>
        <p:spPr>
          <a:xfrm>
            <a:off x="4800600" y="3236976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Converges faster with simpler schedule. Less sensitive to LR choice — more forgiving architecture.</a:t>
            </a:r>
            <a:endParaRPr lang="en-US" sz="950" dirty="0"/>
          </a:p>
        </p:txBody>
      </p:sp>
      <p:sp>
        <p:nvSpPr>
          <p:cNvPr id="28" name="Shape 25"/>
          <p:cNvSpPr/>
          <p:nvPr/>
        </p:nvSpPr>
        <p:spPr>
          <a:xfrm>
            <a:off x="4663440" y="3557016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4663440" y="3557016"/>
            <a:ext cx="4114800" cy="640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4800600" y="3639312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 global attention</a:t>
            </a:r>
            <a:endParaRPr lang="en-US" sz="1100" dirty="0"/>
          </a:p>
        </p:txBody>
      </p:sp>
      <p:sp>
        <p:nvSpPr>
          <p:cNvPr id="31" name="Text 28"/>
          <p:cNvSpPr/>
          <p:nvPr/>
        </p:nvSpPr>
        <p:spPr>
          <a:xfrm>
            <a:off x="4800600" y="3895344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Captures inter-patch breed patterns ResNet misses. Global receptive field from layer 1 — key advantage for fine-grained classification.</a:t>
            </a:r>
            <a:endParaRPr lang="en-US" sz="950" dirty="0"/>
          </a:p>
        </p:txBody>
      </p:sp>
      <p:sp>
        <p:nvSpPr>
          <p:cNvPr id="32" name="Shape 29"/>
          <p:cNvSpPr/>
          <p:nvPr/>
        </p:nvSpPr>
        <p:spPr>
          <a:xfrm>
            <a:off x="4663440" y="4215384"/>
            <a:ext cx="4114800" cy="59436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3" name="Shape 30"/>
          <p:cNvSpPr/>
          <p:nvPr/>
        </p:nvSpPr>
        <p:spPr>
          <a:xfrm>
            <a:off x="4663440" y="4215384"/>
            <a:ext cx="4114800" cy="64008"/>
          </a:xfrm>
          <a:prstGeom prst="rect">
            <a:avLst/>
          </a:prstGeom>
          <a:solidFill>
            <a:srgbClr val="1B3A4B"/>
          </a:solidFill>
          <a:ln w="12700">
            <a:solidFill>
              <a:srgbClr val="1B3A4B"/>
            </a:solidFill>
            <a:prstDash val="solid"/>
          </a:ln>
        </p:spPr>
      </p:sp>
      <p:sp>
        <p:nvSpPr>
          <p:cNvPr id="34" name="Text 31"/>
          <p:cNvSpPr/>
          <p:nvPr/>
        </p:nvSpPr>
        <p:spPr>
          <a:xfrm>
            <a:off x="4800600" y="4297680"/>
            <a:ext cx="37490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B3A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Recommendation</a:t>
            </a:r>
            <a:endParaRPr lang="en-US" sz="1100" dirty="0"/>
          </a:p>
        </p:txBody>
      </p:sp>
      <p:sp>
        <p:nvSpPr>
          <p:cNvPr id="35" name="Text 32"/>
          <p:cNvSpPr/>
          <p:nvPr/>
        </p:nvSpPr>
        <p:spPr>
          <a:xfrm>
            <a:off x="4800600" y="4553712"/>
            <a:ext cx="37490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Choose ViT when accuracy is paramount. Choose ResNet-RS when compute is bottlenecked and 90%+ suffices.</a:t>
            </a:r>
            <a:endParaRPr lang="en-US" sz="9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Knowledge Distillation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ViT-Base (86M) → ViT-Tiny (5.7M) · 15× compression · four-loss training</a:t>
            </a:r>
            <a:endParaRPr lang="en-US" sz="14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65760" y="1005839"/>
            <a:ext cx="2743200" cy="3598815"/>
          </a:xfrm>
          <a:prstGeom prst="rect">
            <a:avLst/>
          </a:prstGeom>
          <a:solidFill>
            <a:srgbClr val="E8F4F8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ViT-Base</a:t>
            </a:r>
            <a:endParaRPr lang="en-US" sz="1200" dirty="0"/>
          </a:p>
        </p:txBody>
      </p:sp>
      <p:sp>
        <p:nvSpPr>
          <p:cNvPr id="6" name="Shape 4"/>
          <p:cNvSpPr/>
          <p:nvPr/>
        </p:nvSpPr>
        <p:spPr>
          <a:xfrm>
            <a:off x="594360" y="1600200"/>
            <a:ext cx="1058091" cy="384048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94360" y="160020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0–4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594360" y="2103120"/>
            <a:ext cx="1058091" cy="384048"/>
          </a:xfrm>
          <a:prstGeom prst="rect">
            <a:avLst/>
          </a:prstGeom>
          <a:solidFill>
            <a:srgbClr val="1C7293"/>
          </a:solidFill>
          <a:ln w="6350">
            <a:solidFill>
              <a:srgbClr val="1C7293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94360" y="210312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 5  ◀ hook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594360" y="2606040"/>
            <a:ext cx="1058091" cy="384048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94360" y="2606040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6–11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94360" y="3154680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94360" y="3154680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 + Head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1881051" y="2109651"/>
            <a:ext cx="1058091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881050" y="2109651"/>
            <a:ext cx="1058091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JL Projector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768 → 256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943600" y="1005839"/>
            <a:ext cx="2788920" cy="3598813"/>
          </a:xfrm>
          <a:prstGeom prst="rect">
            <a:avLst/>
          </a:prstGeom>
          <a:solidFill>
            <a:srgbClr val="EBF8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355080" y="1005840"/>
            <a:ext cx="2377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</a:t>
            </a:r>
            <a:endParaRPr lang="en-US" sz="1200" dirty="0"/>
          </a:p>
          <a:p>
            <a:pPr marL="0" indent="0" algn="ctr">
              <a:buNone/>
            </a:pPr>
            <a:r>
              <a:rPr lang="en-US" sz="12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ViT-Tiny</a:t>
            </a:r>
            <a:endParaRPr lang="en-US" sz="1200" dirty="0"/>
          </a:p>
        </p:txBody>
      </p:sp>
      <p:sp>
        <p:nvSpPr>
          <p:cNvPr id="18" name="Shape 16"/>
          <p:cNvSpPr/>
          <p:nvPr/>
        </p:nvSpPr>
        <p:spPr>
          <a:xfrm>
            <a:off x="7550330" y="1600200"/>
            <a:ext cx="953589" cy="384048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550330" y="160020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0–4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7550330" y="2103120"/>
            <a:ext cx="953590" cy="384048"/>
          </a:xfrm>
          <a:prstGeom prst="rect">
            <a:avLst/>
          </a:prstGeom>
          <a:solidFill>
            <a:srgbClr val="0F766E"/>
          </a:solidFill>
          <a:ln w="6350">
            <a:solidFill>
              <a:srgbClr val="0F766E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50330" y="210312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 5  ◀ hook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7550330" y="2606040"/>
            <a:ext cx="953589" cy="384048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50330" y="2606040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Blocks 6–11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550330" y="3154680"/>
            <a:ext cx="953590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550330" y="3154680"/>
            <a:ext cx="9535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Norm + Head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6270170" y="2116836"/>
            <a:ext cx="953590" cy="384048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270170" y="2116836"/>
            <a:ext cx="953589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Projector (trainable)</a:t>
            </a:r>
            <a:endParaRPr lang="en-US" sz="1000" dirty="0"/>
          </a:p>
          <a:p>
            <a:pPr marL="0" indent="0" algn="ctr">
              <a:buNone/>
            </a:pPr>
            <a:r>
              <a:rPr lang="en-US" sz="1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192 → 256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652701" y="1245641"/>
            <a:ext cx="1838597" cy="658368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672292" y="1285483"/>
            <a:ext cx="1838597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Shared Space  256-dim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652701" y="1565681"/>
            <a:ext cx="1838597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B45309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cosine similarity loss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 flipV="1">
            <a:off x="3005271" y="1565681"/>
            <a:ext cx="627839" cy="758201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530480" y="1565681"/>
            <a:ext cx="596000" cy="75820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3561262" y="2007859"/>
            <a:ext cx="2037806" cy="502920"/>
          </a:xfrm>
          <a:prstGeom prst="rect">
            <a:avLst/>
          </a:prstGeom>
          <a:solidFill>
            <a:srgbClr val="FFF9EC"/>
          </a:solidFill>
          <a:ln w="6350">
            <a:solidFill>
              <a:srgbClr val="D9770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672292" y="1992836"/>
            <a:ext cx="1840599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Feat loss gated off until block 5 is unfrozen — prevents projector learning stale representations</a:t>
            </a:r>
            <a:endParaRPr lang="en-US" sz="900" dirty="0"/>
          </a:p>
        </p:txBody>
      </p:sp>
      <p:sp>
        <p:nvSpPr>
          <p:cNvPr id="35" name="Shape 29">
            <a:extLst>
              <a:ext uri="{FF2B5EF4-FFF2-40B4-BE49-F238E27FC236}">
                <a16:creationId xmlns:a16="http://schemas.microsoft.com/office/drawing/2014/main" id="{107434D6-AB06-0FB1-6BC3-913592D3B10E}"/>
              </a:ext>
            </a:extLst>
          </p:cNvPr>
          <p:cNvSpPr/>
          <p:nvPr/>
        </p:nvSpPr>
        <p:spPr>
          <a:xfrm>
            <a:off x="1701163" y="2304288"/>
            <a:ext cx="88449" cy="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36" name="Shape 30">
            <a:extLst>
              <a:ext uri="{FF2B5EF4-FFF2-40B4-BE49-F238E27FC236}">
                <a16:creationId xmlns:a16="http://schemas.microsoft.com/office/drawing/2014/main" id="{7B0A7EBF-60F7-9971-7F56-EC1A84C2C0A4}"/>
              </a:ext>
            </a:extLst>
          </p:cNvPr>
          <p:cNvSpPr/>
          <p:nvPr/>
        </p:nvSpPr>
        <p:spPr>
          <a:xfrm>
            <a:off x="7291251" y="2305159"/>
            <a:ext cx="167640" cy="0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37" name="Shape 10">
            <a:extLst>
              <a:ext uri="{FF2B5EF4-FFF2-40B4-BE49-F238E27FC236}">
                <a16:creationId xmlns:a16="http://schemas.microsoft.com/office/drawing/2014/main" id="{8B6402B4-62D3-A938-9845-808524E7845A}"/>
              </a:ext>
            </a:extLst>
          </p:cNvPr>
          <p:cNvSpPr/>
          <p:nvPr/>
        </p:nvSpPr>
        <p:spPr>
          <a:xfrm>
            <a:off x="594360" y="3665429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38" name="Text 11">
            <a:extLst>
              <a:ext uri="{FF2B5EF4-FFF2-40B4-BE49-F238E27FC236}">
                <a16:creationId xmlns:a16="http://schemas.microsoft.com/office/drawing/2014/main" id="{D79088F5-56F2-6A09-0F4A-5DD091CE2CF0}"/>
              </a:ext>
            </a:extLst>
          </p:cNvPr>
          <p:cNvSpPr/>
          <p:nvPr/>
        </p:nvSpPr>
        <p:spPr>
          <a:xfrm>
            <a:off x="594360" y="3665429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Logits</a:t>
            </a:r>
            <a:endParaRPr lang="en-US" sz="1000" dirty="0"/>
          </a:p>
        </p:txBody>
      </p:sp>
      <p:sp>
        <p:nvSpPr>
          <p:cNvPr id="39" name="Shape 22">
            <a:extLst>
              <a:ext uri="{FF2B5EF4-FFF2-40B4-BE49-F238E27FC236}">
                <a16:creationId xmlns:a16="http://schemas.microsoft.com/office/drawing/2014/main" id="{00D3C3F9-004B-3584-F1B6-C39AA6B5B2F0}"/>
              </a:ext>
            </a:extLst>
          </p:cNvPr>
          <p:cNvSpPr/>
          <p:nvPr/>
        </p:nvSpPr>
        <p:spPr>
          <a:xfrm>
            <a:off x="7550331" y="3672840"/>
            <a:ext cx="953590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0" name="Text 23">
            <a:extLst>
              <a:ext uri="{FF2B5EF4-FFF2-40B4-BE49-F238E27FC236}">
                <a16:creationId xmlns:a16="http://schemas.microsoft.com/office/drawing/2014/main" id="{5DD3F345-CEED-9F84-9885-06469733BF2F}"/>
              </a:ext>
            </a:extLst>
          </p:cNvPr>
          <p:cNvSpPr/>
          <p:nvPr/>
        </p:nvSpPr>
        <p:spPr>
          <a:xfrm>
            <a:off x="7550331" y="3672840"/>
            <a:ext cx="953589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Logits</a:t>
            </a:r>
            <a:endParaRPr lang="en-US" sz="1000" dirty="0"/>
          </a:p>
        </p:txBody>
      </p:sp>
      <p:sp>
        <p:nvSpPr>
          <p:cNvPr id="41" name="Shape 10">
            <a:extLst>
              <a:ext uri="{FF2B5EF4-FFF2-40B4-BE49-F238E27FC236}">
                <a16:creationId xmlns:a16="http://schemas.microsoft.com/office/drawing/2014/main" id="{0F63692E-BD36-35B6-2ABC-63D177BCE1CE}"/>
              </a:ext>
            </a:extLst>
          </p:cNvPr>
          <p:cNvSpPr/>
          <p:nvPr/>
        </p:nvSpPr>
        <p:spPr>
          <a:xfrm>
            <a:off x="594360" y="4155075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2" name="Text 11">
            <a:extLst>
              <a:ext uri="{FF2B5EF4-FFF2-40B4-BE49-F238E27FC236}">
                <a16:creationId xmlns:a16="http://schemas.microsoft.com/office/drawing/2014/main" id="{90F4757C-C83F-FB42-1D9B-3074E9039DDB}"/>
              </a:ext>
            </a:extLst>
          </p:cNvPr>
          <p:cNvSpPr/>
          <p:nvPr/>
        </p:nvSpPr>
        <p:spPr>
          <a:xfrm>
            <a:off x="594360" y="4155075"/>
            <a:ext cx="1058091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Probabilities</a:t>
            </a:r>
            <a:endParaRPr lang="en-US" sz="1000" dirty="0"/>
          </a:p>
        </p:txBody>
      </p:sp>
      <p:sp>
        <p:nvSpPr>
          <p:cNvPr id="43" name="Shape 10">
            <a:extLst>
              <a:ext uri="{FF2B5EF4-FFF2-40B4-BE49-F238E27FC236}">
                <a16:creationId xmlns:a16="http://schemas.microsoft.com/office/drawing/2014/main" id="{52998833-4A7C-C08C-19FE-42441730450E}"/>
              </a:ext>
            </a:extLst>
          </p:cNvPr>
          <p:cNvSpPr/>
          <p:nvPr/>
        </p:nvSpPr>
        <p:spPr>
          <a:xfrm>
            <a:off x="7517675" y="4163781"/>
            <a:ext cx="1058091" cy="320040"/>
          </a:xfrm>
          <a:prstGeom prst="rect">
            <a:avLst/>
          </a:prstGeom>
          <a:solidFill>
            <a:srgbClr val="D6EAF2"/>
          </a:solidFill>
          <a:ln w="6350">
            <a:solidFill>
              <a:srgbClr val="CBD5E1"/>
            </a:solidFill>
            <a:prstDash val="solid"/>
          </a:ln>
        </p:spPr>
      </p:sp>
      <p:sp>
        <p:nvSpPr>
          <p:cNvPr id="44" name="Text 11">
            <a:extLst>
              <a:ext uri="{FF2B5EF4-FFF2-40B4-BE49-F238E27FC236}">
                <a16:creationId xmlns:a16="http://schemas.microsoft.com/office/drawing/2014/main" id="{19FE1523-268F-D0B3-993A-0BB890649763}"/>
              </a:ext>
            </a:extLst>
          </p:cNvPr>
          <p:cNvSpPr/>
          <p:nvPr/>
        </p:nvSpPr>
        <p:spPr>
          <a:xfrm>
            <a:off x="7517675" y="4163781"/>
            <a:ext cx="1058091" cy="320040"/>
          </a:xfrm>
          <a:prstGeom prst="rect">
            <a:avLst/>
          </a:prstGeom>
          <a:solidFill>
            <a:srgbClr val="C8EFE4"/>
          </a:solidFill>
          <a:ln w="6350">
            <a:solidFill>
              <a:srgbClr val="CBD5E1"/>
            </a:solidFill>
            <a:prstDash val="solid"/>
          </a:ln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Out Probabilities</a:t>
            </a:r>
            <a:endParaRPr lang="en-US" sz="1000" dirty="0"/>
          </a:p>
        </p:txBody>
      </p:sp>
      <p:sp>
        <p:nvSpPr>
          <p:cNvPr id="45" name="Shape 29">
            <a:extLst>
              <a:ext uri="{FF2B5EF4-FFF2-40B4-BE49-F238E27FC236}">
                <a16:creationId xmlns:a16="http://schemas.microsoft.com/office/drawing/2014/main" id="{9C6B8378-58EA-FCDE-AFBD-65C03BAD6681}"/>
              </a:ext>
            </a:extLst>
          </p:cNvPr>
          <p:cNvSpPr/>
          <p:nvPr/>
        </p:nvSpPr>
        <p:spPr>
          <a:xfrm flipV="1">
            <a:off x="1701163" y="3154680"/>
            <a:ext cx="2367914" cy="693200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46" name="Shape 30">
            <a:extLst>
              <a:ext uri="{FF2B5EF4-FFF2-40B4-BE49-F238E27FC236}">
                <a16:creationId xmlns:a16="http://schemas.microsoft.com/office/drawing/2014/main" id="{9D10E615-059E-4713-9EAE-DEC52E764096}"/>
              </a:ext>
            </a:extLst>
          </p:cNvPr>
          <p:cNvSpPr/>
          <p:nvPr/>
        </p:nvSpPr>
        <p:spPr>
          <a:xfrm>
            <a:off x="5084446" y="3154680"/>
            <a:ext cx="2367914" cy="69320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7" name="Shape 26">
            <a:extLst>
              <a:ext uri="{FF2B5EF4-FFF2-40B4-BE49-F238E27FC236}">
                <a16:creationId xmlns:a16="http://schemas.microsoft.com/office/drawing/2014/main" id="{42FC0B66-B800-8CC9-3E89-105536A2BE70}"/>
              </a:ext>
            </a:extLst>
          </p:cNvPr>
          <p:cNvSpPr/>
          <p:nvPr/>
        </p:nvSpPr>
        <p:spPr>
          <a:xfrm>
            <a:off x="4092754" y="2989201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48" name="Text 27">
            <a:extLst>
              <a:ext uri="{FF2B5EF4-FFF2-40B4-BE49-F238E27FC236}">
                <a16:creationId xmlns:a16="http://schemas.microsoft.com/office/drawing/2014/main" id="{9434037A-331C-18F9-B99F-E400644A3278}"/>
              </a:ext>
            </a:extLst>
          </p:cNvPr>
          <p:cNvSpPr/>
          <p:nvPr/>
        </p:nvSpPr>
        <p:spPr>
          <a:xfrm>
            <a:off x="3847825" y="3035235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 Loss</a:t>
            </a:r>
            <a:endParaRPr lang="en-US" sz="1100" dirty="0"/>
          </a:p>
        </p:txBody>
      </p:sp>
      <p:sp>
        <p:nvSpPr>
          <p:cNvPr id="50" name="Shape 29">
            <a:extLst>
              <a:ext uri="{FF2B5EF4-FFF2-40B4-BE49-F238E27FC236}">
                <a16:creationId xmlns:a16="http://schemas.microsoft.com/office/drawing/2014/main" id="{68921769-2ABA-A47F-1E10-4B17A769FDA4}"/>
              </a:ext>
            </a:extLst>
          </p:cNvPr>
          <p:cNvSpPr/>
          <p:nvPr/>
        </p:nvSpPr>
        <p:spPr>
          <a:xfrm flipV="1">
            <a:off x="1701162" y="3614591"/>
            <a:ext cx="2358393" cy="596417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1" name="Shape 30">
            <a:extLst>
              <a:ext uri="{FF2B5EF4-FFF2-40B4-BE49-F238E27FC236}">
                <a16:creationId xmlns:a16="http://schemas.microsoft.com/office/drawing/2014/main" id="{623A1BC7-2974-59BA-D0D4-8E4D48AC4D2F}"/>
              </a:ext>
            </a:extLst>
          </p:cNvPr>
          <p:cNvSpPr/>
          <p:nvPr/>
        </p:nvSpPr>
        <p:spPr>
          <a:xfrm>
            <a:off x="5093967" y="3621777"/>
            <a:ext cx="2389961" cy="589232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2" name="Shape 26">
            <a:extLst>
              <a:ext uri="{FF2B5EF4-FFF2-40B4-BE49-F238E27FC236}">
                <a16:creationId xmlns:a16="http://schemas.microsoft.com/office/drawing/2014/main" id="{5D87B15F-5D8C-A6E9-AECC-3530575EBBF3}"/>
              </a:ext>
            </a:extLst>
          </p:cNvPr>
          <p:cNvSpPr/>
          <p:nvPr/>
        </p:nvSpPr>
        <p:spPr>
          <a:xfrm>
            <a:off x="4092754" y="3482322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3" name="Text 27">
            <a:extLst>
              <a:ext uri="{FF2B5EF4-FFF2-40B4-BE49-F238E27FC236}">
                <a16:creationId xmlns:a16="http://schemas.microsoft.com/office/drawing/2014/main" id="{D7C3C60E-F883-E18C-5C4F-69051E6C9B71}"/>
              </a:ext>
            </a:extLst>
          </p:cNvPr>
          <p:cNvSpPr/>
          <p:nvPr/>
        </p:nvSpPr>
        <p:spPr>
          <a:xfrm>
            <a:off x="3799656" y="3517808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(KL(teacher, student))</a:t>
            </a:r>
            <a:endParaRPr lang="en-US" sz="700" dirty="0"/>
          </a:p>
        </p:txBody>
      </p:sp>
      <p:sp>
        <p:nvSpPr>
          <p:cNvPr id="54" name="Shape 29">
            <a:extLst>
              <a:ext uri="{FF2B5EF4-FFF2-40B4-BE49-F238E27FC236}">
                <a16:creationId xmlns:a16="http://schemas.microsoft.com/office/drawing/2014/main" id="{9CB12002-DC11-438E-749D-B32538E5FE02}"/>
              </a:ext>
            </a:extLst>
          </p:cNvPr>
          <p:cNvSpPr/>
          <p:nvPr/>
        </p:nvSpPr>
        <p:spPr>
          <a:xfrm flipV="1">
            <a:off x="1700347" y="4384109"/>
            <a:ext cx="2348874" cy="3"/>
          </a:xfrm>
          <a:prstGeom prst="line">
            <a:avLst/>
          </a:prstGeom>
          <a:noFill/>
          <a:ln w="19050">
            <a:solidFill>
              <a:srgbClr val="065A82"/>
            </a:solidFill>
            <a:prstDash val="solid"/>
          </a:ln>
        </p:spPr>
      </p:sp>
      <p:sp>
        <p:nvSpPr>
          <p:cNvPr id="55" name="Shape 30">
            <a:extLst>
              <a:ext uri="{FF2B5EF4-FFF2-40B4-BE49-F238E27FC236}">
                <a16:creationId xmlns:a16="http://schemas.microsoft.com/office/drawing/2014/main" id="{F085F6F4-B360-F881-5620-CDAE2F715D2F}"/>
              </a:ext>
            </a:extLst>
          </p:cNvPr>
          <p:cNvSpPr/>
          <p:nvPr/>
        </p:nvSpPr>
        <p:spPr>
          <a:xfrm>
            <a:off x="5093967" y="4375599"/>
            <a:ext cx="2389145" cy="8516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56" name="Shape 26">
            <a:extLst>
              <a:ext uri="{FF2B5EF4-FFF2-40B4-BE49-F238E27FC236}">
                <a16:creationId xmlns:a16="http://schemas.microsoft.com/office/drawing/2014/main" id="{A01D6BCD-B6D3-7333-45E4-AF7F9355425A}"/>
              </a:ext>
            </a:extLst>
          </p:cNvPr>
          <p:cNvSpPr/>
          <p:nvPr/>
        </p:nvSpPr>
        <p:spPr>
          <a:xfrm>
            <a:off x="4091124" y="4106190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7" name="Text 27">
            <a:extLst>
              <a:ext uri="{FF2B5EF4-FFF2-40B4-BE49-F238E27FC236}">
                <a16:creationId xmlns:a16="http://schemas.microsoft.com/office/drawing/2014/main" id="{79E58DCA-5CC9-C705-136C-D9E612E00DF9}"/>
              </a:ext>
            </a:extLst>
          </p:cNvPr>
          <p:cNvSpPr/>
          <p:nvPr/>
        </p:nvSpPr>
        <p:spPr>
          <a:xfrm>
            <a:off x="3798026" y="4141676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(CE(student, teacher))</a:t>
            </a:r>
            <a:endParaRPr lang="en-US" sz="400" dirty="0"/>
          </a:p>
        </p:txBody>
      </p:sp>
      <p:sp>
        <p:nvSpPr>
          <p:cNvPr id="58" name="Shape 26">
            <a:extLst>
              <a:ext uri="{FF2B5EF4-FFF2-40B4-BE49-F238E27FC236}">
                <a16:creationId xmlns:a16="http://schemas.microsoft.com/office/drawing/2014/main" id="{F7F0524D-2714-8F49-CA3B-CF77D5E0A0B7}"/>
              </a:ext>
            </a:extLst>
          </p:cNvPr>
          <p:cNvSpPr/>
          <p:nvPr/>
        </p:nvSpPr>
        <p:spPr>
          <a:xfrm>
            <a:off x="7615643" y="4741708"/>
            <a:ext cx="960123" cy="330041"/>
          </a:xfrm>
          <a:prstGeom prst="rect">
            <a:avLst/>
          </a:prstGeom>
          <a:solidFill>
            <a:srgbClr val="B45309">
              <a:alpha val="15000"/>
            </a:srgbClr>
          </a:solidFill>
          <a:ln w="10160">
            <a:solidFill>
              <a:srgbClr val="B45309"/>
            </a:solidFill>
            <a:prstDash val="solid"/>
          </a:ln>
        </p:spPr>
      </p:sp>
      <p:sp>
        <p:nvSpPr>
          <p:cNvPr id="59" name="Text 27">
            <a:extLst>
              <a:ext uri="{FF2B5EF4-FFF2-40B4-BE49-F238E27FC236}">
                <a16:creationId xmlns:a16="http://schemas.microsoft.com/office/drawing/2014/main" id="{03CDD31E-5EEF-91F4-1ED7-C5210092A0D5}"/>
              </a:ext>
            </a:extLst>
          </p:cNvPr>
          <p:cNvSpPr/>
          <p:nvPr/>
        </p:nvSpPr>
        <p:spPr>
          <a:xfrm>
            <a:off x="7322545" y="4777194"/>
            <a:ext cx="1546318" cy="24362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 loss</a:t>
            </a:r>
            <a:b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700" b="1" dirty="0">
                <a:solidFill>
                  <a:srgbClr val="B4530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(CE(student, labels))</a:t>
            </a:r>
            <a:endParaRPr lang="en-US" sz="400" dirty="0"/>
          </a:p>
        </p:txBody>
      </p:sp>
      <p:sp>
        <p:nvSpPr>
          <p:cNvPr id="60" name="Shape 30">
            <a:extLst>
              <a:ext uri="{FF2B5EF4-FFF2-40B4-BE49-F238E27FC236}">
                <a16:creationId xmlns:a16="http://schemas.microsoft.com/office/drawing/2014/main" id="{CCD834CA-5F0A-582D-F204-0859B90F9657}"/>
              </a:ext>
            </a:extLst>
          </p:cNvPr>
          <p:cNvSpPr/>
          <p:nvPr/>
        </p:nvSpPr>
        <p:spPr>
          <a:xfrm>
            <a:off x="8090672" y="4533178"/>
            <a:ext cx="0" cy="142951"/>
          </a:xfrm>
          <a:prstGeom prst="line">
            <a:avLst/>
          </a:prstGeom>
          <a:noFill/>
          <a:ln w="19050">
            <a:solidFill>
              <a:srgbClr val="0F766E"/>
            </a:solidFill>
            <a:prstDash val="solid"/>
          </a:ln>
        </p:spPr>
      </p:sp>
      <p:sp>
        <p:nvSpPr>
          <p:cNvPr id="49" name="Text 0">
            <a:extLst>
              <a:ext uri="{FF2B5EF4-FFF2-40B4-BE49-F238E27FC236}">
                <a16:creationId xmlns:a16="http://schemas.microsoft.com/office/drawing/2014/main" id="{6120C2C3-DF45-1EED-C34C-9CED173A1E65}"/>
              </a:ext>
            </a:extLst>
          </p:cNvPr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architecture — shared projection space &amp; composite loss</a:t>
            </a:r>
            <a:endParaRPr lang="en-US" sz="2100" dirty="0"/>
          </a:p>
        </p:txBody>
      </p:sp>
      <p:sp>
        <p:nvSpPr>
          <p:cNvPr id="62" name="Text 30">
            <a:extLst>
              <a:ext uri="{FF2B5EF4-FFF2-40B4-BE49-F238E27FC236}">
                <a16:creationId xmlns:a16="http://schemas.microsoft.com/office/drawing/2014/main" id="{E1C9CE4D-E6D5-7009-C813-CB7A01EFBEA0}"/>
              </a:ext>
            </a:extLst>
          </p:cNvPr>
          <p:cNvSpPr/>
          <p:nvPr/>
        </p:nvSpPr>
        <p:spPr>
          <a:xfrm>
            <a:off x="457200" y="4623796"/>
            <a:ext cx="6572248" cy="5303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L_total  =  0.3·L_CE  +  0.5·L_KL (T=4)  +  0.1·L_MSE  +  0.1·L_feat (cosine, gated until block 5 unfrozen)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Ablation: four distillation configurations — pretraining is the key factor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411480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84632" y="9692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gradual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84632" y="14996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87.54%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484632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251460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F1: 87.35%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51460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Best overall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709160" y="84124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709160" y="841248"/>
            <a:ext cx="411480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873752" y="96926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pretrained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4873752" y="149961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59.36%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4873752" y="208483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6903720" y="151790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F1: 58.90%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6903720" y="181051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Representations degraded early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20040" y="285292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320040" y="2852928"/>
            <a:ext cx="4114800" cy="64008"/>
          </a:xfrm>
          <a:prstGeom prst="rect">
            <a:avLst/>
          </a:prstGeom>
          <a:solidFill>
            <a:srgbClr val="8EA3B4"/>
          </a:solidFill>
          <a:ln w="12700">
            <a:solidFill>
              <a:srgbClr val="8EA3B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84632" y="29809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gradual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84632" y="351129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17.58%</a:t>
            </a:r>
            <a:endParaRPr lang="en-US" sz="2800" dirty="0"/>
          </a:p>
        </p:txBody>
      </p:sp>
      <p:sp>
        <p:nvSpPr>
          <p:cNvPr id="21" name="Text 19"/>
          <p:cNvSpPr/>
          <p:nvPr/>
        </p:nvSpPr>
        <p:spPr>
          <a:xfrm>
            <a:off x="484632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2514600" y="3529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F1: 16.46%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514600" y="3822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≠ pretraining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4709160" y="2852928"/>
            <a:ext cx="4114800" cy="182880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09160" y="2852928"/>
            <a:ext cx="4114800" cy="64008"/>
          </a:xfrm>
          <a:prstGeom prst="rect">
            <a:avLst/>
          </a:prstGeom>
          <a:solidFill>
            <a:srgbClr val="8EA3B4"/>
          </a:solidFill>
          <a:ln w="12700">
            <a:solidFill>
              <a:srgbClr val="8EA3B4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73752" y="2980944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scratch</a:t>
            </a:r>
            <a:endParaRPr lang="en-US" sz="1400" dirty="0"/>
          </a:p>
          <a:p>
            <a:pPr marL="0" indent="0">
              <a:buNone/>
            </a:pPr>
            <a:r>
              <a:rPr lang="en-US" sz="14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full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4873752" y="3511296"/>
            <a:ext cx="18288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16.84%</a:t>
            </a:r>
            <a:endParaRPr lang="en-US" sz="2800" dirty="0"/>
          </a:p>
        </p:txBody>
      </p:sp>
      <p:sp>
        <p:nvSpPr>
          <p:cNvPr id="28" name="Text 26"/>
          <p:cNvSpPr/>
          <p:nvPr/>
        </p:nvSpPr>
        <p:spPr>
          <a:xfrm>
            <a:off x="4873752" y="4096512"/>
            <a:ext cx="1828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903720" y="3529584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F1: 15.87%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6903720" y="3822192"/>
            <a:ext cx="17373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Worst config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828032"/>
            <a:ext cx="8503920" cy="256032"/>
          </a:xfrm>
          <a:prstGeom prst="rect">
            <a:avLst/>
          </a:prstGeom>
          <a:solidFill>
            <a:srgbClr val="EAF6F4"/>
          </a:solidFill>
          <a:ln w="6350">
            <a:solidFill>
              <a:srgbClr val="178582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57200" y="4828032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0D1B2A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~70pt gap between pretrained and scratch — distillation is a fine-tuning technique, not a training-from-scratch technique</a:t>
            </a:r>
            <a:endParaRPr lang="en-US" sz="10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across 37 breeds — four distillation configurations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960120"/>
          <a:ext cx="84124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1005840"/>
            <a:ext cx="8503920" cy="384048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65760" y="1005840"/>
            <a:ext cx="30632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3474720" y="100584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Params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1605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Type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50749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9893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Macro F1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903720" y="1005840"/>
            <a:ext cx="8686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(min)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7818120" y="1005840"/>
            <a:ext cx="68580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Epochs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320040" y="1389888"/>
            <a:ext cx="85039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393192" y="1444752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 err="1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-Tiny (gradual All-layers)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3502152" y="1444752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1879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1023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84.46%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60167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84.23%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931152" y="1444752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142.6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7845552" y="1444752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191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320040" y="1956816"/>
            <a:ext cx="8503920" cy="530352"/>
          </a:xfrm>
          <a:prstGeom prst="rect">
            <a:avLst/>
          </a:prstGeom>
          <a:solidFill>
            <a:srgbClr val="F7FB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393192" y="2011680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 All-layers)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502152" y="2011680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5.4M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1879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1023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82.31%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60167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82.07%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931152" y="2011680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48.5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845552" y="2011680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63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320040" y="2523744"/>
            <a:ext cx="8503920" cy="530352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93192" y="2578608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ResNet-10t (gradual 1-layer)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3502152" y="2578608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5.4M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1879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1023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81.82%</a:t>
            </a:r>
            <a:endParaRPr lang="en-US" sz="1100" dirty="0"/>
          </a:p>
        </p:txBody>
      </p:sp>
      <p:sp>
        <p:nvSpPr>
          <p:cNvPr id="33" name="Text 31"/>
          <p:cNvSpPr/>
          <p:nvPr/>
        </p:nvSpPr>
        <p:spPr>
          <a:xfrm>
            <a:off x="60167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81.48%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931152" y="2578608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16.4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7845552" y="2578608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36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0040" y="3090672"/>
            <a:ext cx="8503920" cy="530352"/>
          </a:xfrm>
          <a:prstGeom prst="rect">
            <a:avLst/>
          </a:prstGeom>
          <a:solidFill>
            <a:srgbClr val="F7FBFD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93192" y="3145536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ViT-Tiny (gradual 3-layer)</a:t>
            </a:r>
            <a:endParaRPr lang="en-US" sz="1100" dirty="0"/>
          </a:p>
        </p:txBody>
      </p:sp>
      <p:sp>
        <p:nvSpPr>
          <p:cNvPr id="38" name="Text 36"/>
          <p:cNvSpPr/>
          <p:nvPr/>
        </p:nvSpPr>
        <p:spPr>
          <a:xfrm>
            <a:off x="3502152" y="3145536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39" name="Text 37"/>
          <p:cNvSpPr/>
          <p:nvPr/>
        </p:nvSpPr>
        <p:spPr>
          <a:xfrm>
            <a:off x="41879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Baseline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51023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78.20%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60167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77.95%</a:t>
            </a:r>
            <a:endParaRPr lang="en-US" sz="1100" dirty="0"/>
          </a:p>
        </p:txBody>
      </p:sp>
      <p:sp>
        <p:nvSpPr>
          <p:cNvPr id="42" name="Text 40"/>
          <p:cNvSpPr/>
          <p:nvPr/>
        </p:nvSpPr>
        <p:spPr>
          <a:xfrm>
            <a:off x="6931152" y="3145536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40.9</a:t>
            </a:r>
            <a:endParaRPr lang="en-US" sz="1100" dirty="0"/>
          </a:p>
        </p:txBody>
      </p:sp>
      <p:sp>
        <p:nvSpPr>
          <p:cNvPr id="43" name="Text 41"/>
          <p:cNvSpPr/>
          <p:nvPr/>
        </p:nvSpPr>
        <p:spPr>
          <a:xfrm>
            <a:off x="7845552" y="3145536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80</a:t>
            </a:r>
            <a:endParaRPr lang="en-US" sz="1100" dirty="0"/>
          </a:p>
        </p:txBody>
      </p:sp>
      <p:sp>
        <p:nvSpPr>
          <p:cNvPr id="44" name="Shape 42"/>
          <p:cNvSpPr/>
          <p:nvPr/>
        </p:nvSpPr>
        <p:spPr>
          <a:xfrm>
            <a:off x="320040" y="3657600"/>
            <a:ext cx="8503920" cy="530352"/>
          </a:xfrm>
          <a:prstGeom prst="rect">
            <a:avLst/>
          </a:prstGeom>
          <a:solidFill>
            <a:srgbClr val="EBF8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20040" y="3657600"/>
            <a:ext cx="54864" cy="530352"/>
          </a:xfrm>
          <a:prstGeom prst="rect">
            <a:avLst/>
          </a:prstGeom>
          <a:solidFill>
            <a:srgbClr val="065A82"/>
          </a:solidFill>
          <a:ln w="12700">
            <a:solidFill>
              <a:srgbClr val="065A82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93192" y="3712464"/>
            <a:ext cx="30175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ViT-Tiny (distilled, best)</a:t>
            </a:r>
            <a:endParaRPr lang="en-US" sz="1100" dirty="0"/>
          </a:p>
        </p:txBody>
      </p:sp>
      <p:sp>
        <p:nvSpPr>
          <p:cNvPr id="47" name="Text 45"/>
          <p:cNvSpPr/>
          <p:nvPr/>
        </p:nvSpPr>
        <p:spPr>
          <a:xfrm>
            <a:off x="3502152" y="3712464"/>
            <a:ext cx="594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5.7M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1879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100" dirty="0">
                <a:solidFill>
                  <a:srgbClr val="065A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</a:t>
            </a:r>
            <a:endParaRPr lang="en-US" sz="1100" dirty="0"/>
          </a:p>
        </p:txBody>
      </p:sp>
      <p:sp>
        <p:nvSpPr>
          <p:cNvPr id="49" name="Text 47"/>
          <p:cNvSpPr/>
          <p:nvPr/>
        </p:nvSpPr>
        <p:spPr>
          <a:xfrm>
            <a:off x="51023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1E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87.54%</a:t>
            </a:r>
            <a:endParaRPr lang="en-US" sz="1100" dirty="0"/>
          </a:p>
        </p:txBody>
      </p:sp>
      <p:sp>
        <p:nvSpPr>
          <p:cNvPr id="50" name="Text 48"/>
          <p:cNvSpPr/>
          <p:nvPr/>
        </p:nvSpPr>
        <p:spPr>
          <a:xfrm>
            <a:off x="60167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87.35%</a:t>
            </a:r>
            <a:endParaRPr lang="en-US" sz="1100" dirty="0"/>
          </a:p>
        </p:txBody>
      </p:sp>
      <p:sp>
        <p:nvSpPr>
          <p:cNvPr id="51" name="Text 49"/>
          <p:cNvSpPr/>
          <p:nvPr/>
        </p:nvSpPr>
        <p:spPr>
          <a:xfrm>
            <a:off x="6931152" y="3712464"/>
            <a:ext cx="822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111.2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7845552" y="3712464"/>
            <a:ext cx="6400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136</a:t>
            </a:r>
            <a:endParaRPr lang="en-US" sz="1100" dirty="0"/>
          </a:p>
        </p:txBody>
      </p:sp>
      <p:sp>
        <p:nvSpPr>
          <p:cNvPr id="53" name="TextBox 52">
            <a:extLst>
              <a:ext uri="{FF2B5EF4-FFF2-40B4-BE49-F238E27FC236}">
                <a16:creationId xmlns:a16="http://schemas.microsoft.com/office/drawing/2014/main" id="{B8F8915F-CA4E-8653-C29F-27D69FC30156}"/>
              </a:ext>
            </a:extLst>
          </p:cNvPr>
          <p:cNvSpPr txBox="1"/>
          <p:nvPr/>
        </p:nvSpPr>
        <p:spPr>
          <a:xfrm>
            <a:off x="1471198" y="4561609"/>
            <a:ext cx="6183359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1200" dirty="0"/>
              <a:t>We distil only 1 layer of resnet10t to compare to 3 layers of </a:t>
            </a:r>
            <a:r>
              <a:rPr lang="en-IN" sz="1200" dirty="0" err="1"/>
              <a:t>ViT</a:t>
            </a:r>
            <a:r>
              <a:rPr lang="en-IN" sz="1200" dirty="0"/>
              <a:t>-Tiny to match parameter counts.</a:t>
            </a:r>
          </a:p>
        </p:txBody>
      </p:sp>
      <p:sp>
        <p:nvSpPr>
          <p:cNvPr id="55" name="Text 0">
            <a:extLst>
              <a:ext uri="{FF2B5EF4-FFF2-40B4-BE49-F238E27FC236}">
                <a16:creationId xmlns:a16="http://schemas.microsoft.com/office/drawing/2014/main" id="{D9616240-8565-0B41-1C3E-61659C5F77F8}"/>
              </a:ext>
            </a:extLst>
          </p:cNvPr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student vs all baselines — model comparison</a:t>
            </a:r>
            <a:endParaRPr lang="en-US" sz="21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and macro F1 — all models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960120"/>
          <a:ext cx="841248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28600"/>
            <a:ext cx="8229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distilled ViT-Tiny vs all baselines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57200" y="841248"/>
            <a:ext cx="8229600" cy="0"/>
          </a:xfrm>
          <a:prstGeom prst="line">
            <a:avLst/>
          </a:prstGeom>
          <a:noFill/>
          <a:ln w="6350">
            <a:solidFill>
              <a:srgbClr val="CBD5E1"/>
            </a:solidFill>
            <a:prstDash val="solid"/>
          </a:ln>
        </p:spPr>
      </p:sp>
      <p:graphicFrame>
        <p:nvGraphicFramePr>
          <p:cNvPr id="4" name="Chart 0"/>
          <p:cNvGraphicFramePr/>
          <p:nvPr/>
        </p:nvGraphicFramePr>
        <p:xfrm>
          <a:off x="365760" y="960120"/>
          <a:ext cx="8412480" cy="3977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320040"/>
            <a:ext cx="2743200" cy="2011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600" b="1" dirty="0">
                <a:solidFill>
                  <a:srgbClr val="FFFFFF">
                    <a:alpha val="18000"/>
                  </a:srgbClr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9600" dirty="0"/>
          </a:p>
        </p:txBody>
      </p:sp>
      <p:sp>
        <p:nvSpPr>
          <p:cNvPr id="3" name="Text 1"/>
          <p:cNvSpPr/>
          <p:nvPr/>
        </p:nvSpPr>
        <p:spPr>
          <a:xfrm>
            <a:off x="457200" y="237744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Distillation Extensions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3246120"/>
            <a:ext cx="8229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178582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Data efficiency · Minority class recovery · UMAP embedding analysis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efficiency — distillation vs direct finetuning across data fractions</a:t>
            </a:r>
            <a:endParaRPr lang="en-US" sz="21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20040" y="822960"/>
          <a:ext cx="4754880" cy="28346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5257800" y="822960"/>
            <a:ext cx="3520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5" name="Shape 2"/>
          <p:cNvSpPr/>
          <p:nvPr/>
        </p:nvSpPr>
        <p:spPr>
          <a:xfrm>
            <a:off x="5257800" y="822960"/>
            <a:ext cx="352044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5385816" y="96012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+9.4pt</a:t>
            </a:r>
            <a:endParaRPr lang="en-US" sz="2600" dirty="0"/>
          </a:p>
        </p:txBody>
      </p:sp>
      <p:sp>
        <p:nvSpPr>
          <p:cNvPr id="7" name="Text 4"/>
          <p:cNvSpPr/>
          <p:nvPr/>
        </p:nvSpPr>
        <p:spPr>
          <a:xfrm>
            <a:off x="5385816" y="1508760"/>
            <a:ext cx="3264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at 10%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Distillation's biggest advantage</a:t>
            </a:r>
            <a:endParaRPr lang="en-US" sz="1000" dirty="0"/>
          </a:p>
        </p:txBody>
      </p:sp>
      <p:sp>
        <p:nvSpPr>
          <p:cNvPr id="8" name="Shape 5"/>
          <p:cNvSpPr/>
          <p:nvPr/>
        </p:nvSpPr>
        <p:spPr>
          <a:xfrm>
            <a:off x="5257800" y="1783080"/>
            <a:ext cx="3520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9" name="Shape 6"/>
          <p:cNvSpPr/>
          <p:nvPr/>
        </p:nvSpPr>
        <p:spPr>
          <a:xfrm>
            <a:off x="5257800" y="1783080"/>
            <a:ext cx="352044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385816" y="192024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+8.8pt</a:t>
            </a:r>
            <a:endParaRPr lang="en-US" sz="2600" dirty="0"/>
          </a:p>
        </p:txBody>
      </p:sp>
      <p:sp>
        <p:nvSpPr>
          <p:cNvPr id="11" name="Text 8"/>
          <p:cNvSpPr/>
          <p:nvPr/>
        </p:nvSpPr>
        <p:spPr>
          <a:xfrm>
            <a:off x="5385816" y="2468880"/>
            <a:ext cx="3264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at 25%</a:t>
            </a:r>
            <a:endParaRPr lang="en-US" sz="1000" dirty="0"/>
          </a:p>
        </p:txBody>
      </p:sp>
      <p:sp>
        <p:nvSpPr>
          <p:cNvPr id="12" name="Shape 9"/>
          <p:cNvSpPr/>
          <p:nvPr/>
        </p:nvSpPr>
        <p:spPr>
          <a:xfrm>
            <a:off x="5257800" y="2743200"/>
            <a:ext cx="352044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257800" y="2743200"/>
            <a:ext cx="352044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385816" y="2880360"/>
            <a:ext cx="32644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+3.1pt</a:t>
            </a:r>
            <a:endParaRPr lang="en-US" sz="2600" dirty="0"/>
          </a:p>
        </p:txBody>
      </p:sp>
      <p:sp>
        <p:nvSpPr>
          <p:cNvPr id="15" name="Text 12"/>
          <p:cNvSpPr/>
          <p:nvPr/>
        </p:nvSpPr>
        <p:spPr>
          <a:xfrm>
            <a:off x="5385816" y="3429000"/>
            <a:ext cx="326440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gain at 100%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320040" y="3767328"/>
            <a:ext cx="8503920" cy="1261872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7" name="Text 14"/>
          <p:cNvSpPr/>
          <p:nvPr/>
        </p:nvSpPr>
        <p:spPr>
          <a:xfrm>
            <a:off x="475488" y="384048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equivalences</a:t>
            </a:r>
            <a:endParaRPr lang="en-US" sz="1200" dirty="0"/>
          </a:p>
        </p:txBody>
      </p:sp>
      <p:sp>
        <p:nvSpPr>
          <p:cNvPr id="18" name="Shape 15"/>
          <p:cNvSpPr/>
          <p:nvPr/>
        </p:nvSpPr>
        <p:spPr>
          <a:xfrm>
            <a:off x="475488" y="4206240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603504" y="4197096"/>
            <a:ext cx="8074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25% (83.1%) ≈ Direct 100% (84.5%) → 4× less data needed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75488" y="4480560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603504" y="4471416"/>
            <a:ext cx="8074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10% (75.0%) ≈ Direct 25% (74.3%) → 2.5× less data needed</a:t>
            </a:r>
            <a:endParaRPr lang="en-US" sz="1050" dirty="0"/>
          </a:p>
        </p:txBody>
      </p:sp>
      <p:sp>
        <p:nvSpPr>
          <p:cNvPr id="22" name="Shape 19"/>
          <p:cNvSpPr/>
          <p:nvPr/>
        </p:nvSpPr>
        <p:spPr>
          <a:xfrm>
            <a:off x="475488" y="4754880"/>
            <a:ext cx="54864" cy="256032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3" name="Text 20"/>
          <p:cNvSpPr/>
          <p:nvPr/>
        </p:nvSpPr>
        <p:spPr>
          <a:xfrm>
            <a:off x="603504" y="4745736"/>
            <a:ext cx="80741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100% (111 min) faster AND better than Direct 100% (143 min)</a:t>
            </a:r>
            <a:endParaRPr lang="en-US" sz="10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distillation across data fractions</a:t>
            </a:r>
            <a:endParaRPr lang="en-US" sz="2400" dirty="0"/>
          </a:p>
        </p:txBody>
      </p:sp>
      <p:graphicFrame>
        <p:nvGraphicFramePr>
          <p:cNvPr id="3" name="Chart 0"/>
          <p:cNvGraphicFramePr/>
          <p:nvPr/>
        </p:nvGraphicFramePr>
        <p:xfrm>
          <a:off x="365760" y="914400"/>
          <a:ext cx="8412480" cy="402336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Imbalanced Cat Data: Setup — what makes this experiment meaningful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397764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397764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75488" y="9692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 ·  ViT-Base (86M)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" y="1335024"/>
            <a:ext cx="365760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Trained on FULL balanced dataset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(100% of cat samples + 100% of dogs)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Has seen every cat breed extensively.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Its soft labels carry complete knowledge of cat breed similarity structure — knowledge the student's training data does not contain.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617720" y="841248"/>
            <a:ext cx="4114800" cy="228600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4617720" y="841248"/>
            <a:ext cx="4114800" cy="54864"/>
          </a:xfrm>
          <a:prstGeom prst="rect">
            <a:avLst/>
          </a:prstGeom>
          <a:solidFill>
            <a:srgbClr val="7C3AED"/>
          </a:solidFill>
          <a:ln w="12700">
            <a:solidFill>
              <a:srgbClr val="7C3AE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73168" y="969264"/>
            <a:ext cx="37490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 ·  ViT-Tiny (5.7M)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773168" y="1335024"/>
            <a:ext cx="3749040" cy="17190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Trained with ONLY 20% of cat samples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(severe underrepresentation)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Without distillation: oversampling used to partially compensate.</a:t>
            </a:r>
            <a:endParaRPr lang="en-US" sz="115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15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With distillation: teacher soft labels provide implicit knowledge of full cat distribution.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320040" y="3246120"/>
            <a:ext cx="8366760" cy="1691640"/>
          </a:xfrm>
          <a:prstGeom prst="rect">
            <a:avLst/>
          </a:prstGeom>
          <a:solidFill>
            <a:srgbClr val="F5F3FF"/>
          </a:solidFill>
          <a:ln w="10160">
            <a:solidFill>
              <a:srgbClr val="7C3AED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502920" y="33375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key question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694176"/>
            <a:ext cx="8046720" cy="11704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Can the teacher's soft labels — which encode full knowledge of the minority cat classes — compensate for the student's training data deficit?</a:t>
            </a:r>
            <a:endParaRPr lang="en-US" sz="1200" dirty="0"/>
          </a:p>
          <a:p>
            <a:pPr marL="0" indent="0">
              <a:lnSpc>
                <a:spcPct val="135000"/>
              </a:lnSpc>
              <a:buNone/>
            </a:pPr>
            <a:r>
              <a:rPr lang="en-US" sz="12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Does distillation provide a larger benefit to underrepresented (cat) classes than to well-represented (dog) classes?</a:t>
            </a:r>
            <a:endParaRPr lang="en-US" sz="12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Minority class recovery — balanced teacher rescues underrepresented cat breeds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22960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22960"/>
            <a:ext cx="196596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96012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79.48%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48056" y="1508760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(oversampling)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479292" y="777240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479292" y="777240"/>
            <a:ext cx="196596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607308" y="914400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85.31%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3607308" y="1463040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492240" y="790956"/>
            <a:ext cx="1965960" cy="1298448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92240" y="790956"/>
            <a:ext cx="1965960" cy="640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620256" y="928116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+5.83pt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6620256" y="1476756"/>
            <a:ext cx="1709928" cy="5394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Accuracy gain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class regresses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233172" y="2880360"/>
            <a:ext cx="5212080" cy="38404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306324" y="28803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677924" y="28803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F1 (mean)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49524" y="2880360"/>
            <a:ext cx="12801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Distilled F1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329684" y="2880360"/>
            <a:ext cx="109728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Gain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233172" y="3264408"/>
            <a:ext cx="5212080" cy="502920"/>
          </a:xfrm>
          <a:prstGeom prst="rect">
            <a:avLst/>
          </a:prstGeom>
          <a:solidFill>
            <a:srgbClr val="F5F3FF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06324" y="33558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🐱 Cats (minority)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1677924" y="33558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0.711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3049524" y="3355848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0.805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4329684" y="3355848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+0.094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214884" y="3822192"/>
            <a:ext cx="5212080" cy="502920"/>
          </a:xfrm>
          <a:prstGeom prst="rect">
            <a:avLst/>
          </a:prstGeom>
          <a:solidFill>
            <a:srgbClr val="EAF6F4"/>
          </a:solidFill>
          <a:ln w="3810">
            <a:solidFill>
              <a:srgbClr val="D0DAE4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06324" y="39227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2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🐶 Dogs (majority)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1677924" y="39227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1C2B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0.828</a:t>
            </a:r>
            <a:endParaRPr lang="en-US" sz="1200" dirty="0"/>
          </a:p>
        </p:txBody>
      </p:sp>
      <p:sp>
        <p:nvSpPr>
          <p:cNvPr id="32" name="Text 30"/>
          <p:cNvSpPr/>
          <p:nvPr/>
        </p:nvSpPr>
        <p:spPr>
          <a:xfrm>
            <a:off x="3049524" y="3922776"/>
            <a:ext cx="12801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0.873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4329684" y="3922776"/>
            <a:ext cx="10972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+0.046</a:t>
            </a:r>
            <a:endParaRPr lang="en-US" sz="1200" dirty="0"/>
          </a:p>
        </p:txBody>
      </p:sp>
      <p:sp>
        <p:nvSpPr>
          <p:cNvPr id="34" name="Shape 32"/>
          <p:cNvSpPr/>
          <p:nvPr/>
        </p:nvSpPr>
        <p:spPr>
          <a:xfrm>
            <a:off x="5715000" y="2249424"/>
            <a:ext cx="3108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5715000" y="2249424"/>
            <a:ext cx="310896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5852160" y="233172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labels encode minority knowledge</a:t>
            </a:r>
            <a:endParaRPr lang="en-US" sz="1100" dirty="0"/>
          </a:p>
        </p:txBody>
      </p:sp>
      <p:sp>
        <p:nvSpPr>
          <p:cNvPr id="37" name="Text 35"/>
          <p:cNvSpPr/>
          <p:nvPr/>
        </p:nvSpPr>
        <p:spPr>
          <a:xfrm>
            <a:off x="5852160" y="263347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assigns non-zero prob to similar cat breeds from full training — transferring intra-species similarity the student never saw.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5715000" y="3209544"/>
            <a:ext cx="3108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5715000" y="3209544"/>
            <a:ext cx="310896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852160" y="329184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 divergence is the vehicle</a:t>
            </a:r>
            <a:endParaRPr lang="en-US" sz="1100" dirty="0"/>
          </a:p>
        </p:txBody>
      </p:sp>
      <p:sp>
        <p:nvSpPr>
          <p:cNvPr id="41" name="Text 39"/>
          <p:cNvSpPr/>
          <p:nvPr/>
        </p:nvSpPr>
        <p:spPr>
          <a:xfrm>
            <a:off x="5852160" y="359359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Loss weight 0.5 at T=4. Forces student to match teacher's calibrated uncertainty across cat breeds, not just the hard label.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715000" y="4169664"/>
            <a:ext cx="3108960" cy="8686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3" name="Shape 41"/>
          <p:cNvSpPr/>
          <p:nvPr/>
        </p:nvSpPr>
        <p:spPr>
          <a:xfrm>
            <a:off x="5715000" y="4169664"/>
            <a:ext cx="3108960" cy="64008"/>
          </a:xfrm>
          <a:prstGeom prst="rect">
            <a:avLst/>
          </a:prstGeom>
          <a:solidFill>
            <a:srgbClr val="6B3FA0"/>
          </a:solidFill>
          <a:ln w="12700">
            <a:solidFill>
              <a:srgbClr val="6B3FA0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852160" y="4251960"/>
            <a:ext cx="2834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6B3FA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Outperforms oversampling</a:t>
            </a:r>
            <a:endParaRPr lang="en-US" sz="1100" dirty="0"/>
          </a:p>
        </p:txBody>
      </p:sp>
      <p:sp>
        <p:nvSpPr>
          <p:cNvPr id="45" name="Text 43"/>
          <p:cNvSpPr/>
          <p:nvPr/>
        </p:nvSpPr>
        <p:spPr>
          <a:xfrm>
            <a:off x="5852160" y="45537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Oversampling repeats existing examples; distillation synthesises new knowledge. +5.83pt over the best standard correction.</a:t>
            </a:r>
            <a:endParaRPr lang="en-US" sz="9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— direct (oversampling) vs distillation across all 37 breeds</a:t>
            </a:r>
            <a:endParaRPr lang="en-US" sz="21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2844210483"/>
              </p:ext>
            </p:extLst>
          </p:nvPr>
        </p:nvGraphicFramePr>
        <p:xfrm>
          <a:off x="320040" y="822960"/>
          <a:ext cx="8503920" cy="352044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4" name="Shape 1"/>
          <p:cNvSpPr/>
          <p:nvPr/>
        </p:nvSpPr>
        <p:spPr>
          <a:xfrm>
            <a:off x="320040" y="4434840"/>
            <a:ext cx="4023360" cy="530352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457200" y="4480560"/>
            <a:ext cx="3840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Classes 0–11 (cats) show the largest gaps — distillation lifts nearly all cat classes significantly</a:t>
            </a:r>
            <a:endParaRPr lang="en-US" sz="1000" dirty="0"/>
          </a:p>
        </p:txBody>
      </p:sp>
      <p:sp>
        <p:nvSpPr>
          <p:cNvPr id="6" name="Shape 3"/>
          <p:cNvSpPr/>
          <p:nvPr/>
        </p:nvSpPr>
        <p:spPr>
          <a:xfrm>
            <a:off x="4572000" y="4434840"/>
            <a:ext cx="4114800" cy="530352"/>
          </a:xfrm>
          <a:prstGeom prst="rect">
            <a:avLst/>
          </a:prstGeom>
          <a:solidFill>
            <a:srgbClr val="EFF6FF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4709160" y="44805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69A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Classes 12–36 (dogs) also improve uniformly — teacher knowledge benefits majority classes too</a:t>
            </a:r>
            <a:endParaRPr lang="en-US" sz="100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Per-class F1 gain (distillation − direct) — minority classes gain most</a:t>
            </a:r>
            <a:endParaRPr lang="en-US" sz="2100" dirty="0"/>
          </a:p>
        </p:txBody>
      </p:sp>
      <p:graphicFrame>
        <p:nvGraphicFramePr>
          <p:cNvPr id="3" name="Chart 0"/>
          <p:cNvGraphicFramePr/>
          <p:nvPr>
            <p:extLst>
              <p:ext uri="{D42A27DB-BD31-4B8C-83A1-F6EECF244321}">
                <p14:modId xmlns:p14="http://schemas.microsoft.com/office/powerpoint/2010/main" val="1745956967"/>
              </p:ext>
            </p:extLst>
          </p:nvPr>
        </p:nvGraphicFramePr>
        <p:xfrm>
          <a:off x="320040" y="822960"/>
          <a:ext cx="40690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4" name="Chart 1"/>
          <p:cNvGraphicFramePr/>
          <p:nvPr>
            <p:extLst>
              <p:ext uri="{D42A27DB-BD31-4B8C-83A1-F6EECF244321}">
                <p14:modId xmlns:p14="http://schemas.microsoft.com/office/powerpoint/2010/main" val="1884129256"/>
              </p:ext>
            </p:extLst>
          </p:nvPr>
        </p:nvGraphicFramePr>
        <p:xfrm>
          <a:off x="4663440" y="822960"/>
          <a:ext cx="4069080" cy="22860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5" name="Shape 1"/>
          <p:cNvSpPr/>
          <p:nvPr/>
        </p:nvSpPr>
        <p:spPr>
          <a:xfrm>
            <a:off x="320040" y="3218688"/>
            <a:ext cx="4069080" cy="438912"/>
          </a:xfrm>
          <a:prstGeom prst="rect">
            <a:avLst/>
          </a:prstGeom>
          <a:solidFill>
            <a:srgbClr val="F5F3FF"/>
          </a:solidFill>
          <a:ln w="6350">
            <a:solidFill>
              <a:srgbClr val="7C3AED"/>
            </a:solidFill>
            <a:prstDash val="solid"/>
          </a:ln>
        </p:spPr>
      </p:sp>
      <p:sp>
        <p:nvSpPr>
          <p:cNvPr id="6" name="Text 2"/>
          <p:cNvSpPr/>
          <p:nvPr/>
        </p:nvSpPr>
        <p:spPr>
          <a:xfrm>
            <a:off x="457200" y="32735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C3AED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 gain = +0.094 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663440" y="3218688"/>
            <a:ext cx="4069080" cy="438912"/>
          </a:xfrm>
          <a:prstGeom prst="rect">
            <a:avLst/>
          </a:prstGeom>
          <a:solidFill>
            <a:srgbClr val="EFF6FF"/>
          </a:solidFill>
          <a:ln w="6350">
            <a:solidFill>
              <a:srgbClr val="0369A1"/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4800600" y="3273552"/>
            <a:ext cx="3794760" cy="32918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369A1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Mean gain = +0.046</a:t>
            </a:r>
            <a:endParaRPr lang="en-US" sz="1000" dirty="0"/>
          </a:p>
        </p:txBody>
      </p:sp>
      <p:sp>
        <p:nvSpPr>
          <p:cNvPr id="9" name="Shape 5"/>
          <p:cNvSpPr/>
          <p:nvPr/>
        </p:nvSpPr>
        <p:spPr>
          <a:xfrm>
            <a:off x="320040" y="3749040"/>
            <a:ext cx="8412480" cy="12070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" name="Shape 6"/>
          <p:cNvSpPr/>
          <p:nvPr/>
        </p:nvSpPr>
        <p:spPr>
          <a:xfrm>
            <a:off x="320040" y="3749040"/>
            <a:ext cx="8412480" cy="54864"/>
          </a:xfrm>
          <a:prstGeom prst="rect">
            <a:avLst/>
          </a:prstGeom>
          <a:solidFill>
            <a:srgbClr val="0F766E"/>
          </a:solidFill>
          <a:ln w="12700">
            <a:solidFill>
              <a:srgbClr val="0F766E"/>
            </a:solidFill>
            <a:prstDash val="solid"/>
          </a:ln>
        </p:spPr>
      </p:sp>
      <p:sp>
        <p:nvSpPr>
          <p:cNvPr id="11" name="Text 7"/>
          <p:cNvSpPr/>
          <p:nvPr/>
        </p:nvSpPr>
        <p:spPr>
          <a:xfrm>
            <a:off x="475488" y="3858768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Hardest minority classes — biggest gains from distillation: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411480" y="4187952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 Ragdoll Cat: +0.178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0.503 → distil 0. 681</a:t>
            </a:r>
            <a:endParaRPr lang="en-US" sz="1100" dirty="0"/>
          </a:p>
        </p:txBody>
      </p:sp>
      <p:sp>
        <p:nvSpPr>
          <p:cNvPr id="13" name="Text 9"/>
          <p:cNvSpPr/>
          <p:nvPr/>
        </p:nvSpPr>
        <p:spPr>
          <a:xfrm>
            <a:off x="3794760" y="4197096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lnSpc>
                <a:spcPct val="130000"/>
              </a:lnSpc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 </a:t>
            </a:r>
            <a:r>
              <a:rPr lang="en-IN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Abyssinian cat</a:t>
            </a: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: +0.158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0.685 → distil 0.843</a:t>
            </a:r>
            <a:endParaRPr lang="en-US" sz="1100" dirty="0"/>
          </a:p>
        </p:txBody>
      </p:sp>
      <p:sp>
        <p:nvSpPr>
          <p:cNvPr id="14" name="Text 10"/>
          <p:cNvSpPr/>
          <p:nvPr/>
        </p:nvSpPr>
        <p:spPr>
          <a:xfrm>
            <a:off x="6812280" y="4206240"/>
            <a:ext cx="2011680" cy="6949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Class Russian Blue cat: +0.129</a:t>
            </a:r>
            <a:endParaRPr lang="en-US" sz="1100" dirty="0"/>
          </a:p>
          <a:p>
            <a:pPr marL="0" indent="0">
              <a:lnSpc>
                <a:spcPct val="130000"/>
              </a:lnSpc>
              <a:buNone/>
            </a:pPr>
            <a:r>
              <a:rPr lang="en-US" sz="1100" dirty="0">
                <a:solidFill>
                  <a:srgbClr val="1E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direct 0.612 → distil 0.741</a:t>
            </a:r>
            <a:endParaRPr lang="en-US" sz="110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6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64592"/>
            <a:ext cx="83210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embedding analysis — teacher vs distilled student</a:t>
            </a:r>
            <a:endParaRPr lang="en-US" sz="2100" dirty="0"/>
          </a:p>
        </p:txBody>
      </p:sp>
      <p:sp>
        <p:nvSpPr>
          <p:cNvPr id="3" name="Shape 1"/>
          <p:cNvSpPr/>
          <p:nvPr/>
        </p:nvSpPr>
        <p:spPr>
          <a:xfrm>
            <a:off x="320040" y="841248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320040" y="841248"/>
            <a:ext cx="196596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48056" y="978408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3,143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48056" y="152704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correct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85.7% of test set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2468880" y="841248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468880" y="841248"/>
            <a:ext cx="196596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96896" y="978408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269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596896" y="152704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Teacher ✓  Student ✗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7.3% — boundary cases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617720" y="841248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617720" y="841248"/>
            <a:ext cx="1965960" cy="64008"/>
          </a:xfrm>
          <a:prstGeom prst="rect">
            <a:avLst/>
          </a:prstGeom>
          <a:solidFill>
            <a:srgbClr val="1A7A5E"/>
          </a:solidFill>
          <a:ln w="12700">
            <a:solidFill>
              <a:srgbClr val="1A7A5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45736" y="978408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7A5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4745736" y="152704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✓  Teacher ✗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1.9% — soft label benefit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6766560" y="841248"/>
            <a:ext cx="1965960" cy="13258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766560" y="841248"/>
            <a:ext cx="1965960" cy="64008"/>
          </a:xfrm>
          <a:prstGeom prst="rect">
            <a:avLst/>
          </a:prstGeom>
          <a:solidFill>
            <a:srgbClr val="8EA3B4"/>
          </a:solidFill>
          <a:ln w="12700">
            <a:solidFill>
              <a:srgbClr val="8EA3B4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894576" y="978408"/>
            <a:ext cx="170992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8EA3B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188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6894576" y="1527048"/>
            <a:ext cx="1709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Both wrong</a:t>
            </a:r>
            <a:endParaRPr lang="en-US" sz="1000" dirty="0"/>
          </a:p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8EA3B4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5.1% — dataset difficulty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320040" y="2304288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20040" y="2304288"/>
            <a:ext cx="850392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" y="237744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37 distinct clusters — both models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206240" y="2359152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Every class is cleanly separated in both teacher and student UMAP spaces. Distillation successfully transferred the teacher's representational topology despite 15× compression.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320040" y="3017520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0040" y="3017520"/>
            <a:ext cx="8503920" cy="64008"/>
          </a:xfrm>
          <a:prstGeom prst="rect">
            <a:avLst/>
          </a:prstGeom>
          <a:solidFill>
            <a:srgbClr val="C77B3A"/>
          </a:solidFill>
          <a:ln w="12700">
            <a:solidFill>
              <a:srgbClr val="C77B3A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" y="309067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C77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clusters appear tighter — dimensionality artefact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206240" y="3072384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192-dim space forces higher intra-class cosine similarity. This is not evidence of better representations — it reflects compression, not quality. What matters is between-class margin.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320040" y="3730752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320040" y="3730752"/>
            <a:ext cx="850392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" y="3803904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Student failures cluster at boundaries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4206240" y="3785616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269 teacher-only correct samples concentrate at class boundaries and in intrinsically hard breeds (2, 34, 10) — not random failures. The teacher's larger margin in 768-dim resolves these.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320040" y="4443984"/>
            <a:ext cx="8503920" cy="640080"/>
          </a:xfrm>
          <a:prstGeom prst="rect">
            <a:avLst/>
          </a:prstGeom>
          <a:solidFill>
            <a:srgbClr val="FFFFFF"/>
          </a:solidFill>
          <a:ln w="6350">
            <a:solidFill>
              <a:srgbClr val="D0DAE4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</p:sp>
      <p:sp>
        <p:nvSpPr>
          <p:cNvPr id="32" name="Shape 30"/>
          <p:cNvSpPr/>
          <p:nvPr/>
        </p:nvSpPr>
        <p:spPr>
          <a:xfrm>
            <a:off x="320040" y="4443984"/>
            <a:ext cx="8503920" cy="64008"/>
          </a:xfrm>
          <a:prstGeom prst="rect">
            <a:avLst/>
          </a:prstGeom>
          <a:solidFill>
            <a:srgbClr val="178582"/>
          </a:solidFill>
          <a:ln w="12700">
            <a:solidFill>
              <a:srgbClr val="178582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" y="451713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785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69 student-only correct samples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4206240" y="4498848"/>
            <a:ext cx="45262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C2B38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The student learned complementary knowledge from soft labels beyond the teacher's own hard predictions — distillation does not simply compress, it reshapes the learned distribution.</a:t>
            </a:r>
            <a:endParaRPr lang="en-US" sz="100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of CLS embeddings — teacher vs student (37 classes)</a:t>
            </a:r>
            <a:endParaRPr lang="en-US" sz="2200" dirty="0"/>
          </a:p>
        </p:txBody>
      </p:sp>
      <p:pic>
        <p:nvPicPr>
          <p:cNvPr id="3" name="Image 0" descr="/home/claude/img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11480" y="182880"/>
            <a:ext cx="83210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34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UMAP coloured by prediction outcome — teacher vs student</a:t>
            </a:r>
            <a:endParaRPr lang="en-US" sz="2200" dirty="0"/>
          </a:p>
        </p:txBody>
      </p:sp>
      <p:pic>
        <p:nvPicPr>
          <p:cNvPr id="3" name="Image 0" descr="/home/claude/img_correctnes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822960"/>
            <a:ext cx="859536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01168"/>
            <a:ext cx="8229600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findings</a:t>
            </a:r>
            <a:endParaRPr lang="en-US" sz="2600" dirty="0"/>
          </a:p>
        </p:txBody>
      </p:sp>
      <p:sp>
        <p:nvSpPr>
          <p:cNvPr id="3" name="Shape 1"/>
          <p:cNvSpPr/>
          <p:nvPr/>
        </p:nvSpPr>
        <p:spPr>
          <a:xfrm>
            <a:off x="411480" y="960120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411480" y="960120"/>
            <a:ext cx="64008" cy="594360"/>
          </a:xfrm>
          <a:prstGeom prst="rect">
            <a:avLst/>
          </a:prstGeom>
          <a:solidFill>
            <a:srgbClr val="7EDDD5"/>
          </a:solidFill>
          <a:ln w="12700">
            <a:solidFill>
              <a:srgbClr val="7EDDD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48640" y="99669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05156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Gradual unfreeze is the best fine-tuning strategy — 93.16% on ViT-Base, most robust to data reduction. Phased LR decay acts as built-in regularisation.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411480" y="1627632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411480" y="1627632"/>
            <a:ext cx="64008" cy="594360"/>
          </a:xfrm>
          <a:prstGeom prst="rect">
            <a:avLst/>
          </a:prstGeom>
          <a:solidFill>
            <a:srgbClr val="F5C97A"/>
          </a:solidFill>
          <a:ln w="12700">
            <a:solidFill>
              <a:srgbClr val="F5C97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548640" y="166420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C97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005840" y="1719072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ViT-B/16 outperforms ResNet-RS152 by 2.13pt (92.59% vs 90.46%). ResNet trains 18% faster — pragmatic choice when compute is limited.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11480" y="2295144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11480" y="2295144"/>
            <a:ext cx="64008" cy="594360"/>
          </a:xfrm>
          <a:prstGeom prst="rect">
            <a:avLst/>
          </a:prstGeom>
          <a:solidFill>
            <a:srgbClr val="F5A893"/>
          </a:solidFill>
          <a:ln w="12700">
            <a:solidFill>
              <a:srgbClr val="F5A893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48640" y="23317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5A8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1005840" y="2386584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No standard imbalance correction (WCE / oversampling / augmentation) fully closes the cat-dog F1 gap (~0.09–0.14). This motivates distillation from a balanced teacher.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11480" y="2962656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11480" y="2962656"/>
            <a:ext cx="64008" cy="594360"/>
          </a:xfrm>
          <a:prstGeom prst="rect">
            <a:avLst/>
          </a:prstGeom>
          <a:solidFill>
            <a:srgbClr val="B8A0F0"/>
          </a:solidFill>
          <a:ln w="12700">
            <a:solidFill>
              <a:srgbClr val="B8A0F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48640" y="29992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B8A0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1005840" y="3054096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Distilled ViT-Tiny (87.54%) outperforms ALL baselines including its teacher (84.46%) — 15× fewer parameters. Distillation with gradual unfreezing exceeds direct finetuning.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11480" y="3630168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" y="3630168"/>
            <a:ext cx="64008" cy="594360"/>
          </a:xfrm>
          <a:prstGeom prst="rect">
            <a:avLst/>
          </a:prstGeom>
          <a:solidFill>
            <a:srgbClr val="7EDDD5"/>
          </a:solidFill>
          <a:ln w="12700">
            <a:solidFill>
              <a:srgbClr val="7EDDD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48640" y="366674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7EDDD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1005840" y="3721608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Distillation at 25% data matches direct finetuning at 100% — 4× data efficiency. The gap peaks at 10% data (+9.4pt), confirming distillation is most valuable when labels are scarce.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411480" y="4297680"/>
            <a:ext cx="8321040" cy="594360"/>
          </a:xfrm>
          <a:prstGeom prst="rect">
            <a:avLst/>
          </a:prstGeom>
          <a:solidFill>
            <a:srgbClr val="FFFFFF">
              <a:alpha val="8000"/>
            </a:srgbClr>
          </a:solidFill>
          <a:ln w="3810">
            <a:solidFill>
              <a:srgbClr val="FFFFFF">
                <a:alpha val="28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11480" y="4297680"/>
            <a:ext cx="64008" cy="594360"/>
          </a:xfrm>
          <a:prstGeom prst="rect">
            <a:avLst/>
          </a:prstGeom>
          <a:solidFill>
            <a:srgbClr val="A0D9B0"/>
          </a:solidFill>
          <a:ln w="12700">
            <a:solidFill>
              <a:srgbClr val="A0D9B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48640" y="433425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A0D9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800" dirty="0"/>
          </a:p>
        </p:txBody>
      </p:sp>
      <p:sp>
        <p:nvSpPr>
          <p:cNvPr id="26" name="Text 24"/>
          <p:cNvSpPr/>
          <p:nvPr/>
        </p:nvSpPr>
        <p:spPr>
          <a:xfrm>
            <a:off x="1005840" y="4389120"/>
            <a:ext cx="749808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150" dirty="0">
                <a:solidFill>
                  <a:srgbClr val="E2EEF5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Balanced teacher recovers minority cat classes by 1.65× more than majority dogs. Soft labels transfer implicit minority class knowledge that oversampling cannot replicate.</a:t>
            </a:r>
            <a:endParaRPr lang="en-US" sz="11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</TotalTime>
  <Words>3543</Words>
  <Application>Microsoft Office PowerPoint</Application>
  <PresentationFormat>On-screen Show (16:9)</PresentationFormat>
  <Paragraphs>738</Paragraphs>
  <Slides>38</Slides>
  <Notes>35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38</vt:i4>
      </vt:variant>
    </vt:vector>
  </HeadingPairs>
  <TitlesOfParts>
    <vt:vector size="43" baseType="lpstr">
      <vt:lpstr>Arial</vt:lpstr>
      <vt:lpstr>Calibri</vt:lpstr>
      <vt:lpstr>Calibri Light</vt:lpstr>
      <vt:lpstr>Trebuchet MS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Fine-tuning Vision Transformers &amp; Knowledge Distillation</dc:title>
  <dc:subject>PptxGenJS Presentation</dc:subject>
  <dc:creator>PptxGenJS</dc:creator>
  <cp:lastModifiedBy>Bhaswat Raj</cp:lastModifiedBy>
  <cp:revision>19</cp:revision>
  <dcterms:created xsi:type="dcterms:W3CDTF">2026-05-10T14:11:04Z</dcterms:created>
  <dcterms:modified xsi:type="dcterms:W3CDTF">2026-05-10T15:38:17Z</dcterms:modified>
</cp:coreProperties>
</file>