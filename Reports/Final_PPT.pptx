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6.xml" ContentType="application/vnd.openxmlformats-officedocument.drawingml.chart+xml"/>
  <Override PartName="/ppt/notesSlides/notesSlide1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1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12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13.xml" ContentType="application/vnd.openxmlformats-officedocument.drawingml.chart+xml"/>
  <Override PartName="/ppt/notesSlides/notesSlide24.xml" ContentType="application/vnd.openxmlformats-officedocument.presentationml.notesSlide+xml"/>
  <Override PartName="/ppt/charts/chart14.xml" ContentType="application/vnd.openxmlformats-officedocument.drawingml.chart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15.xml" ContentType="application/vnd.openxmlformats-officedocument.drawingml.chart+xml"/>
  <Override PartName="/ppt/notesSlides/notesSlide27.xml" ContentType="application/vnd.openxmlformats-officedocument.presentationml.notesSlide+xml"/>
  <Override PartName="/ppt/charts/chart16.xml" ContentType="application/vnd.openxmlformats-officedocument.drawingml.chart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7.xml" ContentType="application/vnd.openxmlformats-officedocument.drawingml.chart+xml"/>
  <Override PartName="/ppt/notesSlides/notesSlide31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96" r:id="rId6"/>
    <p:sldId id="293" r:id="rId7"/>
    <p:sldId id="263" r:id="rId8"/>
    <p:sldId id="295" r:id="rId9"/>
    <p:sldId id="294" r:id="rId10"/>
    <p:sldId id="260" r:id="rId11"/>
    <p:sldId id="261" r:id="rId12"/>
    <p:sldId id="290" r:id="rId13"/>
    <p:sldId id="291" r:id="rId14"/>
    <p:sldId id="292" r:id="rId15"/>
    <p:sldId id="262" r:id="rId16"/>
    <p:sldId id="288" r:id="rId17"/>
    <p:sldId id="287" r:id="rId18"/>
    <p:sldId id="289" r:id="rId19"/>
    <p:sldId id="264" r:id="rId20"/>
    <p:sldId id="265" r:id="rId21"/>
    <p:sldId id="266" r:id="rId22"/>
    <p:sldId id="283" r:id="rId23"/>
    <p:sldId id="268" r:id="rId24"/>
    <p:sldId id="281" r:id="rId25"/>
    <p:sldId id="279" r:id="rId26"/>
    <p:sldId id="280" r:id="rId27"/>
    <p:sldId id="282" r:id="rId28"/>
    <p:sldId id="270" r:id="rId29"/>
    <p:sldId id="271" r:id="rId30"/>
    <p:sldId id="277" r:id="rId31"/>
    <p:sldId id="284" r:id="rId32"/>
    <p:sldId id="272" r:id="rId33"/>
    <p:sldId id="285" r:id="rId34"/>
    <p:sldId id="286" r:id="rId35"/>
    <p:sldId id="273" r:id="rId36"/>
    <p:sldId id="275" r:id="rId37"/>
    <p:sldId id="276" r:id="rId38"/>
    <p:sldId id="297" r:id="rId39"/>
    <p:sldId id="274" r:id="rId4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 Blocks Unfrozen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no_augs</c:v>
                </c:pt>
                <c:pt idx="1">
                  <c:v>basic_augs</c:v>
                </c:pt>
                <c:pt idx="2">
                  <c:v>erasing_low</c:v>
                </c:pt>
                <c:pt idx="3">
                  <c:v>erasing_high</c:v>
                </c:pt>
                <c:pt idx="4">
                  <c:v>jitter_only</c:v>
                </c:pt>
                <c:pt idx="5">
                  <c:v>mixup_low</c:v>
                </c:pt>
                <c:pt idx="6">
                  <c:v>mixup_mod</c:v>
                </c:pt>
                <c:pt idx="7">
                  <c:v>cutmix_low</c:v>
                </c:pt>
                <c:pt idx="8">
                  <c:v>cutmix_mod</c:v>
                </c:pt>
                <c:pt idx="9">
                  <c:v>mix+cut</c:v>
                </c:pt>
                <c:pt idx="10">
                  <c:v>full_low</c:v>
                </c:pt>
                <c:pt idx="11">
                  <c:v>full_high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92.07</c:v>
                </c:pt>
                <c:pt idx="1">
                  <c:v>92.86</c:v>
                </c:pt>
                <c:pt idx="2">
                  <c:v>92.97</c:v>
                </c:pt>
                <c:pt idx="3">
                  <c:v>92.37</c:v>
                </c:pt>
                <c:pt idx="4">
                  <c:v>92.75</c:v>
                </c:pt>
                <c:pt idx="5">
                  <c:v>92.89</c:v>
                </c:pt>
                <c:pt idx="6">
                  <c:v>92.86</c:v>
                </c:pt>
                <c:pt idx="7">
                  <c:v>92.59</c:v>
                </c:pt>
                <c:pt idx="8">
                  <c:v>92.7</c:v>
                </c:pt>
                <c:pt idx="9">
                  <c:v>92.53</c:v>
                </c:pt>
                <c:pt idx="10">
                  <c:v>92.58</c:v>
                </c:pt>
                <c:pt idx="11">
                  <c:v>92.78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E9-4BCE-B601-FD86FC3CB7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 Blocks Unfrozen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no_augs</c:v>
                </c:pt>
                <c:pt idx="1">
                  <c:v>basic_augs</c:v>
                </c:pt>
                <c:pt idx="2">
                  <c:v>erasing_low</c:v>
                </c:pt>
                <c:pt idx="3">
                  <c:v>erasing_high</c:v>
                </c:pt>
                <c:pt idx="4">
                  <c:v>jitter_only</c:v>
                </c:pt>
                <c:pt idx="5">
                  <c:v>mixup_low</c:v>
                </c:pt>
                <c:pt idx="6">
                  <c:v>mixup_mod</c:v>
                </c:pt>
                <c:pt idx="7">
                  <c:v>cutmix_low</c:v>
                </c:pt>
                <c:pt idx="8">
                  <c:v>cutmix_mod</c:v>
                </c:pt>
                <c:pt idx="9">
                  <c:v>mix+cut</c:v>
                </c:pt>
                <c:pt idx="10">
                  <c:v>full_low</c:v>
                </c:pt>
                <c:pt idx="11">
                  <c:v>full_high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92.75</c:v>
                </c:pt>
                <c:pt idx="1">
                  <c:v>92.35</c:v>
                </c:pt>
                <c:pt idx="2">
                  <c:v>92.34</c:v>
                </c:pt>
                <c:pt idx="3">
                  <c:v>92.62</c:v>
                </c:pt>
                <c:pt idx="4">
                  <c:v>92.66</c:v>
                </c:pt>
                <c:pt idx="5">
                  <c:v>92.41</c:v>
                </c:pt>
                <c:pt idx="6">
                  <c:v>92.71</c:v>
                </c:pt>
                <c:pt idx="7">
                  <c:v>92.42</c:v>
                </c:pt>
                <c:pt idx="8">
                  <c:v>92.5</c:v>
                </c:pt>
                <c:pt idx="9">
                  <c:v>92.67</c:v>
                </c:pt>
                <c:pt idx="10">
                  <c:v>92.54</c:v>
                </c:pt>
                <c:pt idx="11">
                  <c:v>92.78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0E9-4BCE-B601-FD86FC3CB77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 Blocks Unfrozen</c:v>
                </c:pt>
              </c:strCache>
            </c:strRef>
          </c:tx>
          <c:spPr>
            <a:solidFill>
              <a:srgbClr val="67E8F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no_augs</c:v>
                </c:pt>
                <c:pt idx="1">
                  <c:v>basic_augs</c:v>
                </c:pt>
                <c:pt idx="2">
                  <c:v>erasing_low</c:v>
                </c:pt>
                <c:pt idx="3">
                  <c:v>erasing_high</c:v>
                </c:pt>
                <c:pt idx="4">
                  <c:v>jitter_only</c:v>
                </c:pt>
                <c:pt idx="5">
                  <c:v>mixup_low</c:v>
                </c:pt>
                <c:pt idx="6">
                  <c:v>mixup_mod</c:v>
                </c:pt>
                <c:pt idx="7">
                  <c:v>cutmix_low</c:v>
                </c:pt>
                <c:pt idx="8">
                  <c:v>cutmix_mod</c:v>
                </c:pt>
                <c:pt idx="9">
                  <c:v>mix+cut</c:v>
                </c:pt>
                <c:pt idx="10">
                  <c:v>full_low</c:v>
                </c:pt>
                <c:pt idx="11">
                  <c:v>full_high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92.52</c:v>
                </c:pt>
                <c:pt idx="1">
                  <c:v>92.55</c:v>
                </c:pt>
                <c:pt idx="2">
                  <c:v>92.33</c:v>
                </c:pt>
                <c:pt idx="3">
                  <c:v>92.86</c:v>
                </c:pt>
                <c:pt idx="4">
                  <c:v>92.47</c:v>
                </c:pt>
                <c:pt idx="5">
                  <c:v>92.37</c:v>
                </c:pt>
                <c:pt idx="6">
                  <c:v>92.5</c:v>
                </c:pt>
                <c:pt idx="7">
                  <c:v>92.34</c:v>
                </c:pt>
                <c:pt idx="8">
                  <c:v>92.35</c:v>
                </c:pt>
                <c:pt idx="9">
                  <c:v>92.34</c:v>
                </c:pt>
                <c:pt idx="10">
                  <c:v>92.8</c:v>
                </c:pt>
                <c:pt idx="11">
                  <c:v>92.67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0E9-4BCE-B601-FD86FC3CB7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3.5"/>
          <c:min val="91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r>
              <a:rPr lang="en-GB" sz="900" b="0" i="0" u="none" strike="noStrike">
                <a:solidFill>
                  <a:srgbClr val="475569"/>
                </a:solidFill>
                <a:latin typeface="Arial"/>
              </a:rPr>
              <a:t>Avg Accuracy by Unfrozen Block Count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Accuracy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8C4-42D1-9768-571182258F62}"/>
              </c:ext>
            </c:extLst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8C4-42D1-9768-571182258F62}"/>
              </c:ext>
            </c:extLst>
          </c:dPt>
          <c:dPt>
            <c:idx val="2"/>
            <c:invertIfNegative val="0"/>
            <c:bubble3D val="0"/>
            <c:spPr>
              <a:solidFill>
                <a:srgbClr val="67E8F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8C4-42D1-9768-571182258F6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 Blocks</c:v>
                </c:pt>
                <c:pt idx="1">
                  <c:v>4 Blocks</c:v>
                </c:pt>
                <c:pt idx="2">
                  <c:v>6 Blocks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92.61</c:v>
                </c:pt>
                <c:pt idx="1">
                  <c:v>92.4</c:v>
                </c:pt>
                <c:pt idx="2">
                  <c:v>92.38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8C4-42D1-9768-571182258F6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2.8"/>
          <c:min val="9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GB" sz="1000" b="0" i="0" u="none" strike="noStrike">
                <a:solidFill>
                  <a:srgbClr val="000000"/>
                </a:solidFill>
                <a:latin typeface="Arial"/>
              </a:rPr>
              <a:t>Avg Accuracy by # Block Groups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Accuracy (%)</c:v>
                </c:pt>
              </c:strCache>
            </c:strRef>
          </c:tx>
          <c:spPr>
            <a:ln w="38100" cap="flat">
              <a:solidFill>
                <a:srgbClr val="7C3AE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 block</c:v>
                </c:pt>
                <c:pt idx="1">
                  <c:v>2 blocks</c:v>
                </c:pt>
                <c:pt idx="2">
                  <c:v>3 blocks</c:v>
                </c:pt>
                <c:pt idx="3">
                  <c:v>5 blocks</c:v>
                </c:pt>
                <c:pt idx="4">
                  <c:v>6 blocks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92.1</c:v>
                </c:pt>
                <c:pt idx="1">
                  <c:v>92.33</c:v>
                </c:pt>
                <c:pt idx="2">
                  <c:v>92.53</c:v>
                </c:pt>
                <c:pt idx="3">
                  <c:v>92.26</c:v>
                </c:pt>
                <c:pt idx="4">
                  <c:v>92.25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0E9-41BD-9ECE-F56C01D01E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2.8"/>
          <c:min val="91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000" b="0" i="0" u="none" strike="noStrike">
                <a:solidFill>
                  <a:srgbClr val="000000"/>
                </a:solidFill>
                <a:latin typeface="Arial"/>
              </a:rPr>
              <a:t>Best Accuracy per Experiment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Accuracy (%)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495-45B6-87F6-893166EACBD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495-45B6-87F6-893166EACBD4}"/>
              </c:ext>
            </c:extLst>
          </c:dPt>
          <c:dPt>
            <c:idx val="2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495-45B6-87F6-893166EACBD4}"/>
              </c:ext>
            </c:extLst>
          </c:dPt>
          <c:dPt>
            <c:idx val="3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495-45B6-87F6-893166EACBD4}"/>
              </c:ext>
            </c:extLst>
          </c:dPt>
          <c:dPt>
            <c:idx val="4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495-45B6-87F6-893166EACBD4}"/>
              </c:ext>
            </c:extLst>
          </c:dPt>
          <c:dPt>
            <c:idx val="5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495-45B6-87F6-893166EACBD4}"/>
              </c:ext>
            </c:extLst>
          </c:dPt>
          <c:dPt>
            <c:idx val="6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495-45B6-87F6-893166EACBD4}"/>
              </c:ext>
            </c:extLst>
          </c:dPt>
          <c:dPt>
            <c:idx val="7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495-45B6-87F6-893166EACBD4}"/>
              </c:ext>
            </c:extLst>
          </c:dPt>
          <c:dPt>
            <c:idx val="8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495-45B6-87F6-893166EACBD4}"/>
              </c:ext>
            </c:extLst>
          </c:dPt>
          <c:dPt>
            <c:idx val="9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495-45B6-87F6-893166EACBD4}"/>
              </c:ext>
            </c:extLst>
          </c:dPt>
          <c:dPt>
            <c:idx val="10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5495-45B6-87F6-893166EACBD4}"/>
              </c:ext>
            </c:extLst>
          </c:dPt>
          <c:dPt>
            <c:idx val="11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5495-45B6-87F6-893166EACBD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no_augs</c:v>
                </c:pt>
                <c:pt idx="1">
                  <c:v>erasing+jitter+low</c:v>
                </c:pt>
                <c:pt idx="2">
                  <c:v>mixup+cutmix</c:v>
                </c:pt>
                <c:pt idx="3">
                  <c:v>jitter_only</c:v>
                </c:pt>
                <c:pt idx="4">
                  <c:v>erasing+jitter+high</c:v>
                </c:pt>
                <c:pt idx="5">
                  <c:v>basic_augs</c:v>
                </c:pt>
                <c:pt idx="6">
                  <c:v>erasing_low_prob</c:v>
                </c:pt>
                <c:pt idx="7">
                  <c:v>cutmix_moderate</c:v>
                </c:pt>
                <c:pt idx="8">
                  <c:v>erasing_high_prob</c:v>
                </c:pt>
                <c:pt idx="9">
                  <c:v>mixup_moderate</c:v>
                </c:pt>
                <c:pt idx="10">
                  <c:v>cutmix_low</c:v>
                </c:pt>
                <c:pt idx="11">
                  <c:v>mixup_low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93.16</c:v>
                </c:pt>
                <c:pt idx="1">
                  <c:v>93</c:v>
                </c:pt>
                <c:pt idx="2">
                  <c:v>92.83</c:v>
                </c:pt>
                <c:pt idx="3">
                  <c:v>92.72</c:v>
                </c:pt>
                <c:pt idx="4">
                  <c:v>92.72</c:v>
                </c:pt>
                <c:pt idx="5">
                  <c:v>92.7</c:v>
                </c:pt>
                <c:pt idx="6">
                  <c:v>92.7</c:v>
                </c:pt>
                <c:pt idx="7">
                  <c:v>92.59</c:v>
                </c:pt>
                <c:pt idx="8">
                  <c:v>92.56</c:v>
                </c:pt>
                <c:pt idx="9">
                  <c:v>92.5</c:v>
                </c:pt>
                <c:pt idx="10">
                  <c:v>92.34</c:v>
                </c:pt>
                <c:pt idx="11">
                  <c:v>92.26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5495-45B6-87F6-893166EACB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3.4"/>
          <c:min val="91.8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GB" sz="1000" b="0" i="0" u="none" strike="noStrike">
                <a:solidFill>
                  <a:srgbClr val="000000"/>
                </a:solidFill>
                <a:latin typeface="Arial"/>
              </a:rPr>
              <a:t>Accuracy per Augmentation Config across Training Methods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Linear Probe</c:v>
                </c:pt>
              </c:strCache>
            </c:strRef>
          </c:tx>
          <c:spPr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No Aug</c:v>
                </c:pt>
                <c:pt idx="1">
                  <c:v>Basic</c:v>
                </c:pt>
                <c:pt idx="2">
                  <c:v>Erasing Low</c:v>
                </c:pt>
                <c:pt idx="3">
                  <c:v>Erasing High</c:v>
                </c:pt>
                <c:pt idx="4">
                  <c:v>Jitter Only</c:v>
                </c:pt>
                <c:pt idx="5">
                  <c:v>MixUp Low</c:v>
                </c:pt>
                <c:pt idx="6">
                  <c:v>MixUp Mod</c:v>
                </c:pt>
                <c:pt idx="7">
                  <c:v>CutMix Low</c:v>
                </c:pt>
                <c:pt idx="8">
                  <c:v>CutMix Mod</c:v>
                </c:pt>
                <c:pt idx="9">
                  <c:v>Mix+Cut</c:v>
                </c:pt>
                <c:pt idx="10">
                  <c:v>Full (low)</c:v>
                </c:pt>
                <c:pt idx="11">
                  <c:v>Full (high)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91.2</c:v>
                </c:pt>
                <c:pt idx="1">
                  <c:v>91.61</c:v>
                </c:pt>
                <c:pt idx="2">
                  <c:v>91.63</c:v>
                </c:pt>
                <c:pt idx="3">
                  <c:v>91.71</c:v>
                </c:pt>
                <c:pt idx="4">
                  <c:v>91.69</c:v>
                </c:pt>
                <c:pt idx="5">
                  <c:v>91.31</c:v>
                </c:pt>
                <c:pt idx="6">
                  <c:v>91.66</c:v>
                </c:pt>
                <c:pt idx="7">
                  <c:v>91.82</c:v>
                </c:pt>
                <c:pt idx="8">
                  <c:v>91.71</c:v>
                </c:pt>
                <c:pt idx="9">
                  <c:v>91.44</c:v>
                </c:pt>
                <c:pt idx="10">
                  <c:v>91.5</c:v>
                </c:pt>
                <c:pt idx="11">
                  <c:v>92.04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86B-4E45-A131-C3EAE2E2CC2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 Unfreeze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No Aug</c:v>
                </c:pt>
                <c:pt idx="1">
                  <c:v>Basic</c:v>
                </c:pt>
                <c:pt idx="2">
                  <c:v>Erasing Low</c:v>
                </c:pt>
                <c:pt idx="3">
                  <c:v>Erasing High</c:v>
                </c:pt>
                <c:pt idx="4">
                  <c:v>Jitter Only</c:v>
                </c:pt>
                <c:pt idx="5">
                  <c:v>MixUp Low</c:v>
                </c:pt>
                <c:pt idx="6">
                  <c:v>MixUp Mod</c:v>
                </c:pt>
                <c:pt idx="7">
                  <c:v>CutMix Low</c:v>
                </c:pt>
                <c:pt idx="8">
                  <c:v>CutMix Mod</c:v>
                </c:pt>
                <c:pt idx="9">
                  <c:v>Mix+Cut</c:v>
                </c:pt>
                <c:pt idx="10">
                  <c:v>Full (low)</c:v>
                </c:pt>
                <c:pt idx="11">
                  <c:v>Full (high)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92.07</c:v>
                </c:pt>
                <c:pt idx="1">
                  <c:v>92.86</c:v>
                </c:pt>
                <c:pt idx="2">
                  <c:v>92.97</c:v>
                </c:pt>
                <c:pt idx="3">
                  <c:v>92.86</c:v>
                </c:pt>
                <c:pt idx="4">
                  <c:v>92.75</c:v>
                </c:pt>
                <c:pt idx="5">
                  <c:v>92.89</c:v>
                </c:pt>
                <c:pt idx="6">
                  <c:v>92.86</c:v>
                </c:pt>
                <c:pt idx="7">
                  <c:v>92.59</c:v>
                </c:pt>
                <c:pt idx="8">
                  <c:v>92.7</c:v>
                </c:pt>
                <c:pt idx="9">
                  <c:v>92.67</c:v>
                </c:pt>
                <c:pt idx="10">
                  <c:v>92.8</c:v>
                </c:pt>
                <c:pt idx="11">
                  <c:v>92.78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D86B-4E45-A131-C3EAE2E2CC2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Gradual Unfreeze</c:v>
                </c:pt>
              </c:strCache>
            </c:strRef>
          </c:tx>
          <c:spPr>
            <a:ln w="31750" cap="flat">
              <a:solidFill>
                <a:srgbClr val="7C3AE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No Aug</c:v>
                </c:pt>
                <c:pt idx="1">
                  <c:v>Basic</c:v>
                </c:pt>
                <c:pt idx="2">
                  <c:v>Erasing Low</c:v>
                </c:pt>
                <c:pt idx="3">
                  <c:v>Erasing High</c:v>
                </c:pt>
                <c:pt idx="4">
                  <c:v>Jitter Only</c:v>
                </c:pt>
                <c:pt idx="5">
                  <c:v>MixUp Low</c:v>
                </c:pt>
                <c:pt idx="6">
                  <c:v>MixUp Mod</c:v>
                </c:pt>
                <c:pt idx="7">
                  <c:v>CutMix Low</c:v>
                </c:pt>
                <c:pt idx="8">
                  <c:v>CutMix Mod</c:v>
                </c:pt>
                <c:pt idx="9">
                  <c:v>Mix+Cut</c:v>
                </c:pt>
                <c:pt idx="10">
                  <c:v>Full (low)</c:v>
                </c:pt>
                <c:pt idx="11">
                  <c:v>Full (high)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93.16</c:v>
                </c:pt>
                <c:pt idx="1">
                  <c:v>92.7</c:v>
                </c:pt>
                <c:pt idx="2">
                  <c:v>92.7</c:v>
                </c:pt>
                <c:pt idx="3">
                  <c:v>92.56</c:v>
                </c:pt>
                <c:pt idx="4">
                  <c:v>92.72</c:v>
                </c:pt>
                <c:pt idx="5">
                  <c:v>92.26</c:v>
                </c:pt>
                <c:pt idx="6">
                  <c:v>92.5</c:v>
                </c:pt>
                <c:pt idx="7">
                  <c:v>92.34</c:v>
                </c:pt>
                <c:pt idx="8">
                  <c:v>92.59</c:v>
                </c:pt>
                <c:pt idx="9">
                  <c:v>92.83</c:v>
                </c:pt>
                <c:pt idx="10">
                  <c:v>93</c:v>
                </c:pt>
                <c:pt idx="11">
                  <c:v>92.72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D86B-4E45-A131-C3EAE2E2CC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3.5"/>
          <c:min val="90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wd_standard (1e-4)</c:v>
                </c:pt>
              </c:strCache>
            </c:strRef>
          </c:tx>
          <c:spPr>
            <a:solidFill>
              <a:srgbClr val="1D6FA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Linear 10%</c:v>
                </c:pt>
                <c:pt idx="1">
                  <c:v>Linear 25%</c:v>
                </c:pt>
                <c:pt idx="2">
                  <c:v>Linear 50%</c:v>
                </c:pt>
                <c:pt idx="3">
                  <c:v>Sim 10%</c:v>
                </c:pt>
                <c:pt idx="4">
                  <c:v>Sim 25%</c:v>
                </c:pt>
                <c:pt idx="5">
                  <c:v>Sim 50%</c:v>
                </c:pt>
                <c:pt idx="6">
                  <c:v>Gradual 10%</c:v>
                </c:pt>
                <c:pt idx="7">
                  <c:v>Gradual 25%</c:v>
                </c:pt>
                <c:pt idx="8">
                  <c:v>Gradual 50%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87.67</c:v>
                </c:pt>
                <c:pt idx="1">
                  <c:v>89.24</c:v>
                </c:pt>
                <c:pt idx="2">
                  <c:v>90.59</c:v>
                </c:pt>
                <c:pt idx="3">
                  <c:v>85.61</c:v>
                </c:pt>
                <c:pt idx="4">
                  <c:v>89.32</c:v>
                </c:pt>
                <c:pt idx="5">
                  <c:v>91.47</c:v>
                </c:pt>
                <c:pt idx="6">
                  <c:v>87.03</c:v>
                </c:pt>
                <c:pt idx="7">
                  <c:v>90.44</c:v>
                </c:pt>
                <c:pt idx="8">
                  <c:v>91.64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85-48D5-AF20-09CC9C89540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wd_strong (1e-2)</c:v>
                </c:pt>
              </c:strCache>
            </c:strRef>
          </c:tx>
          <c:spPr>
            <a:solidFill>
              <a:srgbClr val="C47D0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Linear 10%</c:v>
                </c:pt>
                <c:pt idx="1">
                  <c:v>Linear 25%</c:v>
                </c:pt>
                <c:pt idx="2">
                  <c:v>Linear 50%</c:v>
                </c:pt>
                <c:pt idx="3">
                  <c:v>Sim 10%</c:v>
                </c:pt>
                <c:pt idx="4">
                  <c:v>Sim 25%</c:v>
                </c:pt>
                <c:pt idx="5">
                  <c:v>Sim 50%</c:v>
                </c:pt>
                <c:pt idx="6">
                  <c:v>Gradual 10%</c:v>
                </c:pt>
                <c:pt idx="7">
                  <c:v>Gradual 25%</c:v>
                </c:pt>
                <c:pt idx="8">
                  <c:v>Gradual 50%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87.34</c:v>
                </c:pt>
                <c:pt idx="1">
                  <c:v>89.7</c:v>
                </c:pt>
                <c:pt idx="2">
                  <c:v>91.03</c:v>
                </c:pt>
                <c:pt idx="3">
                  <c:v>85.67</c:v>
                </c:pt>
                <c:pt idx="4">
                  <c:v>89.5</c:v>
                </c:pt>
                <c:pt idx="5">
                  <c:v>91</c:v>
                </c:pt>
                <c:pt idx="6">
                  <c:v>87.27</c:v>
                </c:pt>
                <c:pt idx="7">
                  <c:v>89.67</c:v>
                </c:pt>
                <c:pt idx="8">
                  <c:v>91.22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C85-48D5-AF20-09CC9C8954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3"/>
          <c:min val="83"/>
        </c:scaling>
        <c:delete val="0"/>
        <c:axPos val="b"/>
        <c:majorGridlines>
          <c:spPr>
            <a:ln w="6350" cap="flat">
              <a:solidFill>
                <a:srgbClr val="E8EE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Linear Probe</c:v>
                </c:pt>
              </c:strCache>
            </c:strRef>
          </c:tx>
          <c:spPr>
            <a:ln w="31750" cap="flat">
              <a:solidFill>
                <a:srgbClr val="8EA3B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EA3B4"/>
              </a:solidFill>
              <a:ln w="9525" cap="flat">
                <a:solidFill>
                  <a:srgbClr val="8EA3B4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10%</c:v>
                </c:pt>
                <c:pt idx="1">
                  <c:v>25%</c:v>
                </c:pt>
                <c:pt idx="2">
                  <c:v>50%</c:v>
                </c:pt>
                <c:pt idx="3">
                  <c:v>100%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82.3</c:v>
                </c:pt>
                <c:pt idx="1">
                  <c:v>87.1</c:v>
                </c:pt>
                <c:pt idx="2">
                  <c:v>89.4</c:v>
                </c:pt>
                <c:pt idx="3">
                  <c:v>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6DE-4648-A2F9-7ACEB7CA95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 Unfreeze</c:v>
                </c:pt>
              </c:strCache>
            </c:strRef>
          </c:tx>
          <c:spPr>
            <a:ln w="31750" cap="flat">
              <a:solidFill>
                <a:srgbClr val="C77B3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77B3A"/>
              </a:solidFill>
              <a:ln w="9525" cap="flat">
                <a:solidFill>
                  <a:srgbClr val="C77B3A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10%</c:v>
                </c:pt>
                <c:pt idx="1">
                  <c:v>25%</c:v>
                </c:pt>
                <c:pt idx="2">
                  <c:v>50%</c:v>
                </c:pt>
                <c:pt idx="3">
                  <c:v>100%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85.6</c:v>
                </c:pt>
                <c:pt idx="1">
                  <c:v>89.4</c:v>
                </c:pt>
                <c:pt idx="2">
                  <c:v>91.2</c:v>
                </c:pt>
                <c:pt idx="3">
                  <c:v>92.5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6DE-4648-A2F9-7ACEB7CA95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Gradual Unfreeze</c:v>
                </c:pt>
              </c:strCache>
            </c:strRef>
          </c:tx>
          <c:spPr>
            <a:ln w="31750" cap="flat">
              <a:solidFill>
                <a:srgbClr val="1785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78582"/>
              </a:solidFill>
              <a:ln w="9525" cap="flat">
                <a:solidFill>
                  <a:srgbClr val="178582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10%</c:v>
                </c:pt>
                <c:pt idx="1">
                  <c:v>25%</c:v>
                </c:pt>
                <c:pt idx="2">
                  <c:v>50%</c:v>
                </c:pt>
                <c:pt idx="3">
                  <c:v>100%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87.2</c:v>
                </c:pt>
                <c:pt idx="1">
                  <c:v>90.1</c:v>
                </c:pt>
                <c:pt idx="2">
                  <c:v>91.8</c:v>
                </c:pt>
                <c:pt idx="3">
                  <c:v>93.2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6DE-4648-A2F9-7ACEB7CA95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EA3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78"/>
        </c:scaling>
        <c:delete val="0"/>
        <c:axPos val="l"/>
        <c:majorGridlines>
          <c:spPr>
            <a:ln w="6350" cap="flat">
              <a:solidFill>
                <a:srgbClr val="E0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EA3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1D6FA4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Linear</c:v>
                </c:pt>
                <c:pt idx="1">
                  <c:v>Sim</c:v>
                </c:pt>
                <c:pt idx="2">
                  <c:v>Gradual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89.21</c:v>
                </c:pt>
                <c:pt idx="1">
                  <c:v>90.57</c:v>
                </c:pt>
                <c:pt idx="2">
                  <c:v>90.3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D0-4306-8444-F9577FADD8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 CE</c:v>
                </c:pt>
              </c:strCache>
            </c:strRef>
          </c:tx>
          <c:spPr>
            <a:solidFill>
              <a:srgbClr val="0E8A7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Linear</c:v>
                </c:pt>
                <c:pt idx="1">
                  <c:v>Sim</c:v>
                </c:pt>
                <c:pt idx="2">
                  <c:v>Gradual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89.18</c:v>
                </c:pt>
                <c:pt idx="1">
                  <c:v>90.19</c:v>
                </c:pt>
                <c:pt idx="2">
                  <c:v>89.64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D0-4306-8444-F9577FADD8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Oversampling</c:v>
                </c:pt>
              </c:strCache>
            </c:strRef>
          </c:tx>
          <c:spPr>
            <a:solidFill>
              <a:srgbClr val="C47D0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Linear</c:v>
                </c:pt>
                <c:pt idx="1">
                  <c:v>Sim</c:v>
                </c:pt>
                <c:pt idx="2">
                  <c:v>Gradual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89.92</c:v>
                </c:pt>
                <c:pt idx="1">
                  <c:v>90.3</c:v>
                </c:pt>
                <c:pt idx="2">
                  <c:v>90.68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0D0-4306-8444-F9577FADD8B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1.5"/>
          <c:min val="88.5"/>
        </c:scaling>
        <c:delete val="0"/>
        <c:axPos val="l"/>
        <c:majorGridlines>
          <c:spPr>
            <a:ln w="12700" cap="flat">
              <a:solidFill>
                <a:srgbClr val="E0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B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Augmentation</c:v>
                </c:pt>
              </c:strCache>
            </c:strRef>
          </c:tx>
          <c:spPr>
            <a:solidFill>
              <a:srgbClr val="8FA3B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Linear
Baseline</c:v>
                </c:pt>
                <c:pt idx="1">
                  <c:v>Linear
Weighted CE</c:v>
                </c:pt>
                <c:pt idx="2">
                  <c:v>Linear
Oversampling</c:v>
                </c:pt>
                <c:pt idx="3">
                  <c:v>Sim
Baseline</c:v>
                </c:pt>
                <c:pt idx="4">
                  <c:v>Sim
Weighted CE</c:v>
                </c:pt>
                <c:pt idx="5">
                  <c:v>Sim
Oversampling</c:v>
                </c:pt>
                <c:pt idx="6">
                  <c:v>Gradual
Baseline</c:v>
                </c:pt>
                <c:pt idx="7">
                  <c:v>Gradual
Weighted CE</c:v>
                </c:pt>
                <c:pt idx="8">
                  <c:v>Gradual
Oversampling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88.93</c:v>
                </c:pt>
                <c:pt idx="1">
                  <c:v>88.44</c:v>
                </c:pt>
                <c:pt idx="2">
                  <c:v>90.24</c:v>
                </c:pt>
                <c:pt idx="3">
                  <c:v>88.63</c:v>
                </c:pt>
                <c:pt idx="4">
                  <c:v>89.64</c:v>
                </c:pt>
                <c:pt idx="5">
                  <c:v>89.26</c:v>
                </c:pt>
                <c:pt idx="6">
                  <c:v>91.09</c:v>
                </c:pt>
                <c:pt idx="7">
                  <c:v>89.51</c:v>
                </c:pt>
                <c:pt idx="8">
                  <c:v>90.3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0C-438D-926F-B4623EF164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Augmentation</c:v>
                </c:pt>
              </c:strCache>
            </c:strRef>
          </c:tx>
          <c:spPr>
            <a:solidFill>
              <a:srgbClr val="1D6FA4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Linear
Baseline</c:v>
                </c:pt>
                <c:pt idx="1">
                  <c:v>Linear
Weighted CE</c:v>
                </c:pt>
                <c:pt idx="2">
                  <c:v>Linear
Oversampling</c:v>
                </c:pt>
                <c:pt idx="3">
                  <c:v>Sim
Baseline</c:v>
                </c:pt>
                <c:pt idx="4">
                  <c:v>Sim
Weighted CE</c:v>
                </c:pt>
                <c:pt idx="5">
                  <c:v>Sim
Oversampling</c:v>
                </c:pt>
                <c:pt idx="6">
                  <c:v>Gradual
Baseline</c:v>
                </c:pt>
                <c:pt idx="7">
                  <c:v>Gradual
Weighted CE</c:v>
                </c:pt>
                <c:pt idx="8">
                  <c:v>Gradual
Oversampling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89.21</c:v>
                </c:pt>
                <c:pt idx="1">
                  <c:v>89.18</c:v>
                </c:pt>
                <c:pt idx="2">
                  <c:v>89.92</c:v>
                </c:pt>
                <c:pt idx="3">
                  <c:v>90.57</c:v>
                </c:pt>
                <c:pt idx="4">
                  <c:v>90.19</c:v>
                </c:pt>
                <c:pt idx="5">
                  <c:v>90.3</c:v>
                </c:pt>
                <c:pt idx="6">
                  <c:v>90.3</c:v>
                </c:pt>
                <c:pt idx="7">
                  <c:v>89.64</c:v>
                </c:pt>
                <c:pt idx="8">
                  <c:v>90.68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0C-438D-926F-B4623EF1643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F2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2"/>
          <c:min val="87"/>
        </c:scaling>
        <c:delete val="0"/>
        <c:axPos val="l"/>
        <c:majorGridlines>
          <c:spPr>
            <a:ln w="12700" cap="flat">
              <a:solidFill>
                <a:srgbClr val="E0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B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1D6FA4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Abyssinian</c:v>
                </c:pt>
                <c:pt idx="1">
                  <c:v>Bengal</c:v>
                </c:pt>
                <c:pt idx="2">
                  <c:v>Birman</c:v>
                </c:pt>
                <c:pt idx="3">
                  <c:v>Bombay</c:v>
                </c:pt>
                <c:pt idx="4">
                  <c:v>Brit.Shorthair</c:v>
                </c:pt>
                <c:pt idx="5">
                  <c:v>Egyptian_Mau</c:v>
                </c:pt>
                <c:pt idx="6">
                  <c:v>Maine_Coon</c:v>
                </c:pt>
                <c:pt idx="7">
                  <c:v>Persian</c:v>
                </c:pt>
                <c:pt idx="8">
                  <c:v>Ragdoll</c:v>
                </c:pt>
                <c:pt idx="9">
                  <c:v>Russian_Blue</c:v>
                </c:pt>
                <c:pt idx="10">
                  <c:v>Siamese</c:v>
                </c:pt>
                <c:pt idx="11">
                  <c:v>Sphynx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0.80900000000000005</c:v>
                </c:pt>
                <c:pt idx="1">
                  <c:v>0.79200000000000004</c:v>
                </c:pt>
                <c:pt idx="2">
                  <c:v>0.72199999999999998</c:v>
                </c:pt>
                <c:pt idx="3">
                  <c:v>0.876</c:v>
                </c:pt>
                <c:pt idx="4">
                  <c:v>0.81</c:v>
                </c:pt>
                <c:pt idx="5">
                  <c:v>0.83599999999999997</c:v>
                </c:pt>
                <c:pt idx="6">
                  <c:v>0.86499999999999999</c:v>
                </c:pt>
                <c:pt idx="7">
                  <c:v>0.93300000000000005</c:v>
                </c:pt>
                <c:pt idx="8">
                  <c:v>0.64500000000000002</c:v>
                </c:pt>
                <c:pt idx="9">
                  <c:v>0.79300000000000004</c:v>
                </c:pt>
                <c:pt idx="10">
                  <c:v>0.91200000000000003</c:v>
                </c:pt>
                <c:pt idx="11">
                  <c:v>0.995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9A-425F-8B25-B629693D95C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 CE</c:v>
                </c:pt>
              </c:strCache>
            </c:strRef>
          </c:tx>
          <c:spPr>
            <a:solidFill>
              <a:srgbClr val="0E8A7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Abyssinian</c:v>
                </c:pt>
                <c:pt idx="1">
                  <c:v>Bengal</c:v>
                </c:pt>
                <c:pt idx="2">
                  <c:v>Birman</c:v>
                </c:pt>
                <c:pt idx="3">
                  <c:v>Bombay</c:v>
                </c:pt>
                <c:pt idx="4">
                  <c:v>Brit.Shorthair</c:v>
                </c:pt>
                <c:pt idx="5">
                  <c:v>Egyptian_Mau</c:v>
                </c:pt>
                <c:pt idx="6">
                  <c:v>Maine_Coon</c:v>
                </c:pt>
                <c:pt idx="7">
                  <c:v>Persian</c:v>
                </c:pt>
                <c:pt idx="8">
                  <c:v>Ragdoll</c:v>
                </c:pt>
                <c:pt idx="9">
                  <c:v>Russian_Blue</c:v>
                </c:pt>
                <c:pt idx="10">
                  <c:v>Siamese</c:v>
                </c:pt>
                <c:pt idx="11">
                  <c:v>Sphynx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0.81399999999999995</c:v>
                </c:pt>
                <c:pt idx="1">
                  <c:v>0.69099999999999995</c:v>
                </c:pt>
                <c:pt idx="2">
                  <c:v>0.76600000000000001</c:v>
                </c:pt>
                <c:pt idx="3">
                  <c:v>0.88</c:v>
                </c:pt>
                <c:pt idx="4">
                  <c:v>0.79</c:v>
                </c:pt>
                <c:pt idx="5">
                  <c:v>0.81</c:v>
                </c:pt>
                <c:pt idx="6">
                  <c:v>0.81200000000000006</c:v>
                </c:pt>
                <c:pt idx="7">
                  <c:v>0.91200000000000003</c:v>
                </c:pt>
                <c:pt idx="8">
                  <c:v>0.65900000000000003</c:v>
                </c:pt>
                <c:pt idx="9">
                  <c:v>0.754</c:v>
                </c:pt>
                <c:pt idx="10">
                  <c:v>0.95</c:v>
                </c:pt>
                <c:pt idx="11">
                  <c:v>0.98499999999999999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9A-425F-8B25-B629693D95C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Oversampling</c:v>
                </c:pt>
              </c:strCache>
            </c:strRef>
          </c:tx>
          <c:spPr>
            <a:solidFill>
              <a:srgbClr val="C47D0E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Abyssinian</c:v>
                </c:pt>
                <c:pt idx="1">
                  <c:v>Bengal</c:v>
                </c:pt>
                <c:pt idx="2">
                  <c:v>Birman</c:v>
                </c:pt>
                <c:pt idx="3">
                  <c:v>Bombay</c:v>
                </c:pt>
                <c:pt idx="4">
                  <c:v>Brit.Shorthair</c:v>
                </c:pt>
                <c:pt idx="5">
                  <c:v>Egyptian_Mau</c:v>
                </c:pt>
                <c:pt idx="6">
                  <c:v>Maine_Coon</c:v>
                </c:pt>
                <c:pt idx="7">
                  <c:v>Persian</c:v>
                </c:pt>
                <c:pt idx="8">
                  <c:v>Ragdoll</c:v>
                </c:pt>
                <c:pt idx="9">
                  <c:v>Russian_Blue</c:v>
                </c:pt>
                <c:pt idx="10">
                  <c:v>Siamese</c:v>
                </c:pt>
                <c:pt idx="11">
                  <c:v>Sphynx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0.85899999999999999</c:v>
                </c:pt>
                <c:pt idx="1">
                  <c:v>0.81599999999999995</c:v>
                </c:pt>
                <c:pt idx="2">
                  <c:v>0.73399999999999999</c:v>
                </c:pt>
                <c:pt idx="3">
                  <c:v>0.89600000000000002</c:v>
                </c:pt>
                <c:pt idx="4">
                  <c:v>0.81</c:v>
                </c:pt>
                <c:pt idx="5">
                  <c:v>0.878</c:v>
                </c:pt>
                <c:pt idx="6">
                  <c:v>0.85399999999999998</c:v>
                </c:pt>
                <c:pt idx="7">
                  <c:v>0.93100000000000005</c:v>
                </c:pt>
                <c:pt idx="8">
                  <c:v>0.65</c:v>
                </c:pt>
                <c:pt idx="9">
                  <c:v>0.79100000000000004</c:v>
                </c:pt>
                <c:pt idx="10">
                  <c:v>0.91500000000000004</c:v>
                </c:pt>
                <c:pt idx="11">
                  <c:v>0.97099999999999997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9A-425F-8B25-B629693D95C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2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5000000000000004"/>
        </c:scaling>
        <c:delete val="0"/>
        <c:axPos val="b"/>
        <c:majorGridlines>
          <c:spPr>
            <a:ln w="12700" cap="flat">
              <a:solidFill>
                <a:srgbClr val="E0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B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785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ViT-B/16</c:v>
                </c:pt>
                <c:pt idx="1">
                  <c:v>ResNet-RS152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92.59</c:v>
                </c:pt>
                <c:pt idx="1">
                  <c:v>90.46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EC-476B-A23F-87519EFDACA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 (%)</c:v>
                </c:pt>
              </c:strCache>
            </c:strRef>
          </c:tx>
          <c:spPr>
            <a:solidFill>
              <a:srgbClr val="C77B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ViT-B/16</c:v>
                </c:pt>
                <c:pt idx="1">
                  <c:v>ResNet-RS152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92.35</c:v>
                </c:pt>
                <c:pt idx="1">
                  <c:v>90.12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EC-476B-A23F-87519EFDAC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4"/>
          <c:min val="88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pretrained+gradual</c:v>
                </c:pt>
              </c:strCache>
            </c:strRef>
          </c:tx>
          <c:spPr>
            <a:ln w="2540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Sheet1!$B$2:$B$38</c:f>
              <c:numCache>
                <c:formatCode>General</c:formatCode>
                <c:ptCount val="37"/>
                <c:pt idx="0">
                  <c:v>0.87760000000000005</c:v>
                </c:pt>
                <c:pt idx="1">
                  <c:v>0.74039999999999995</c:v>
                </c:pt>
                <c:pt idx="2">
                  <c:v>0.58750000000000002</c:v>
                </c:pt>
                <c:pt idx="3">
                  <c:v>0.87439999999999996</c:v>
                </c:pt>
                <c:pt idx="4">
                  <c:v>0.84789999999999999</c:v>
                </c:pt>
                <c:pt idx="5">
                  <c:v>0.83330000000000004</c:v>
                </c:pt>
                <c:pt idx="6">
                  <c:v>0.79049999999999998</c:v>
                </c:pt>
                <c:pt idx="7">
                  <c:v>0.94510000000000005</c:v>
                </c:pt>
                <c:pt idx="8">
                  <c:v>0.86539999999999995</c:v>
                </c:pt>
                <c:pt idx="9">
                  <c:v>0.87760000000000005</c:v>
                </c:pt>
                <c:pt idx="10">
                  <c:v>0.82679999999999998</c:v>
                </c:pt>
                <c:pt idx="11">
                  <c:v>0.88770000000000004</c:v>
                </c:pt>
                <c:pt idx="12">
                  <c:v>0.8821</c:v>
                </c:pt>
                <c:pt idx="13">
                  <c:v>0.89690000000000003</c:v>
                </c:pt>
                <c:pt idx="14">
                  <c:v>0.89910000000000001</c:v>
                </c:pt>
                <c:pt idx="15">
                  <c:v>0.91790000000000005</c:v>
                </c:pt>
                <c:pt idx="16">
                  <c:v>0.91</c:v>
                </c:pt>
                <c:pt idx="17">
                  <c:v>0.90100000000000002</c:v>
                </c:pt>
                <c:pt idx="18">
                  <c:v>0.96909999999999996</c:v>
                </c:pt>
                <c:pt idx="19">
                  <c:v>0.94059999999999999</c:v>
                </c:pt>
                <c:pt idx="20">
                  <c:v>0.86699999999999999</c:v>
                </c:pt>
                <c:pt idx="21">
                  <c:v>0.90159999999999996</c:v>
                </c:pt>
                <c:pt idx="22">
                  <c:v>0.93069999999999997</c:v>
                </c:pt>
                <c:pt idx="23">
                  <c:v>0.86339999999999995</c:v>
                </c:pt>
                <c:pt idx="24">
                  <c:v>0.92779999999999996</c:v>
                </c:pt>
                <c:pt idx="25">
                  <c:v>0.96909999999999996</c:v>
                </c:pt>
                <c:pt idx="26">
                  <c:v>0.80210000000000004</c:v>
                </c:pt>
                <c:pt idx="27">
                  <c:v>0.8901</c:v>
                </c:pt>
                <c:pt idx="28">
                  <c:v>0.88349999999999995</c:v>
                </c:pt>
                <c:pt idx="29">
                  <c:v>0.91259999999999997</c:v>
                </c:pt>
                <c:pt idx="30">
                  <c:v>0.95</c:v>
                </c:pt>
                <c:pt idx="31">
                  <c:v>0.91349999999999998</c:v>
                </c:pt>
                <c:pt idx="32">
                  <c:v>0.89659999999999995</c:v>
                </c:pt>
                <c:pt idx="33">
                  <c:v>0.91869999999999996</c:v>
                </c:pt>
                <c:pt idx="34">
                  <c:v>0.58330000000000004</c:v>
                </c:pt>
                <c:pt idx="35">
                  <c:v>0.89</c:v>
                </c:pt>
                <c:pt idx="36">
                  <c:v>0.94850000000000001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943-414D-9447-982DE1E6E9F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pretrained+no_gradual</c:v>
                </c:pt>
              </c:strCache>
            </c:strRef>
          </c:tx>
          <c:spPr>
            <a:ln w="25400" cap="flat">
              <a:solidFill>
                <a:srgbClr val="1C729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Sheet1!$C$2:$C$38</c:f>
              <c:numCache>
                <c:formatCode>General</c:formatCode>
                <c:ptCount val="37"/>
                <c:pt idx="0">
                  <c:v>0.59</c:v>
                </c:pt>
                <c:pt idx="1">
                  <c:v>0.53939999999999999</c:v>
                </c:pt>
                <c:pt idx="2">
                  <c:v>0.1898</c:v>
                </c:pt>
                <c:pt idx="3">
                  <c:v>0.51529999999999998</c:v>
                </c:pt>
                <c:pt idx="4">
                  <c:v>0.49349999999999999</c:v>
                </c:pt>
                <c:pt idx="5">
                  <c:v>0.73729999999999996</c:v>
                </c:pt>
                <c:pt idx="6">
                  <c:v>0.67330000000000001</c:v>
                </c:pt>
                <c:pt idx="7">
                  <c:v>0.75739999999999996</c:v>
                </c:pt>
                <c:pt idx="8">
                  <c:v>0.53520000000000001</c:v>
                </c:pt>
                <c:pt idx="9">
                  <c:v>0.57520000000000004</c:v>
                </c:pt>
                <c:pt idx="10">
                  <c:v>0.2949</c:v>
                </c:pt>
                <c:pt idx="11">
                  <c:v>0.79330000000000001</c:v>
                </c:pt>
                <c:pt idx="12">
                  <c:v>0.38669999999999999</c:v>
                </c:pt>
                <c:pt idx="13">
                  <c:v>0.51060000000000005</c:v>
                </c:pt>
                <c:pt idx="14">
                  <c:v>0.62549999999999994</c:v>
                </c:pt>
                <c:pt idx="15">
                  <c:v>0.55030000000000001</c:v>
                </c:pt>
                <c:pt idx="16">
                  <c:v>0.46789999999999998</c:v>
                </c:pt>
                <c:pt idx="17">
                  <c:v>0.72199999999999998</c:v>
                </c:pt>
                <c:pt idx="18">
                  <c:v>0.82979999999999998</c:v>
                </c:pt>
                <c:pt idx="19">
                  <c:v>0.79369999999999996</c:v>
                </c:pt>
                <c:pt idx="20">
                  <c:v>0.55169999999999997</c:v>
                </c:pt>
                <c:pt idx="21">
                  <c:v>0.61450000000000005</c:v>
                </c:pt>
                <c:pt idx="22">
                  <c:v>0.5786</c:v>
                </c:pt>
                <c:pt idx="23">
                  <c:v>0.56599999999999995</c:v>
                </c:pt>
                <c:pt idx="24">
                  <c:v>0.70930000000000004</c:v>
                </c:pt>
                <c:pt idx="25">
                  <c:v>0.67710000000000004</c:v>
                </c:pt>
                <c:pt idx="26">
                  <c:v>0.60819999999999996</c:v>
                </c:pt>
                <c:pt idx="27">
                  <c:v>0.54139999999999999</c:v>
                </c:pt>
                <c:pt idx="28">
                  <c:v>0.58199999999999996</c:v>
                </c:pt>
                <c:pt idx="29">
                  <c:v>0.69769999999999999</c:v>
                </c:pt>
                <c:pt idx="30">
                  <c:v>0.53159999999999996</c:v>
                </c:pt>
                <c:pt idx="31">
                  <c:v>0.62260000000000004</c:v>
                </c:pt>
                <c:pt idx="32">
                  <c:v>0.6986</c:v>
                </c:pt>
                <c:pt idx="33">
                  <c:v>0.68720000000000003</c:v>
                </c:pt>
                <c:pt idx="34">
                  <c:v>0.35799999999999998</c:v>
                </c:pt>
                <c:pt idx="35">
                  <c:v>0.49349999999999999</c:v>
                </c:pt>
                <c:pt idx="36">
                  <c:v>0.69230000000000003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43-414D-9447-982DE1E6E9F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scratch+gradual</c:v>
                </c:pt>
              </c:strCache>
            </c:strRef>
          </c:tx>
          <c:spPr>
            <a:ln w="25400" cap="flat">
              <a:solidFill>
                <a:srgbClr val="94A3B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4A3B8"/>
              </a:solidFill>
              <a:ln w="9525" cap="flat">
                <a:solidFill>
                  <a:srgbClr val="94A3B8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Sheet1!$D$2:$D$38</c:f>
              <c:numCache>
                <c:formatCode>General</c:formatCode>
                <c:ptCount val="37"/>
                <c:pt idx="0">
                  <c:v>0.12089999999999999</c:v>
                </c:pt>
                <c:pt idx="1">
                  <c:v>5.9200000000000003E-2</c:v>
                </c:pt>
                <c:pt idx="2">
                  <c:v>3.2800000000000003E-2</c:v>
                </c:pt>
                <c:pt idx="3">
                  <c:v>0.16669999999999999</c:v>
                </c:pt>
                <c:pt idx="4">
                  <c:v>7.46E-2</c:v>
                </c:pt>
                <c:pt idx="5">
                  <c:v>0.25659999999999999</c:v>
                </c:pt>
                <c:pt idx="6">
                  <c:v>0.29559999999999997</c:v>
                </c:pt>
                <c:pt idx="7">
                  <c:v>0.3911</c:v>
                </c:pt>
                <c:pt idx="8">
                  <c:v>0.10059999999999999</c:v>
                </c:pt>
                <c:pt idx="9">
                  <c:v>0.15</c:v>
                </c:pt>
                <c:pt idx="11">
                  <c:v>0.31869999999999998</c:v>
                </c:pt>
                <c:pt idx="13">
                  <c:v>0.1326</c:v>
                </c:pt>
                <c:pt idx="14">
                  <c:v>0.17319999999999999</c:v>
                </c:pt>
                <c:pt idx="15">
                  <c:v>0.24410000000000001</c:v>
                </c:pt>
                <c:pt idx="16">
                  <c:v>0.1183</c:v>
                </c:pt>
                <c:pt idx="17">
                  <c:v>0.1472</c:v>
                </c:pt>
                <c:pt idx="18">
                  <c:v>0.29670000000000002</c:v>
                </c:pt>
                <c:pt idx="19">
                  <c:v>0.22220000000000001</c:v>
                </c:pt>
                <c:pt idx="20">
                  <c:v>0.1046</c:v>
                </c:pt>
                <c:pt idx="21">
                  <c:v>4.4200000000000003E-2</c:v>
                </c:pt>
                <c:pt idx="22">
                  <c:v>0.2079</c:v>
                </c:pt>
                <c:pt idx="23">
                  <c:v>0.16170000000000001</c:v>
                </c:pt>
                <c:pt idx="24">
                  <c:v>0.24729999999999999</c:v>
                </c:pt>
                <c:pt idx="25">
                  <c:v>9.4600000000000004E-2</c:v>
                </c:pt>
                <c:pt idx="26">
                  <c:v>0.2883</c:v>
                </c:pt>
                <c:pt idx="27">
                  <c:v>0.2424</c:v>
                </c:pt>
                <c:pt idx="28">
                  <c:v>0.17419999999999999</c:v>
                </c:pt>
                <c:pt idx="29">
                  <c:v>0.29060000000000002</c:v>
                </c:pt>
                <c:pt idx="30">
                  <c:v>0.1232</c:v>
                </c:pt>
                <c:pt idx="31">
                  <c:v>0.1</c:v>
                </c:pt>
                <c:pt idx="32">
                  <c:v>0.2165</c:v>
                </c:pt>
                <c:pt idx="33">
                  <c:v>0.16270000000000001</c:v>
                </c:pt>
                <c:pt idx="34">
                  <c:v>8.8700000000000001E-2</c:v>
                </c:pt>
                <c:pt idx="35">
                  <c:v>0.13980000000000001</c:v>
                </c:pt>
                <c:pt idx="36">
                  <c:v>0.1011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943-414D-9447-982DE1E6E9F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scratch+no_gradual</c:v>
                </c:pt>
              </c:strCache>
            </c:strRef>
          </c:tx>
          <c:spPr>
            <a:ln w="25400" cap="flat">
              <a:solidFill>
                <a:srgbClr val="CBD5E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BD5E1"/>
              </a:solidFill>
              <a:ln w="9525" cap="flat">
                <a:solidFill>
                  <a:srgbClr val="CBD5E1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Sheet1!$E$2:$E$38</c:f>
              <c:numCache>
                <c:formatCode>General</c:formatCode>
                <c:ptCount val="37"/>
                <c:pt idx="0">
                  <c:v>0.1429</c:v>
                </c:pt>
                <c:pt idx="1">
                  <c:v>9.9500000000000005E-2</c:v>
                </c:pt>
                <c:pt idx="2">
                  <c:v>1.61E-2</c:v>
                </c:pt>
                <c:pt idx="3">
                  <c:v>0.1787</c:v>
                </c:pt>
                <c:pt idx="4">
                  <c:v>0.1111</c:v>
                </c:pt>
                <c:pt idx="5">
                  <c:v>0.23400000000000001</c:v>
                </c:pt>
                <c:pt idx="6">
                  <c:v>0.21510000000000001</c:v>
                </c:pt>
                <c:pt idx="7">
                  <c:v>0.43680000000000002</c:v>
                </c:pt>
                <c:pt idx="8">
                  <c:v>4.7199999999999999E-2</c:v>
                </c:pt>
                <c:pt idx="9">
                  <c:v>0.1807</c:v>
                </c:pt>
                <c:pt idx="11">
                  <c:v>0.2447</c:v>
                </c:pt>
                <c:pt idx="13">
                  <c:v>0.1028</c:v>
                </c:pt>
                <c:pt idx="14">
                  <c:v>0.1673</c:v>
                </c:pt>
                <c:pt idx="15">
                  <c:v>0.1961</c:v>
                </c:pt>
                <c:pt idx="16">
                  <c:v>9.1600000000000001E-2</c:v>
                </c:pt>
                <c:pt idx="17">
                  <c:v>8.8099999999999998E-2</c:v>
                </c:pt>
                <c:pt idx="18">
                  <c:v>0.2802</c:v>
                </c:pt>
                <c:pt idx="19">
                  <c:v>0.2273</c:v>
                </c:pt>
                <c:pt idx="20">
                  <c:v>8.43E-2</c:v>
                </c:pt>
                <c:pt idx="21">
                  <c:v>8.9200000000000002E-2</c:v>
                </c:pt>
                <c:pt idx="22">
                  <c:v>0.191</c:v>
                </c:pt>
                <c:pt idx="23">
                  <c:v>0.18640000000000001</c:v>
                </c:pt>
                <c:pt idx="24">
                  <c:v>0.23910000000000001</c:v>
                </c:pt>
                <c:pt idx="25">
                  <c:v>0.16569999999999999</c:v>
                </c:pt>
                <c:pt idx="26">
                  <c:v>0.22409999999999999</c:v>
                </c:pt>
                <c:pt idx="27">
                  <c:v>0.2336</c:v>
                </c:pt>
                <c:pt idx="28">
                  <c:v>0.1285</c:v>
                </c:pt>
                <c:pt idx="29">
                  <c:v>0.29220000000000002</c:v>
                </c:pt>
                <c:pt idx="30">
                  <c:v>0.1154</c:v>
                </c:pt>
                <c:pt idx="31">
                  <c:v>0.1169</c:v>
                </c:pt>
                <c:pt idx="32">
                  <c:v>0.23580000000000001</c:v>
                </c:pt>
                <c:pt idx="33">
                  <c:v>0.191</c:v>
                </c:pt>
                <c:pt idx="34">
                  <c:v>0.1143</c:v>
                </c:pt>
                <c:pt idx="35">
                  <c:v>9.9000000000000005E-2</c:v>
                </c:pt>
                <c:pt idx="36">
                  <c:v>0.1067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943-414D-9447-982DE1E6E9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B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ViT-Tiny
(gradual All L)</c:v>
                </c:pt>
                <c:pt idx="1">
                  <c:v>ResNet-10t
(gradual All L)</c:v>
                </c:pt>
                <c:pt idx="2">
                  <c:v>ResNet-10t
(gradual)</c:v>
                </c:pt>
                <c:pt idx="3">
                  <c:v>ViT-Tiny
(gradual 3L)</c:v>
                </c:pt>
                <c:pt idx="4">
                  <c:v>ViT-Tiny-Distilled
(Student)</c:v>
                </c:pt>
                <c:pt idx="5">
                  <c:v>ViT-Base (Teacher)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84.46</c:v>
                </c:pt>
                <c:pt idx="1">
                  <c:v>82.31</c:v>
                </c:pt>
                <c:pt idx="2">
                  <c:v>81.819999999999993</c:v>
                </c:pt>
                <c:pt idx="3">
                  <c:v>78.2</c:v>
                </c:pt>
                <c:pt idx="4">
                  <c:v>87.54</c:v>
                </c:pt>
                <c:pt idx="5">
                  <c:v>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6AB-4E9F-8279-10C0C2E2D2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 (%)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B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ViT-Tiny
(gradual All L)</c:v>
                </c:pt>
                <c:pt idx="1">
                  <c:v>ResNet-10t
(gradual All L)</c:v>
                </c:pt>
                <c:pt idx="2">
                  <c:v>ResNet-10t
(gradual)</c:v>
                </c:pt>
                <c:pt idx="3">
                  <c:v>ViT-Tiny
(gradual 3L)</c:v>
                </c:pt>
                <c:pt idx="4">
                  <c:v>ViT-Tiny-Distilled
(Student)</c:v>
                </c:pt>
                <c:pt idx="5">
                  <c:v>ViT-Base (Teacher)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84.23</c:v>
                </c:pt>
                <c:pt idx="1">
                  <c:v>82.07</c:v>
                </c:pt>
                <c:pt idx="2">
                  <c:v>81.48</c:v>
                </c:pt>
                <c:pt idx="3">
                  <c:v>77.95</c:v>
                </c:pt>
                <c:pt idx="4">
                  <c:v>87.35</c:v>
                </c:pt>
                <c:pt idx="5">
                  <c:v>92.86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6AB-4E9F-8279-10C0C2E2D28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ViT-Tiny distilled</c:v>
                </c:pt>
              </c:strCache>
            </c:strRef>
          </c:tx>
          <c:spPr>
            <a:ln w="2540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Sheet1!$B$2:$B$38</c:f>
              <c:numCache>
                <c:formatCode>General</c:formatCode>
                <c:ptCount val="37"/>
                <c:pt idx="0">
                  <c:v>0.87760000000000005</c:v>
                </c:pt>
                <c:pt idx="1">
                  <c:v>0.74039999999999995</c:v>
                </c:pt>
                <c:pt idx="2">
                  <c:v>0.58750000000000002</c:v>
                </c:pt>
                <c:pt idx="3">
                  <c:v>0.87439999999999996</c:v>
                </c:pt>
                <c:pt idx="4">
                  <c:v>0.84789999999999999</c:v>
                </c:pt>
                <c:pt idx="5">
                  <c:v>0.83330000000000004</c:v>
                </c:pt>
                <c:pt idx="6">
                  <c:v>0.79049999999999998</c:v>
                </c:pt>
                <c:pt idx="7">
                  <c:v>0.94510000000000005</c:v>
                </c:pt>
                <c:pt idx="8">
                  <c:v>0.86539999999999995</c:v>
                </c:pt>
                <c:pt idx="9">
                  <c:v>0.87760000000000005</c:v>
                </c:pt>
                <c:pt idx="10">
                  <c:v>0.82679999999999998</c:v>
                </c:pt>
                <c:pt idx="11">
                  <c:v>0.88770000000000004</c:v>
                </c:pt>
                <c:pt idx="12">
                  <c:v>0.8821</c:v>
                </c:pt>
                <c:pt idx="13">
                  <c:v>0.89690000000000003</c:v>
                </c:pt>
                <c:pt idx="14">
                  <c:v>0.89910000000000001</c:v>
                </c:pt>
                <c:pt idx="15">
                  <c:v>0.91790000000000005</c:v>
                </c:pt>
                <c:pt idx="16">
                  <c:v>0.91</c:v>
                </c:pt>
                <c:pt idx="17">
                  <c:v>0.90100000000000002</c:v>
                </c:pt>
                <c:pt idx="18">
                  <c:v>0.96909999999999996</c:v>
                </c:pt>
                <c:pt idx="19">
                  <c:v>0.94059999999999999</c:v>
                </c:pt>
                <c:pt idx="20">
                  <c:v>0.86699999999999999</c:v>
                </c:pt>
                <c:pt idx="21">
                  <c:v>0.90159999999999996</c:v>
                </c:pt>
                <c:pt idx="22">
                  <c:v>0.93069999999999997</c:v>
                </c:pt>
                <c:pt idx="23">
                  <c:v>0.86339999999999995</c:v>
                </c:pt>
                <c:pt idx="24">
                  <c:v>0.92779999999999996</c:v>
                </c:pt>
                <c:pt idx="25">
                  <c:v>0.96909999999999996</c:v>
                </c:pt>
                <c:pt idx="26">
                  <c:v>0.80210000000000004</c:v>
                </c:pt>
                <c:pt idx="27">
                  <c:v>0.8901</c:v>
                </c:pt>
                <c:pt idx="28">
                  <c:v>0.88349999999999995</c:v>
                </c:pt>
                <c:pt idx="29">
                  <c:v>0.91259999999999997</c:v>
                </c:pt>
                <c:pt idx="30">
                  <c:v>0.95</c:v>
                </c:pt>
                <c:pt idx="31">
                  <c:v>0.91349999999999998</c:v>
                </c:pt>
                <c:pt idx="32">
                  <c:v>0.89659999999999995</c:v>
                </c:pt>
                <c:pt idx="33">
                  <c:v>0.91869999999999996</c:v>
                </c:pt>
                <c:pt idx="34">
                  <c:v>0.58330000000000004</c:v>
                </c:pt>
                <c:pt idx="35">
                  <c:v>0.89</c:v>
                </c:pt>
                <c:pt idx="36">
                  <c:v>0.94850000000000001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C9A-48B9-835E-8FD938C0E9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ViT-Tiny (full direct)</c:v>
                </c:pt>
              </c:strCache>
            </c:strRef>
          </c:tx>
          <c:spPr>
            <a:ln w="25400" cap="flat">
              <a:solidFill>
                <a:srgbClr val="0F346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3460"/>
              </a:solidFill>
              <a:ln w="9525" cap="flat">
                <a:solidFill>
                  <a:srgbClr val="0F3460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Sheet1!$C$2:$C$38</c:f>
              <c:numCache>
                <c:formatCode>General</c:formatCode>
                <c:ptCount val="37"/>
                <c:pt idx="0">
                  <c:v>0.88890000000000002</c:v>
                </c:pt>
                <c:pt idx="1">
                  <c:v>0.74550000000000005</c:v>
                </c:pt>
                <c:pt idx="2">
                  <c:v>0.56140000000000001</c:v>
                </c:pt>
                <c:pt idx="3">
                  <c:v>0.87619999999999998</c:v>
                </c:pt>
                <c:pt idx="4">
                  <c:v>0.76919999999999999</c:v>
                </c:pt>
                <c:pt idx="5">
                  <c:v>0.83540000000000003</c:v>
                </c:pt>
                <c:pt idx="6">
                  <c:v>0.75470000000000004</c:v>
                </c:pt>
                <c:pt idx="7">
                  <c:v>0.91749999999999998</c:v>
                </c:pt>
                <c:pt idx="8">
                  <c:v>0.78480000000000005</c:v>
                </c:pt>
                <c:pt idx="9">
                  <c:v>0.82979999999999998</c:v>
                </c:pt>
                <c:pt idx="10">
                  <c:v>0.74</c:v>
                </c:pt>
                <c:pt idx="11">
                  <c:v>0.88729999999999998</c:v>
                </c:pt>
                <c:pt idx="12">
                  <c:v>0.84209999999999996</c:v>
                </c:pt>
                <c:pt idx="13">
                  <c:v>0.83330000000000004</c:v>
                </c:pt>
                <c:pt idx="14">
                  <c:v>0.8649</c:v>
                </c:pt>
                <c:pt idx="15">
                  <c:v>0.93330000000000002</c:v>
                </c:pt>
                <c:pt idx="16">
                  <c:v>0.91180000000000005</c:v>
                </c:pt>
                <c:pt idx="17">
                  <c:v>0.89290000000000003</c:v>
                </c:pt>
                <c:pt idx="18">
                  <c:v>0.95740000000000003</c:v>
                </c:pt>
                <c:pt idx="19">
                  <c:v>0.94740000000000002</c:v>
                </c:pt>
                <c:pt idx="20">
                  <c:v>0.85709999999999997</c:v>
                </c:pt>
                <c:pt idx="21">
                  <c:v>0.86050000000000004</c:v>
                </c:pt>
                <c:pt idx="22">
                  <c:v>0.91839999999999999</c:v>
                </c:pt>
                <c:pt idx="23">
                  <c:v>0.8478</c:v>
                </c:pt>
                <c:pt idx="24">
                  <c:v>0.92679999999999996</c:v>
                </c:pt>
                <c:pt idx="25">
                  <c:v>0.95120000000000005</c:v>
                </c:pt>
                <c:pt idx="26">
                  <c:v>0.73799999999999999</c:v>
                </c:pt>
                <c:pt idx="27">
                  <c:v>0.89190000000000003</c:v>
                </c:pt>
                <c:pt idx="28">
                  <c:v>0.85709999999999997</c:v>
                </c:pt>
                <c:pt idx="29">
                  <c:v>0.90910000000000002</c:v>
                </c:pt>
                <c:pt idx="30">
                  <c:v>0.91569999999999996</c:v>
                </c:pt>
                <c:pt idx="31">
                  <c:v>0.91669999999999996</c:v>
                </c:pt>
                <c:pt idx="32">
                  <c:v>0.8276</c:v>
                </c:pt>
                <c:pt idx="33">
                  <c:v>0.90910000000000002</c:v>
                </c:pt>
                <c:pt idx="34">
                  <c:v>0.52380000000000004</c:v>
                </c:pt>
                <c:pt idx="35">
                  <c:v>0.83330000000000004</c:v>
                </c:pt>
                <c:pt idx="36">
                  <c:v>0.92859999999999998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C9A-48B9-835E-8FD938C0E9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ResNet-10t (full direct)</c:v>
                </c:pt>
              </c:strCache>
            </c:strRef>
          </c:tx>
          <c:spPr>
            <a:ln w="25400" cap="flat">
              <a:solidFill>
                <a:srgbClr val="7B519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B5198"/>
              </a:solidFill>
              <a:ln w="9525" cap="flat">
                <a:solidFill>
                  <a:srgbClr val="7B5198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Sheet1!$D$2:$D$38</c:f>
              <c:numCache>
                <c:formatCode>General</c:formatCode>
                <c:ptCount val="37"/>
                <c:pt idx="0">
                  <c:v>0.8</c:v>
                </c:pt>
                <c:pt idx="1">
                  <c:v>0.73680000000000001</c:v>
                </c:pt>
                <c:pt idx="2">
                  <c:v>0.3836</c:v>
                </c:pt>
                <c:pt idx="3">
                  <c:v>0.81630000000000003</c:v>
                </c:pt>
                <c:pt idx="4">
                  <c:v>0.75470000000000004</c:v>
                </c:pt>
                <c:pt idx="5">
                  <c:v>0.81479999999999997</c:v>
                </c:pt>
                <c:pt idx="6">
                  <c:v>0.78049999999999997</c:v>
                </c:pt>
                <c:pt idx="7">
                  <c:v>0.88539999999999996</c:v>
                </c:pt>
                <c:pt idx="8">
                  <c:v>0.71550000000000002</c:v>
                </c:pt>
                <c:pt idx="9">
                  <c:v>0.82599999999999996</c:v>
                </c:pt>
                <c:pt idx="10">
                  <c:v>0.74</c:v>
                </c:pt>
                <c:pt idx="11">
                  <c:v>0.84930000000000005</c:v>
                </c:pt>
                <c:pt idx="12">
                  <c:v>0.79120000000000001</c:v>
                </c:pt>
                <c:pt idx="13">
                  <c:v>0.8125</c:v>
                </c:pt>
                <c:pt idx="14">
                  <c:v>0.83330000000000004</c:v>
                </c:pt>
                <c:pt idx="15">
                  <c:v>0.86019999999999996</c:v>
                </c:pt>
                <c:pt idx="16">
                  <c:v>0.82950000000000002</c:v>
                </c:pt>
                <c:pt idx="17">
                  <c:v>0.84619999999999995</c:v>
                </c:pt>
                <c:pt idx="18">
                  <c:v>0.90380000000000005</c:v>
                </c:pt>
                <c:pt idx="19">
                  <c:v>0.90910000000000002</c:v>
                </c:pt>
                <c:pt idx="20">
                  <c:v>0.81079999999999997</c:v>
                </c:pt>
                <c:pt idx="21">
                  <c:v>0.83330000000000004</c:v>
                </c:pt>
                <c:pt idx="22">
                  <c:v>0.89290000000000003</c:v>
                </c:pt>
                <c:pt idx="23">
                  <c:v>0.80649999999999999</c:v>
                </c:pt>
                <c:pt idx="24">
                  <c:v>0.91490000000000005</c:v>
                </c:pt>
                <c:pt idx="25">
                  <c:v>0.95240000000000002</c:v>
                </c:pt>
                <c:pt idx="26">
                  <c:v>0.64410000000000001</c:v>
                </c:pt>
                <c:pt idx="27">
                  <c:v>0.82189999999999996</c:v>
                </c:pt>
                <c:pt idx="28">
                  <c:v>0.8</c:v>
                </c:pt>
                <c:pt idx="29">
                  <c:v>0.85709999999999997</c:v>
                </c:pt>
                <c:pt idx="30">
                  <c:v>0.84850000000000003</c:v>
                </c:pt>
                <c:pt idx="31">
                  <c:v>0.90910000000000002</c:v>
                </c:pt>
                <c:pt idx="32">
                  <c:v>0.85709999999999997</c:v>
                </c:pt>
                <c:pt idx="33">
                  <c:v>0.8649</c:v>
                </c:pt>
                <c:pt idx="34">
                  <c:v>0.51849999999999996</c:v>
                </c:pt>
                <c:pt idx="35">
                  <c:v>0.7843</c:v>
                </c:pt>
                <c:pt idx="36">
                  <c:v>0.89290000000000003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C9A-48B9-835E-8FD938C0E9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ResNet-10t (gradual direct)</c:v>
                </c:pt>
              </c:strCache>
            </c:strRef>
          </c:tx>
          <c:spPr>
            <a:ln w="25400" cap="flat">
              <a:solidFill>
                <a:srgbClr val="9D6FB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D6FB5"/>
              </a:solidFill>
              <a:ln w="9525" cap="flat">
                <a:solidFill>
                  <a:srgbClr val="9D6FB5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Sheet1!$E$2:$E$38</c:f>
              <c:numCache>
                <c:formatCode>General</c:formatCode>
                <c:ptCount val="37"/>
                <c:pt idx="0">
                  <c:v>0.76919999999999999</c:v>
                </c:pt>
                <c:pt idx="1">
                  <c:v>0.72729999999999995</c:v>
                </c:pt>
                <c:pt idx="2">
                  <c:v>0.3478</c:v>
                </c:pt>
                <c:pt idx="3">
                  <c:v>0.81630000000000003</c:v>
                </c:pt>
                <c:pt idx="4">
                  <c:v>0.75470000000000004</c:v>
                </c:pt>
                <c:pt idx="5">
                  <c:v>0.79590000000000005</c:v>
                </c:pt>
                <c:pt idx="6">
                  <c:v>0.8</c:v>
                </c:pt>
                <c:pt idx="7">
                  <c:v>0.873</c:v>
                </c:pt>
                <c:pt idx="8">
                  <c:v>0.70209999999999995</c:v>
                </c:pt>
                <c:pt idx="9">
                  <c:v>0.8</c:v>
                </c:pt>
                <c:pt idx="10">
                  <c:v>0.72219999999999995</c:v>
                </c:pt>
                <c:pt idx="11">
                  <c:v>0.8367</c:v>
                </c:pt>
                <c:pt idx="12">
                  <c:v>0.74509999999999998</c:v>
                </c:pt>
                <c:pt idx="13">
                  <c:v>0.81079999999999997</c:v>
                </c:pt>
                <c:pt idx="14">
                  <c:v>0.81479999999999997</c:v>
                </c:pt>
                <c:pt idx="15">
                  <c:v>0.86670000000000003</c:v>
                </c:pt>
                <c:pt idx="16">
                  <c:v>0.8</c:v>
                </c:pt>
                <c:pt idx="17">
                  <c:v>0.84209999999999996</c:v>
                </c:pt>
                <c:pt idx="18">
                  <c:v>0.90380000000000005</c:v>
                </c:pt>
                <c:pt idx="19">
                  <c:v>0.90480000000000005</c:v>
                </c:pt>
                <c:pt idx="20">
                  <c:v>0.81079999999999997</c:v>
                </c:pt>
                <c:pt idx="21">
                  <c:v>0.85709999999999997</c:v>
                </c:pt>
                <c:pt idx="22">
                  <c:v>0.85709999999999997</c:v>
                </c:pt>
                <c:pt idx="23">
                  <c:v>0.71430000000000005</c:v>
                </c:pt>
                <c:pt idx="24">
                  <c:v>0.94120000000000004</c:v>
                </c:pt>
                <c:pt idx="25">
                  <c:v>0.9677</c:v>
                </c:pt>
                <c:pt idx="26">
                  <c:v>0.65659999999999996</c:v>
                </c:pt>
                <c:pt idx="27">
                  <c:v>0.78380000000000005</c:v>
                </c:pt>
                <c:pt idx="28">
                  <c:v>0.77780000000000005</c:v>
                </c:pt>
                <c:pt idx="29">
                  <c:v>0.83020000000000005</c:v>
                </c:pt>
                <c:pt idx="30">
                  <c:v>0.8649</c:v>
                </c:pt>
                <c:pt idx="31">
                  <c:v>0.88890000000000002</c:v>
                </c:pt>
                <c:pt idx="32">
                  <c:v>0.83330000000000004</c:v>
                </c:pt>
                <c:pt idx="33">
                  <c:v>0.8649</c:v>
                </c:pt>
                <c:pt idx="34">
                  <c:v>0.5161</c:v>
                </c:pt>
                <c:pt idx="35">
                  <c:v>0.77780000000000005</c:v>
                </c:pt>
                <c:pt idx="36">
                  <c:v>0.86419999999999997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C9A-48B9-835E-8FD938C0E9C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ViT-Tiny (gradual 3L)</c:v>
                </c:pt>
              </c:strCache>
            </c:strRef>
          </c:tx>
          <c:spPr>
            <a:ln w="25400" cap="flat">
              <a:solidFill>
                <a:srgbClr val="CBD5E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BD5E1"/>
              </a:solidFill>
              <a:ln w="9525" cap="flat">
                <a:solidFill>
                  <a:srgbClr val="CBD5E1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Sheet1!$F$2:$F$38</c:f>
              <c:numCache>
                <c:formatCode>General</c:formatCode>
                <c:ptCount val="37"/>
                <c:pt idx="0">
                  <c:v>0.8</c:v>
                </c:pt>
                <c:pt idx="1">
                  <c:v>0.6552</c:v>
                </c:pt>
                <c:pt idx="2">
                  <c:v>0.37619999999999998</c:v>
                </c:pt>
                <c:pt idx="3">
                  <c:v>0.80510000000000004</c:v>
                </c:pt>
                <c:pt idx="4">
                  <c:v>0.72729999999999995</c:v>
                </c:pt>
                <c:pt idx="5">
                  <c:v>0.78849999999999998</c:v>
                </c:pt>
                <c:pt idx="6">
                  <c:v>0.72729999999999995</c:v>
                </c:pt>
                <c:pt idx="7">
                  <c:v>0.85370000000000001</c:v>
                </c:pt>
                <c:pt idx="8">
                  <c:v>0.63160000000000005</c:v>
                </c:pt>
                <c:pt idx="9">
                  <c:v>0.78259999999999996</c:v>
                </c:pt>
                <c:pt idx="10">
                  <c:v>0.6512</c:v>
                </c:pt>
                <c:pt idx="11">
                  <c:v>0.84209999999999996</c:v>
                </c:pt>
                <c:pt idx="12">
                  <c:v>0.78259999999999996</c:v>
                </c:pt>
                <c:pt idx="13">
                  <c:v>0.76190000000000002</c:v>
                </c:pt>
                <c:pt idx="14">
                  <c:v>0.7742</c:v>
                </c:pt>
                <c:pt idx="15">
                  <c:v>0.89359999999999995</c:v>
                </c:pt>
                <c:pt idx="16">
                  <c:v>0.83020000000000005</c:v>
                </c:pt>
                <c:pt idx="17">
                  <c:v>0.86209999999999998</c:v>
                </c:pt>
                <c:pt idx="18">
                  <c:v>0.90910000000000002</c:v>
                </c:pt>
                <c:pt idx="19">
                  <c:v>0.92300000000000004</c:v>
                </c:pt>
                <c:pt idx="20">
                  <c:v>0.7742</c:v>
                </c:pt>
                <c:pt idx="21">
                  <c:v>0.81820000000000004</c:v>
                </c:pt>
                <c:pt idx="22">
                  <c:v>0.88890000000000002</c:v>
                </c:pt>
                <c:pt idx="23">
                  <c:v>0.79369999999999996</c:v>
                </c:pt>
                <c:pt idx="24">
                  <c:v>0.85370000000000001</c:v>
                </c:pt>
                <c:pt idx="25">
                  <c:v>0.94120000000000004</c:v>
                </c:pt>
                <c:pt idx="26">
                  <c:v>0.65569999999999995</c:v>
                </c:pt>
                <c:pt idx="27">
                  <c:v>0.81079999999999997</c:v>
                </c:pt>
                <c:pt idx="28">
                  <c:v>0.78259999999999996</c:v>
                </c:pt>
                <c:pt idx="29">
                  <c:v>0.84850000000000003</c:v>
                </c:pt>
                <c:pt idx="30">
                  <c:v>0.8</c:v>
                </c:pt>
                <c:pt idx="31">
                  <c:v>0.90910000000000002</c:v>
                </c:pt>
                <c:pt idx="32">
                  <c:v>0.83020000000000005</c:v>
                </c:pt>
                <c:pt idx="33">
                  <c:v>0.84</c:v>
                </c:pt>
                <c:pt idx="34">
                  <c:v>0.46589999999999998</c:v>
                </c:pt>
                <c:pt idx="35">
                  <c:v>0.78049999999999997</c:v>
                </c:pt>
                <c:pt idx="36">
                  <c:v>0.92310000000000003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C9A-48B9-835E-8FD938C0E9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Finetune</c:v>
                </c:pt>
              </c:strCache>
            </c:strRef>
          </c:tx>
          <c:spPr>
            <a:ln w="31750" cap="flat">
              <a:solidFill>
                <a:srgbClr val="C77B3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77B3A"/>
              </a:solidFill>
              <a:ln w="9525" cap="flat">
                <a:solidFill>
                  <a:srgbClr val="C77B3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10%</c:v>
                </c:pt>
                <c:pt idx="1">
                  <c:v>25%</c:v>
                </c:pt>
                <c:pt idx="2">
                  <c:v>100%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65.63</c:v>
                </c:pt>
                <c:pt idx="1">
                  <c:v>74.27</c:v>
                </c:pt>
                <c:pt idx="2">
                  <c:v>84.46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FB4-4C2F-827E-92CD8A2F97F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Distillation</c:v>
                </c:pt>
              </c:strCache>
            </c:strRef>
          </c:tx>
          <c:spPr>
            <a:ln w="31750" cap="flat">
              <a:solidFill>
                <a:srgbClr val="1785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78582"/>
              </a:solidFill>
              <a:ln w="9525" cap="flat">
                <a:solidFill>
                  <a:srgbClr val="178582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10%</c:v>
                </c:pt>
                <c:pt idx="1">
                  <c:v>25%</c:v>
                </c:pt>
                <c:pt idx="2">
                  <c:v>100%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75.010000000000005</c:v>
                </c:pt>
                <c:pt idx="1">
                  <c:v>83.07</c:v>
                </c:pt>
                <c:pt idx="2">
                  <c:v>87.54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FB4-4C2F-827E-92CD8A2F97F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5"/>
          <c:min val="5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Distilled 100%</c:v>
                </c:pt>
              </c:strCache>
            </c:strRef>
          </c:tx>
          <c:spPr>
            <a:ln w="2286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Sheet1!$B$2:$B$38</c:f>
              <c:numCache>
                <c:formatCode>General</c:formatCode>
                <c:ptCount val="37"/>
                <c:pt idx="0">
                  <c:v>0.87760000000000005</c:v>
                </c:pt>
                <c:pt idx="1">
                  <c:v>0.74039999999999995</c:v>
                </c:pt>
                <c:pt idx="2">
                  <c:v>0.58750000000000002</c:v>
                </c:pt>
                <c:pt idx="3">
                  <c:v>0.87439999999999996</c:v>
                </c:pt>
                <c:pt idx="4">
                  <c:v>0.84789999999999999</c:v>
                </c:pt>
                <c:pt idx="5">
                  <c:v>0.83330000000000004</c:v>
                </c:pt>
                <c:pt idx="6">
                  <c:v>0.79049999999999998</c:v>
                </c:pt>
                <c:pt idx="7">
                  <c:v>0.94510000000000005</c:v>
                </c:pt>
                <c:pt idx="8">
                  <c:v>0.86539999999999995</c:v>
                </c:pt>
                <c:pt idx="9">
                  <c:v>0.87760000000000005</c:v>
                </c:pt>
                <c:pt idx="10">
                  <c:v>0.82679999999999998</c:v>
                </c:pt>
                <c:pt idx="11">
                  <c:v>0.88770000000000004</c:v>
                </c:pt>
                <c:pt idx="12">
                  <c:v>0.8821</c:v>
                </c:pt>
                <c:pt idx="13">
                  <c:v>0.89690000000000003</c:v>
                </c:pt>
                <c:pt idx="14">
                  <c:v>0.89910000000000001</c:v>
                </c:pt>
                <c:pt idx="15">
                  <c:v>0.91790000000000005</c:v>
                </c:pt>
                <c:pt idx="16">
                  <c:v>0.91</c:v>
                </c:pt>
                <c:pt idx="17">
                  <c:v>0.90100000000000002</c:v>
                </c:pt>
                <c:pt idx="18">
                  <c:v>0.96909999999999996</c:v>
                </c:pt>
                <c:pt idx="19">
                  <c:v>0.94059999999999999</c:v>
                </c:pt>
                <c:pt idx="20">
                  <c:v>0.86699999999999999</c:v>
                </c:pt>
                <c:pt idx="21">
                  <c:v>0.90159999999999996</c:v>
                </c:pt>
                <c:pt idx="22">
                  <c:v>0.93069999999999997</c:v>
                </c:pt>
                <c:pt idx="23">
                  <c:v>0.86339999999999995</c:v>
                </c:pt>
                <c:pt idx="24">
                  <c:v>0.92779999999999996</c:v>
                </c:pt>
                <c:pt idx="25">
                  <c:v>0.96909999999999996</c:v>
                </c:pt>
                <c:pt idx="26">
                  <c:v>0.80210000000000004</c:v>
                </c:pt>
                <c:pt idx="27">
                  <c:v>0.8901</c:v>
                </c:pt>
                <c:pt idx="28">
                  <c:v>0.88349999999999995</c:v>
                </c:pt>
                <c:pt idx="29">
                  <c:v>0.91259999999999997</c:v>
                </c:pt>
                <c:pt idx="30">
                  <c:v>0.95</c:v>
                </c:pt>
                <c:pt idx="31">
                  <c:v>0.91349999999999998</c:v>
                </c:pt>
                <c:pt idx="32">
                  <c:v>0.89659999999999995</c:v>
                </c:pt>
                <c:pt idx="33">
                  <c:v>0.91869999999999996</c:v>
                </c:pt>
                <c:pt idx="34">
                  <c:v>0.58330000000000004</c:v>
                </c:pt>
                <c:pt idx="35">
                  <c:v>0.89</c:v>
                </c:pt>
                <c:pt idx="36">
                  <c:v>0.94850000000000001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3AD-4BF7-9D7D-E5A53159A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Distilled 25%</c:v>
                </c:pt>
              </c:strCache>
            </c:strRef>
          </c:tx>
          <c:spPr>
            <a:ln w="22860" cap="flat">
              <a:solidFill>
                <a:srgbClr val="3A5FA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A5FA0"/>
              </a:solidFill>
              <a:ln w="9525" cap="flat">
                <a:solidFill>
                  <a:srgbClr val="3A5FA0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Sheet1!$C$2:$C$38</c:f>
              <c:numCache>
                <c:formatCode>General</c:formatCode>
                <c:ptCount val="37"/>
                <c:pt idx="0">
                  <c:v>0.84970000000000001</c:v>
                </c:pt>
                <c:pt idx="1">
                  <c:v>0.69169999999999998</c:v>
                </c:pt>
                <c:pt idx="2">
                  <c:v>0.42470000000000002</c:v>
                </c:pt>
                <c:pt idx="3">
                  <c:v>0.81740000000000002</c:v>
                </c:pt>
                <c:pt idx="4">
                  <c:v>0.71199999999999997</c:v>
                </c:pt>
                <c:pt idx="5">
                  <c:v>0.82</c:v>
                </c:pt>
                <c:pt idx="6">
                  <c:v>0.7087</c:v>
                </c:pt>
                <c:pt idx="7">
                  <c:v>0.92310000000000003</c:v>
                </c:pt>
                <c:pt idx="8">
                  <c:v>0.78820000000000001</c:v>
                </c:pt>
                <c:pt idx="9">
                  <c:v>0.80810000000000004</c:v>
                </c:pt>
                <c:pt idx="10">
                  <c:v>0.75280000000000002</c:v>
                </c:pt>
                <c:pt idx="11">
                  <c:v>0.86870000000000003</c:v>
                </c:pt>
                <c:pt idx="12">
                  <c:v>0.78069999999999995</c:v>
                </c:pt>
                <c:pt idx="13">
                  <c:v>0.76439999999999997</c:v>
                </c:pt>
                <c:pt idx="14">
                  <c:v>0.88680000000000003</c:v>
                </c:pt>
                <c:pt idx="15">
                  <c:v>0.88890000000000002</c:v>
                </c:pt>
                <c:pt idx="16">
                  <c:v>0.85309999999999997</c:v>
                </c:pt>
                <c:pt idx="17">
                  <c:v>0.85289999999999999</c:v>
                </c:pt>
                <c:pt idx="18">
                  <c:v>0.9798</c:v>
                </c:pt>
                <c:pt idx="19">
                  <c:v>0.93069999999999997</c:v>
                </c:pt>
                <c:pt idx="20">
                  <c:v>0.81410000000000005</c:v>
                </c:pt>
                <c:pt idx="21">
                  <c:v>0.84419999999999995</c:v>
                </c:pt>
                <c:pt idx="22">
                  <c:v>0.90820000000000001</c:v>
                </c:pt>
                <c:pt idx="23">
                  <c:v>0.84150000000000003</c:v>
                </c:pt>
                <c:pt idx="24">
                  <c:v>0.94469999999999998</c:v>
                </c:pt>
                <c:pt idx="25">
                  <c:v>0.92230000000000001</c:v>
                </c:pt>
                <c:pt idx="26">
                  <c:v>0.74629999999999996</c:v>
                </c:pt>
                <c:pt idx="27">
                  <c:v>0.81679999999999997</c:v>
                </c:pt>
                <c:pt idx="28">
                  <c:v>0.8629</c:v>
                </c:pt>
                <c:pt idx="29">
                  <c:v>0.91710000000000003</c:v>
                </c:pt>
                <c:pt idx="30">
                  <c:v>0.92390000000000005</c:v>
                </c:pt>
                <c:pt idx="31">
                  <c:v>0.88780000000000003</c:v>
                </c:pt>
                <c:pt idx="32">
                  <c:v>0.83250000000000002</c:v>
                </c:pt>
                <c:pt idx="33">
                  <c:v>0.90380000000000005</c:v>
                </c:pt>
                <c:pt idx="34">
                  <c:v>0.55169999999999997</c:v>
                </c:pt>
                <c:pt idx="35">
                  <c:v>0.90620000000000001</c:v>
                </c:pt>
                <c:pt idx="36">
                  <c:v>0.92779999999999996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3AD-4BF7-9D7D-E5A53159A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Distilled 10%</c:v>
                </c:pt>
              </c:strCache>
            </c:strRef>
          </c:tx>
          <c:spPr>
            <a:ln w="22860" cap="flat">
              <a:solidFill>
                <a:srgbClr val="4FC3F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C3F7"/>
              </a:solidFill>
              <a:ln w="9525" cap="flat">
                <a:solidFill>
                  <a:srgbClr val="4FC3F7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  <c:pt idx="10">
                  <c:v>c10</c:v>
                </c:pt>
                <c:pt idx="11">
                  <c:v>c11</c:v>
                </c:pt>
                <c:pt idx="12">
                  <c:v>c12</c:v>
                </c:pt>
                <c:pt idx="13">
                  <c:v>c13</c:v>
                </c:pt>
                <c:pt idx="14">
                  <c:v>c14</c:v>
                </c:pt>
                <c:pt idx="15">
                  <c:v>c15</c:v>
                </c:pt>
                <c:pt idx="16">
                  <c:v>c16</c:v>
                </c:pt>
                <c:pt idx="17">
                  <c:v>c17</c:v>
                </c:pt>
                <c:pt idx="18">
                  <c:v>c18</c:v>
                </c:pt>
                <c:pt idx="19">
                  <c:v>c19</c:v>
                </c:pt>
                <c:pt idx="20">
                  <c:v>c20</c:v>
                </c:pt>
                <c:pt idx="21">
                  <c:v>c21</c:v>
                </c:pt>
                <c:pt idx="22">
                  <c:v>c22</c:v>
                </c:pt>
                <c:pt idx="23">
                  <c:v>c23</c:v>
                </c:pt>
                <c:pt idx="24">
                  <c:v>c24</c:v>
                </c:pt>
                <c:pt idx="25">
                  <c:v>c25</c:v>
                </c:pt>
                <c:pt idx="26">
                  <c:v>c26</c:v>
                </c:pt>
                <c:pt idx="27">
                  <c:v>c27</c:v>
                </c:pt>
                <c:pt idx="28">
                  <c:v>c28</c:v>
                </c:pt>
                <c:pt idx="29">
                  <c:v>c29</c:v>
                </c:pt>
                <c:pt idx="30">
                  <c:v>c30</c:v>
                </c:pt>
                <c:pt idx="31">
                  <c:v>c31</c:v>
                </c:pt>
                <c:pt idx="32">
                  <c:v>c32</c:v>
                </c:pt>
                <c:pt idx="33">
                  <c:v>c33</c:v>
                </c:pt>
                <c:pt idx="34">
                  <c:v>c34</c:v>
                </c:pt>
                <c:pt idx="35">
                  <c:v>c35</c:v>
                </c:pt>
                <c:pt idx="36">
                  <c:v>c36</c:v>
                </c:pt>
              </c:strCache>
            </c:strRef>
          </c:cat>
          <c:val>
            <c:numRef>
              <c:f>Sheet1!$D$2:$D$38</c:f>
              <c:numCache>
                <c:formatCode>General</c:formatCode>
                <c:ptCount val="37"/>
                <c:pt idx="0">
                  <c:v>0.75</c:v>
                </c:pt>
                <c:pt idx="1">
                  <c:v>0.65129999999999999</c:v>
                </c:pt>
                <c:pt idx="2">
                  <c:v>0.38219999999999998</c:v>
                </c:pt>
                <c:pt idx="3">
                  <c:v>0.70399999999999996</c:v>
                </c:pt>
                <c:pt idx="4">
                  <c:v>0.48</c:v>
                </c:pt>
                <c:pt idx="5">
                  <c:v>0.79479999999999995</c:v>
                </c:pt>
                <c:pt idx="6">
                  <c:v>0.57140000000000002</c:v>
                </c:pt>
                <c:pt idx="7">
                  <c:v>0.88139999999999996</c:v>
                </c:pt>
                <c:pt idx="8">
                  <c:v>0.77549999999999997</c:v>
                </c:pt>
                <c:pt idx="9">
                  <c:v>0.71189999999999998</c:v>
                </c:pt>
                <c:pt idx="10">
                  <c:v>0.58679999999999999</c:v>
                </c:pt>
                <c:pt idx="11">
                  <c:v>0.80469999999999997</c:v>
                </c:pt>
                <c:pt idx="12">
                  <c:v>0.77159999999999995</c:v>
                </c:pt>
                <c:pt idx="13">
                  <c:v>0.7016</c:v>
                </c:pt>
                <c:pt idx="14">
                  <c:v>0.83330000000000004</c:v>
                </c:pt>
                <c:pt idx="15">
                  <c:v>0.8</c:v>
                </c:pt>
                <c:pt idx="16">
                  <c:v>0.70530000000000004</c:v>
                </c:pt>
                <c:pt idx="17">
                  <c:v>0.75270000000000004</c:v>
                </c:pt>
                <c:pt idx="18">
                  <c:v>0.93269999999999997</c:v>
                </c:pt>
                <c:pt idx="19">
                  <c:v>0.87250000000000005</c:v>
                </c:pt>
                <c:pt idx="20">
                  <c:v>0.75949999999999995</c:v>
                </c:pt>
                <c:pt idx="21">
                  <c:v>0.80210000000000004</c:v>
                </c:pt>
                <c:pt idx="22">
                  <c:v>0.81030000000000002</c:v>
                </c:pt>
                <c:pt idx="23">
                  <c:v>0.82869999999999999</c:v>
                </c:pt>
                <c:pt idx="24">
                  <c:v>0.86029999999999995</c:v>
                </c:pt>
                <c:pt idx="25">
                  <c:v>0.88080000000000003</c:v>
                </c:pt>
                <c:pt idx="26">
                  <c:v>0.58620000000000005</c:v>
                </c:pt>
                <c:pt idx="27">
                  <c:v>0.74629999999999996</c:v>
                </c:pt>
                <c:pt idx="28">
                  <c:v>0.78720000000000001</c:v>
                </c:pt>
                <c:pt idx="29">
                  <c:v>0.84509999999999996</c:v>
                </c:pt>
                <c:pt idx="30">
                  <c:v>0.79139999999999999</c:v>
                </c:pt>
                <c:pt idx="31">
                  <c:v>0.82830000000000004</c:v>
                </c:pt>
                <c:pt idx="32">
                  <c:v>0.75449999999999995</c:v>
                </c:pt>
                <c:pt idx="33">
                  <c:v>0.83040000000000003</c:v>
                </c:pt>
                <c:pt idx="34">
                  <c:v>0.48620000000000002</c:v>
                </c:pt>
                <c:pt idx="35">
                  <c:v>0.73370000000000002</c:v>
                </c:pt>
                <c:pt idx="36">
                  <c:v>0.87560000000000004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3AD-4BF7-9D7D-E5A53159A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(oversampling)</c:v>
                </c:pt>
              </c:strCache>
            </c:strRef>
          </c:tx>
          <c:spPr>
            <a:ln w="25400" cap="flat">
              <a:solidFill>
                <a:srgbClr val="E651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5100"/>
              </a:solidFill>
              <a:ln w="9525" cap="flat">
                <a:solidFill>
                  <a:srgbClr val="E65100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Abyssinian_cat</c:v>
                </c:pt>
                <c:pt idx="1">
                  <c:v>american_bulldog_dog</c:v>
                </c:pt>
                <c:pt idx="2">
                  <c:v>american_pit_bull_terrier_dog</c:v>
                </c:pt>
                <c:pt idx="3">
                  <c:v>basset_hound_dog</c:v>
                </c:pt>
                <c:pt idx="4">
                  <c:v>beagle_dog</c:v>
                </c:pt>
                <c:pt idx="5">
                  <c:v>Bengal_cat</c:v>
                </c:pt>
                <c:pt idx="6">
                  <c:v>Birman_cat</c:v>
                </c:pt>
                <c:pt idx="7">
                  <c:v>Bombay_cat</c:v>
                </c:pt>
                <c:pt idx="8">
                  <c:v>boxer_dog</c:v>
                </c:pt>
                <c:pt idx="9">
                  <c:v>British_Shorthair_cat</c:v>
                </c:pt>
                <c:pt idx="10">
                  <c:v>chihuahua_dog</c:v>
                </c:pt>
                <c:pt idx="11">
                  <c:v>Egyptian_Mau_cat</c:v>
                </c:pt>
                <c:pt idx="12">
                  <c:v>english_cocker_spaniel_dog</c:v>
                </c:pt>
                <c:pt idx="13">
                  <c:v>english_setter_dog</c:v>
                </c:pt>
                <c:pt idx="14">
                  <c:v>german_shorthaired_dog</c:v>
                </c:pt>
                <c:pt idx="15">
                  <c:v>great_pyrenees_dog</c:v>
                </c:pt>
                <c:pt idx="16">
                  <c:v>havanese_dog</c:v>
                </c:pt>
                <c:pt idx="17">
                  <c:v>japanese_chin_dog</c:v>
                </c:pt>
                <c:pt idx="18">
                  <c:v>keeshond_dog</c:v>
                </c:pt>
                <c:pt idx="19">
                  <c:v>leonberger_dog</c:v>
                </c:pt>
                <c:pt idx="20">
                  <c:v>Maine_Coon_cat</c:v>
                </c:pt>
                <c:pt idx="21">
                  <c:v>miniature_pinscher_dog</c:v>
                </c:pt>
                <c:pt idx="22">
                  <c:v>newfoundland_dog</c:v>
                </c:pt>
                <c:pt idx="23">
                  <c:v>Persian_cat</c:v>
                </c:pt>
                <c:pt idx="24">
                  <c:v>pomeranian_dog</c:v>
                </c:pt>
                <c:pt idx="25">
                  <c:v>pug_dog</c:v>
                </c:pt>
                <c:pt idx="26">
                  <c:v>Ragdoll_cat</c:v>
                </c:pt>
                <c:pt idx="27">
                  <c:v>Russian_Blue_cat</c:v>
                </c:pt>
                <c:pt idx="28">
                  <c:v>saint_bernard_dog</c:v>
                </c:pt>
                <c:pt idx="29">
                  <c:v>samoyed_dog</c:v>
                </c:pt>
                <c:pt idx="30">
                  <c:v>scottish_terrier_dog</c:v>
                </c:pt>
                <c:pt idx="31">
                  <c:v>shiba_inu_dog</c:v>
                </c:pt>
                <c:pt idx="32">
                  <c:v>Siamese_cat</c:v>
                </c:pt>
                <c:pt idx="33">
                  <c:v>Sphynx_cat</c:v>
                </c:pt>
                <c:pt idx="34">
                  <c:v>staffordshire_bull_terrier_dog</c:v>
                </c:pt>
                <c:pt idx="35">
                  <c:v>wheaten_terrier_dog</c:v>
                </c:pt>
                <c:pt idx="36">
                  <c:v>yorkshire_terrier_dog</c:v>
                </c:pt>
              </c:strCache>
            </c:strRef>
          </c:cat>
          <c:val>
            <c:numRef>
              <c:f>Sheet1!$B$2:$B$38</c:f>
              <c:numCache>
                <c:formatCode>General</c:formatCode>
                <c:ptCount val="37"/>
                <c:pt idx="0">
                  <c:v>0.68500000000000005</c:v>
                </c:pt>
                <c:pt idx="1">
                  <c:v>0.746</c:v>
                </c:pt>
                <c:pt idx="2">
                  <c:v>0.50600000000000001</c:v>
                </c:pt>
                <c:pt idx="3">
                  <c:v>0.84099999999999997</c:v>
                </c:pt>
                <c:pt idx="4">
                  <c:v>0.77400000000000002</c:v>
                </c:pt>
                <c:pt idx="5">
                  <c:v>0.69399999999999995</c:v>
                </c:pt>
                <c:pt idx="6">
                  <c:v>0.63400000000000001</c:v>
                </c:pt>
                <c:pt idx="7">
                  <c:v>0.80900000000000005</c:v>
                </c:pt>
                <c:pt idx="8">
                  <c:v>0.752</c:v>
                </c:pt>
                <c:pt idx="9">
                  <c:v>0.70399999999999996</c:v>
                </c:pt>
                <c:pt idx="10">
                  <c:v>0.76800000000000002</c:v>
                </c:pt>
                <c:pt idx="11">
                  <c:v>0.74399999999999999</c:v>
                </c:pt>
                <c:pt idx="12">
                  <c:v>0.81399999999999995</c:v>
                </c:pt>
                <c:pt idx="13">
                  <c:v>0.79300000000000004</c:v>
                </c:pt>
                <c:pt idx="14">
                  <c:v>0.88500000000000001</c:v>
                </c:pt>
                <c:pt idx="15">
                  <c:v>0.89700000000000002</c:v>
                </c:pt>
                <c:pt idx="16">
                  <c:v>0.83699999999999997</c:v>
                </c:pt>
                <c:pt idx="17">
                  <c:v>0.84399999999999997</c:v>
                </c:pt>
                <c:pt idx="18">
                  <c:v>0.93700000000000006</c:v>
                </c:pt>
                <c:pt idx="19">
                  <c:v>0.92800000000000005</c:v>
                </c:pt>
                <c:pt idx="20">
                  <c:v>0.73</c:v>
                </c:pt>
                <c:pt idx="21">
                  <c:v>0.83699999999999997</c:v>
                </c:pt>
                <c:pt idx="22">
                  <c:v>0.88800000000000001</c:v>
                </c:pt>
                <c:pt idx="23">
                  <c:v>0.753</c:v>
                </c:pt>
                <c:pt idx="24">
                  <c:v>0.91100000000000003</c:v>
                </c:pt>
                <c:pt idx="25">
                  <c:v>0.95</c:v>
                </c:pt>
                <c:pt idx="26">
                  <c:v>0.503</c:v>
                </c:pt>
                <c:pt idx="27">
                  <c:v>0.61199999999999999</c:v>
                </c:pt>
                <c:pt idx="28">
                  <c:v>0.83899999999999997</c:v>
                </c:pt>
                <c:pt idx="29">
                  <c:v>0.89900000000000002</c:v>
                </c:pt>
                <c:pt idx="30">
                  <c:v>0.88500000000000001</c:v>
                </c:pt>
                <c:pt idx="31">
                  <c:v>0.877</c:v>
                </c:pt>
                <c:pt idx="32">
                  <c:v>0.82099999999999995</c:v>
                </c:pt>
                <c:pt idx="33">
                  <c:v>0.84599999999999997</c:v>
                </c:pt>
                <c:pt idx="34">
                  <c:v>0.52600000000000002</c:v>
                </c:pt>
                <c:pt idx="35">
                  <c:v>0.86299999999999999</c:v>
                </c:pt>
                <c:pt idx="36">
                  <c:v>0.89900000000000002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D9A-495F-958A-36B2774289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Distillation</c:v>
                </c:pt>
              </c:strCache>
            </c:strRef>
          </c:tx>
          <c:spPr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strRef>
              <c:f>Sheet1!$A$2:$A$38</c:f>
              <c:strCache>
                <c:ptCount val="37"/>
                <c:pt idx="0">
                  <c:v>Abyssinian_cat</c:v>
                </c:pt>
                <c:pt idx="1">
                  <c:v>american_bulldog_dog</c:v>
                </c:pt>
                <c:pt idx="2">
                  <c:v>american_pit_bull_terrier_dog</c:v>
                </c:pt>
                <c:pt idx="3">
                  <c:v>basset_hound_dog</c:v>
                </c:pt>
                <c:pt idx="4">
                  <c:v>beagle_dog</c:v>
                </c:pt>
                <c:pt idx="5">
                  <c:v>Bengal_cat</c:v>
                </c:pt>
                <c:pt idx="6">
                  <c:v>Birman_cat</c:v>
                </c:pt>
                <c:pt idx="7">
                  <c:v>Bombay_cat</c:v>
                </c:pt>
                <c:pt idx="8">
                  <c:v>boxer_dog</c:v>
                </c:pt>
                <c:pt idx="9">
                  <c:v>British_Shorthair_cat</c:v>
                </c:pt>
                <c:pt idx="10">
                  <c:v>chihuahua_dog</c:v>
                </c:pt>
                <c:pt idx="11">
                  <c:v>Egyptian_Mau_cat</c:v>
                </c:pt>
                <c:pt idx="12">
                  <c:v>english_cocker_spaniel_dog</c:v>
                </c:pt>
                <c:pt idx="13">
                  <c:v>english_setter_dog</c:v>
                </c:pt>
                <c:pt idx="14">
                  <c:v>german_shorthaired_dog</c:v>
                </c:pt>
                <c:pt idx="15">
                  <c:v>great_pyrenees_dog</c:v>
                </c:pt>
                <c:pt idx="16">
                  <c:v>havanese_dog</c:v>
                </c:pt>
                <c:pt idx="17">
                  <c:v>japanese_chin_dog</c:v>
                </c:pt>
                <c:pt idx="18">
                  <c:v>keeshond_dog</c:v>
                </c:pt>
                <c:pt idx="19">
                  <c:v>leonberger_dog</c:v>
                </c:pt>
                <c:pt idx="20">
                  <c:v>Maine_Coon_cat</c:v>
                </c:pt>
                <c:pt idx="21">
                  <c:v>miniature_pinscher_dog</c:v>
                </c:pt>
                <c:pt idx="22">
                  <c:v>newfoundland_dog</c:v>
                </c:pt>
                <c:pt idx="23">
                  <c:v>Persian_cat</c:v>
                </c:pt>
                <c:pt idx="24">
                  <c:v>pomeranian_dog</c:v>
                </c:pt>
                <c:pt idx="25">
                  <c:v>pug_dog</c:v>
                </c:pt>
                <c:pt idx="26">
                  <c:v>Ragdoll_cat</c:v>
                </c:pt>
                <c:pt idx="27">
                  <c:v>Russian_Blue_cat</c:v>
                </c:pt>
                <c:pt idx="28">
                  <c:v>saint_bernard_dog</c:v>
                </c:pt>
                <c:pt idx="29">
                  <c:v>samoyed_dog</c:v>
                </c:pt>
                <c:pt idx="30">
                  <c:v>scottish_terrier_dog</c:v>
                </c:pt>
                <c:pt idx="31">
                  <c:v>shiba_inu_dog</c:v>
                </c:pt>
                <c:pt idx="32">
                  <c:v>Siamese_cat</c:v>
                </c:pt>
                <c:pt idx="33">
                  <c:v>Sphynx_cat</c:v>
                </c:pt>
                <c:pt idx="34">
                  <c:v>staffordshire_bull_terrier_dog</c:v>
                </c:pt>
                <c:pt idx="35">
                  <c:v>wheaten_terrier_dog</c:v>
                </c:pt>
                <c:pt idx="36">
                  <c:v>yorkshire_terrier_dog</c:v>
                </c:pt>
              </c:strCache>
            </c:strRef>
          </c:cat>
          <c:val>
            <c:numRef>
              <c:f>Sheet1!$C$2:$C$38</c:f>
              <c:numCache>
                <c:formatCode>General</c:formatCode>
                <c:ptCount val="37"/>
                <c:pt idx="0">
                  <c:v>0.84299999999999997</c:v>
                </c:pt>
                <c:pt idx="1">
                  <c:v>0.76200000000000001</c:v>
                </c:pt>
                <c:pt idx="2">
                  <c:v>0.622</c:v>
                </c:pt>
                <c:pt idx="3">
                  <c:v>0.89700000000000002</c:v>
                </c:pt>
                <c:pt idx="4">
                  <c:v>0.83199999999999996</c:v>
                </c:pt>
                <c:pt idx="5">
                  <c:v>0.78500000000000003</c:v>
                </c:pt>
                <c:pt idx="6">
                  <c:v>0.73799999999999999</c:v>
                </c:pt>
                <c:pt idx="7">
                  <c:v>0.85299999999999998</c:v>
                </c:pt>
                <c:pt idx="8">
                  <c:v>0.85599999999999998</c:v>
                </c:pt>
                <c:pt idx="9">
                  <c:v>0.81699999999999995</c:v>
                </c:pt>
                <c:pt idx="10">
                  <c:v>0.81499999999999995</c:v>
                </c:pt>
                <c:pt idx="11">
                  <c:v>0.84199999999999997</c:v>
                </c:pt>
                <c:pt idx="12">
                  <c:v>0.88400000000000001</c:v>
                </c:pt>
                <c:pt idx="13">
                  <c:v>0.876</c:v>
                </c:pt>
                <c:pt idx="14">
                  <c:v>0.89</c:v>
                </c:pt>
                <c:pt idx="15">
                  <c:v>0.91600000000000004</c:v>
                </c:pt>
                <c:pt idx="16">
                  <c:v>0.89900000000000002</c:v>
                </c:pt>
                <c:pt idx="17">
                  <c:v>0.89800000000000002</c:v>
                </c:pt>
                <c:pt idx="18">
                  <c:v>0.97499999999999998</c:v>
                </c:pt>
                <c:pt idx="19">
                  <c:v>0.96</c:v>
                </c:pt>
                <c:pt idx="20">
                  <c:v>0.78600000000000003</c:v>
                </c:pt>
                <c:pt idx="21">
                  <c:v>0.86899999999999999</c:v>
                </c:pt>
                <c:pt idx="22">
                  <c:v>0.90800000000000003</c:v>
                </c:pt>
                <c:pt idx="23">
                  <c:v>0.79</c:v>
                </c:pt>
                <c:pt idx="24">
                  <c:v>0.92700000000000005</c:v>
                </c:pt>
                <c:pt idx="25">
                  <c:v>0.96899999999999997</c:v>
                </c:pt>
                <c:pt idx="26">
                  <c:v>0.68100000000000005</c:v>
                </c:pt>
                <c:pt idx="27">
                  <c:v>0.74099999999999999</c:v>
                </c:pt>
                <c:pt idx="28">
                  <c:v>0.90300000000000002</c:v>
                </c:pt>
                <c:pt idx="29">
                  <c:v>0.90300000000000002</c:v>
                </c:pt>
                <c:pt idx="30">
                  <c:v>0.93100000000000005</c:v>
                </c:pt>
                <c:pt idx="31">
                  <c:v>0.91500000000000004</c:v>
                </c:pt>
                <c:pt idx="32">
                  <c:v>0.83299999999999996</c:v>
                </c:pt>
                <c:pt idx="33">
                  <c:v>0.95099999999999996</c:v>
                </c:pt>
                <c:pt idx="34">
                  <c:v>0.57799999999999996</c:v>
                </c:pt>
                <c:pt idx="35">
                  <c:v>0.89800000000000002</c:v>
                </c:pt>
                <c:pt idx="36">
                  <c:v>0.95399999999999996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D9A-495F-958A-36B2774289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Cat classes (minority)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B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Abyssinian_cat</c:v>
                </c:pt>
                <c:pt idx="1">
                  <c:v>Bengal_cat</c:v>
                </c:pt>
                <c:pt idx="2">
                  <c:v>Birman_cat</c:v>
                </c:pt>
                <c:pt idx="3">
                  <c:v>Bombay_cat</c:v>
                </c:pt>
                <c:pt idx="4">
                  <c:v>British_Shorthair_cat</c:v>
                </c:pt>
                <c:pt idx="5">
                  <c:v>Egyptian_Mau_cat</c:v>
                </c:pt>
                <c:pt idx="6">
                  <c:v>Maine_Coon_cat</c:v>
                </c:pt>
                <c:pt idx="7">
                  <c:v>Persian_cat</c:v>
                </c:pt>
                <c:pt idx="8">
                  <c:v>Ragdoll_cat</c:v>
                </c:pt>
                <c:pt idx="9">
                  <c:v>Russian_Blue_cat</c:v>
                </c:pt>
                <c:pt idx="10">
                  <c:v>Siamese_cat</c:v>
                </c:pt>
                <c:pt idx="11">
                  <c:v>Sphynx_cat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0.157999999999999</c:v>
                </c:pt>
                <c:pt idx="1">
                  <c:v>9.0999999999999998E-2</c:v>
                </c:pt>
                <c:pt idx="2">
                  <c:v>0.103999999999999</c:v>
                </c:pt>
                <c:pt idx="3">
                  <c:v>4.39999999999999E-2</c:v>
                </c:pt>
                <c:pt idx="4">
                  <c:v>0.112999999999999</c:v>
                </c:pt>
                <c:pt idx="5">
                  <c:v>9.7999999999999907E-2</c:v>
                </c:pt>
                <c:pt idx="6">
                  <c:v>5.6000000000000001E-2</c:v>
                </c:pt>
                <c:pt idx="7">
                  <c:v>3.6999999999999998E-2</c:v>
                </c:pt>
                <c:pt idx="8">
                  <c:v>0.17799999999999999</c:v>
                </c:pt>
                <c:pt idx="9">
                  <c:v>0.129</c:v>
                </c:pt>
                <c:pt idx="10">
                  <c:v>1.2E-2</c:v>
                </c:pt>
                <c:pt idx="11">
                  <c:v>0.104999999999999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83-454D-A233-A50101BD24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Dog classes (majority)</c:v>
                </c:pt>
              </c:strCache>
            </c:strRef>
          </c:tx>
          <c:spPr>
            <a:solidFill>
              <a:srgbClr val="0369A1"/>
            </a:solidFill>
            <a:effectLst/>
          </c:spPr>
          <c:invertIfNegative val="0"/>
          <c:dLbls>
            <c:numFmt formatCode="#,##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B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Sheet1!$A$2:$A$26</c:f>
              <c:strCache>
                <c:ptCount val="25"/>
                <c:pt idx="0">
                  <c:v>american_bulldog_dog</c:v>
                </c:pt>
                <c:pt idx="1">
                  <c:v>american_pit_bull_terrier_dog</c:v>
                </c:pt>
                <c:pt idx="2">
                  <c:v>basset_hound_dog</c:v>
                </c:pt>
                <c:pt idx="3">
                  <c:v>beagle_dog</c:v>
                </c:pt>
                <c:pt idx="4">
                  <c:v>boxer_dog</c:v>
                </c:pt>
                <c:pt idx="5">
                  <c:v>chihuahua_dog</c:v>
                </c:pt>
                <c:pt idx="6">
                  <c:v>english_cocker_spaniel_dog</c:v>
                </c:pt>
                <c:pt idx="7">
                  <c:v>english_setter_dog</c:v>
                </c:pt>
                <c:pt idx="8">
                  <c:v>german_shorthaired_dog</c:v>
                </c:pt>
                <c:pt idx="9">
                  <c:v>great_pyrenees_dog</c:v>
                </c:pt>
                <c:pt idx="10">
                  <c:v>havanese_dog</c:v>
                </c:pt>
                <c:pt idx="11">
                  <c:v>japanese_chin_dog</c:v>
                </c:pt>
                <c:pt idx="12">
                  <c:v>keeshond_dog</c:v>
                </c:pt>
                <c:pt idx="13">
                  <c:v>leonberger_dog</c:v>
                </c:pt>
                <c:pt idx="14">
                  <c:v>miniature_pinscher_dog</c:v>
                </c:pt>
                <c:pt idx="15">
                  <c:v>newfoundland_dog</c:v>
                </c:pt>
                <c:pt idx="16">
                  <c:v>pomeranian_dog</c:v>
                </c:pt>
                <c:pt idx="17">
                  <c:v>pug_dog</c:v>
                </c:pt>
                <c:pt idx="18">
                  <c:v>saint_bernard_dog</c:v>
                </c:pt>
                <c:pt idx="19">
                  <c:v>samoyed_dog</c:v>
                </c:pt>
                <c:pt idx="20">
                  <c:v>scottish_terrier_dog</c:v>
                </c:pt>
                <c:pt idx="21">
                  <c:v>shiba_inu_dog</c:v>
                </c:pt>
                <c:pt idx="22">
                  <c:v>staffordshire_bull_terrier_dog</c:v>
                </c:pt>
                <c:pt idx="23">
                  <c:v>wheaten_terrier_dog</c:v>
                </c:pt>
                <c:pt idx="24">
                  <c:v>yorkshire_terrier_dog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1.6E-2</c:v>
                </c:pt>
                <c:pt idx="1">
                  <c:v>0.11599999999999901</c:v>
                </c:pt>
                <c:pt idx="2">
                  <c:v>5.6000000000000001E-2</c:v>
                </c:pt>
                <c:pt idx="3">
                  <c:v>5.7999999999999899E-2</c:v>
                </c:pt>
                <c:pt idx="4">
                  <c:v>0.103999999999999</c:v>
                </c:pt>
                <c:pt idx="5">
                  <c:v>4.6999999999999903E-2</c:v>
                </c:pt>
                <c:pt idx="6">
                  <c:v>7.0000000000000007E-2</c:v>
                </c:pt>
                <c:pt idx="7">
                  <c:v>8.2999999999999893E-2</c:v>
                </c:pt>
                <c:pt idx="8">
                  <c:v>5.0000000000000001E-3</c:v>
                </c:pt>
                <c:pt idx="9">
                  <c:v>1.9E-2</c:v>
                </c:pt>
                <c:pt idx="10">
                  <c:v>6.2E-2</c:v>
                </c:pt>
                <c:pt idx="11">
                  <c:v>5.3999999999999999E-2</c:v>
                </c:pt>
                <c:pt idx="12">
                  <c:v>3.7999999999999902E-2</c:v>
                </c:pt>
                <c:pt idx="13">
                  <c:v>3.1999999999999897E-2</c:v>
                </c:pt>
                <c:pt idx="14">
                  <c:v>3.2000000000000001E-2</c:v>
                </c:pt>
                <c:pt idx="15">
                  <c:v>0.02</c:v>
                </c:pt>
                <c:pt idx="16">
                  <c:v>1.6E-2</c:v>
                </c:pt>
                <c:pt idx="17">
                  <c:v>1.9E-2</c:v>
                </c:pt>
                <c:pt idx="18">
                  <c:v>6.4000000000000001E-2</c:v>
                </c:pt>
                <c:pt idx="19">
                  <c:v>4.0000000000000001E-3</c:v>
                </c:pt>
                <c:pt idx="20">
                  <c:v>4.5999999999999999E-2</c:v>
                </c:pt>
                <c:pt idx="21">
                  <c:v>3.7999999999999999E-2</c:v>
                </c:pt>
                <c:pt idx="22">
                  <c:v>5.19999999999999E-2</c:v>
                </c:pt>
                <c:pt idx="23">
                  <c:v>3.5000000000000003E-2</c:v>
                </c:pt>
                <c:pt idx="24">
                  <c:v>5.4999999999999903E-2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9-4E78-BA28-F1AE8FE06EC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201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Vision Transformers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Knowledge Distillation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785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DD2424 · Deep Learning in Data Science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Oxford-IIIT Pet Dataset · 37 Breed Classes · ViT + ResNet + Distillation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Matteo Camellini  ·  Bhaswat Raj  ·  Grace Xu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931920" y="4343400"/>
            <a:ext cx="182880" cy="182880"/>
          </a:xfrm>
          <a:prstGeom prst="ellipse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79392" y="4343400"/>
            <a:ext cx="182880" cy="182880"/>
          </a:xfrm>
          <a:prstGeom prst="ellipse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26864" y="4343400"/>
            <a:ext cx="182880" cy="182880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— two-stage pipeline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1572768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41248"/>
            <a:ext cx="1572768" cy="457200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3192" y="841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Teacher Fine-tuning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04825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Linear probe baseline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2633472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Simultaneous vs gradual unfreeze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218688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Augmentation experiments (MixUp, CutMix, erasing)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039112" y="841248"/>
            <a:ext cx="1572768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39112" y="841248"/>
            <a:ext cx="1572768" cy="457200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12264" y="841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39112" y="13898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 &amp; Class Imbalance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30552" y="204825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Stratified subsets: 10% / 25% / 50% / 100%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30552" y="2633472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L2 regularisation sensitivity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0552" y="3218688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20% cat-breed undersampling — weighted CE, oversampling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58184" y="841248"/>
            <a:ext cx="1572768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58184" y="841248"/>
            <a:ext cx="1572768" cy="457200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31336" y="841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58184" y="13898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vs ResNet Comparison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9624" y="204825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ViT-B/16 vs ResNet-RS152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49624" y="2633472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Accuracy, training efficiency, LR schedule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849624" y="3218688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Same augmentation, same dataset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77256" y="841248"/>
            <a:ext cx="1572768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77256" y="841248"/>
            <a:ext cx="1572768" cy="457200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50408" y="841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77256" y="13898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Distillation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68696" y="204825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ViT-Base → ViT-Tiny (15× compression)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568696" y="2633472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KL + MSE + CE + intermediate feature loss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568696" y="3218688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Ablation: pretrained×gradual configurations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196328" y="841248"/>
            <a:ext cx="1572768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196328" y="841248"/>
            <a:ext cx="1572768" cy="4572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69480" y="841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96328" y="13898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 Extensions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87768" y="204825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Data efficiency: 10%/25%/100% regimes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287768" y="2633472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Minority class recovery under imbalance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287768" y="3218688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UMAP embedding analysis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4864608"/>
            <a:ext cx="8503920" cy="164592"/>
          </a:xfrm>
          <a:prstGeom prst="rect">
            <a:avLst/>
          </a:prstGeom>
          <a:solidFill>
            <a:srgbClr val="178582">
              <a:alpha val="30000"/>
            </a:srgbClr>
          </a:solidFill>
          <a:ln w="12700">
            <a:solidFill>
              <a:srgbClr val="178582">
                <a:alpha val="3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864608"/>
            <a:ext cx="8503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0D1B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Dataset: Oxford-IIIT Pet · 37 breeds · 3,669 test samples · PyTorch · timm · personal GPU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1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Teacher Fine-tuning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85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strategies · Augmentation pipeline · Oxford-IIIT Pet 37 classes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fine-tuning strategies compared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2633472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41248"/>
            <a:ext cx="2633472" cy="64008"/>
          </a:xfrm>
          <a:prstGeom prst="rect">
            <a:avLst/>
          </a:prstGeom>
          <a:solidFill>
            <a:srgbClr val="8EA3B4"/>
          </a:solidFill>
          <a:ln w="12700">
            <a:solidFill>
              <a:srgbClr val="8EA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87552"/>
            <a:ext cx="2359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Probe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blocks frozen.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Head trained only.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LR = 1e-3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Fast · Low VRAM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2359152" cy="54864"/>
          </a:xfrm>
          <a:prstGeom prst="rect">
            <a:avLst/>
          </a:prstGeom>
          <a:solidFill>
            <a:srgbClr val="D0DAE4"/>
          </a:solidFill>
          <a:ln w="12700">
            <a:solidFill>
              <a:srgbClr val="D0DA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12724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result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92.04% best</a:t>
            </a:r>
            <a:endParaRPr lang="en-US" sz="14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91.20 – 92.04% Range</a:t>
            </a:r>
          </a:p>
        </p:txBody>
      </p:sp>
      <p:sp>
        <p:nvSpPr>
          <p:cNvPr id="10" name="Shape 8"/>
          <p:cNvSpPr/>
          <p:nvPr/>
        </p:nvSpPr>
        <p:spPr>
          <a:xfrm>
            <a:off x="3172968" y="841248"/>
            <a:ext cx="2633472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72968" y="841248"/>
            <a:ext cx="2633472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987552"/>
            <a:ext cx="2359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 (2,4,6 Blocks)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0128" y="160020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Last l blocks + head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unfrozen together.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unfrozen params train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from epoch 1.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10128" y="3035808"/>
            <a:ext cx="2359152" cy="54864"/>
          </a:xfrm>
          <a:prstGeom prst="rect">
            <a:avLst/>
          </a:prstGeom>
          <a:solidFill>
            <a:srgbClr val="D0DAE4"/>
          </a:solidFill>
          <a:ln w="12700">
            <a:solidFill>
              <a:srgbClr val="D0DA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10128" y="312724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result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333756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92.97% best</a:t>
            </a:r>
            <a:endParaRPr lang="en-US" sz="1400" dirty="0"/>
          </a:p>
          <a:p>
            <a:r>
              <a:rPr lang="en-US" sz="14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92.07 – 92.97% Range</a:t>
            </a:r>
          </a:p>
        </p:txBody>
      </p:sp>
      <p:sp>
        <p:nvSpPr>
          <p:cNvPr id="17" name="Shape 15"/>
          <p:cNvSpPr/>
          <p:nvPr/>
        </p:nvSpPr>
        <p:spPr>
          <a:xfrm>
            <a:off x="6025896" y="841248"/>
            <a:ext cx="2633472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25896" y="841248"/>
            <a:ext cx="2633472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63056" y="987552"/>
            <a:ext cx="2359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 (1-6 Blocks)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63056" y="160020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One block exposed per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(LR decays).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13-phase schedule.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Slower · More stable.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63056" y="3035808"/>
            <a:ext cx="2359152" cy="54864"/>
          </a:xfrm>
          <a:prstGeom prst="rect">
            <a:avLst/>
          </a:prstGeom>
          <a:solidFill>
            <a:srgbClr val="D0DAE4"/>
          </a:solidFill>
          <a:ln w="12700">
            <a:solidFill>
              <a:srgbClr val="D0DA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63056" y="312724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result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63056" y="333756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93.16% best</a:t>
            </a:r>
            <a:endParaRPr lang="en-US" sz="1400" dirty="0"/>
          </a:p>
          <a:p>
            <a:r>
              <a:rPr lang="en-US" sz="14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92.26 – 93.16% Range</a:t>
            </a:r>
          </a:p>
        </p:txBody>
      </p:sp>
      <p:sp>
        <p:nvSpPr>
          <p:cNvPr id="24" name="Shape 22"/>
          <p:cNvSpPr/>
          <p:nvPr/>
        </p:nvSpPr>
        <p:spPr>
          <a:xfrm>
            <a:off x="320040" y="4389120"/>
            <a:ext cx="8503920" cy="658368"/>
          </a:xfrm>
          <a:prstGeom prst="rect">
            <a:avLst/>
          </a:prstGeom>
          <a:solidFill>
            <a:srgbClr val="EAF6F4"/>
          </a:solidFill>
          <a:ln w="6350">
            <a:solidFill>
              <a:srgbClr val="1785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3484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✓ Gradual unfreeze is the best strategy — 93.16% accuracy. The phased schedule acts as built-in regularisation: each newly exposed block adapts before the next opens, protecting pretrained representations and preventing catastrophic forgetting.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Learning Rate Strategy &amp; Training Engine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6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5120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22960"/>
            <a:ext cx="512064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2296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Learning Rate Schedule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298448"/>
            <a:ext cx="1005840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316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Start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LR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591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1e-3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(LP/Phase 1)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17320" y="14630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63E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45920" y="1298448"/>
            <a:ext cx="1005840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45920" y="1316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Plateau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Detect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45920" y="1591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3 epochs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no improve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651760" y="14630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63EB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880360" y="1298448"/>
            <a:ext cx="1005840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80360" y="1316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LR × 0.1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80360" y="1591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reduce by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factor 10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886200" y="14630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63EB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14800" y="1298448"/>
            <a:ext cx="1005840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0" y="1316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Min LR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Floor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0" y="1591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1e-6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(stop decay)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0040" y="2103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</a:rPr>
              <a:t>Gradual Unfreeze Phase Scheduling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Phase 1:</a:t>
            </a:r>
            <a:r>
              <a:rPr lang="en-US" sz="1000" dirty="0">
                <a:solidFill>
                  <a:srgbClr val="0F172A"/>
                </a:solidFill>
              </a:rPr>
              <a:t>  Train head only — LR 1e-3, up to 20 epochs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272491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Phase 2+:</a:t>
            </a:r>
            <a:r>
              <a:rPr lang="en-US" sz="1000" dirty="0">
                <a:solidFill>
                  <a:srgbClr val="0F172A"/>
                </a:solidFill>
              </a:rPr>
              <a:t>  Unfreeze next block group — LR 1e-4, up to 20 epochs each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0040" y="3108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Early Stopping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8912" y="3456432"/>
            <a:ext cx="731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4015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Patience = 6 epochs (no val_loss improvement)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38912" y="3730752"/>
            <a:ext cx="731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6758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Delta threshold = 1e-4 (minimum meaningful gain)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8912" y="4005072"/>
            <a:ext cx="731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39502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Best checkpoint saved on every improvement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38912" y="4279392"/>
            <a:ext cx="731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Applied per training phase in gradual unfreeze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577840" y="822960"/>
            <a:ext cx="33375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577840" y="822960"/>
            <a:ext cx="33375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0" y="82296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TrainingEngine Features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577840" y="1298448"/>
            <a:ext cx="3337560" cy="8046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0" y="134416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</a:rPr>
              <a:t>⚡ Mixed Precision (AMP)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0" y="160934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torch.autocast + GradScaler for CUDA. Scheduler step skipped on overflow.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577840" y="2167128"/>
            <a:ext cx="33375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0" y="221284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</a:rPr>
              <a:t>📊 sklearn Macro Metrics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0" y="247802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Precision, Recall, F1 computed end-of-epoch over full prediction set.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577840" y="3035808"/>
            <a:ext cx="3337560" cy="8046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0" y="308152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</a:rPr>
              <a:t>🔀 Batch Augmentation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0" y="334670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CutMix / MixUp applied after DataLoader yields. Soft one-hot labels for mixed samples.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577840" y="3904488"/>
            <a:ext cx="33375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0" y="395020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</a:rPr>
              <a:t>⏱ tqdm Progress Bars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669280" y="421538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Live loss + acc tracking per batch. Separate colour per phase (green=train, blue=eval).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Augmentation Experiment Configurations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5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682752"/>
            <a:ext cx="274320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68275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99816" y="682752"/>
            <a:ext cx="210312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45536" y="6827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Spatial Augs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9512" y="682752"/>
            <a:ext cx="91440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85232" y="68275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Erasing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90488" y="682752"/>
            <a:ext cx="82296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68275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Jitter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50024" y="682752"/>
            <a:ext cx="155448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95744" y="68275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Batch Aug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085088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085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no_augs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099816" y="1085088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45536" y="108508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39512" y="10850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85232" y="108508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0488" y="1085088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6208" y="108508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050024" y="1085088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95744" y="108508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1423416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142341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basic_augs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099816" y="1423416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5536" y="14234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239512" y="1423416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85232" y="142341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90488" y="1423416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6208" y="142341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050024" y="1423416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95744" y="142341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0040" y="1761744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176174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erasing_only_low_prob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099816" y="1761744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45536" y="176174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239512" y="176174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85232" y="176174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p=0.2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90488" y="1761744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36208" y="176174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050024" y="1761744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95744" y="176174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2100072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21000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erasing_only_high_prob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99816" y="2100072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5536" y="21000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239512" y="2100072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85232" y="210007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p=0.5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190488" y="2100072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36208" y="21000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7050024" y="2100072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95744" y="21000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" y="2438400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24384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jitter_only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099816" y="2438400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145536" y="2438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239512" y="24384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85232" y="243840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90488" y="2438400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36208" y="24384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Color Jitter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050024" y="2438400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95744" y="24384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320040" y="2776728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5760" y="27767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mixup_only_low_alpha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099816" y="2776728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45536" y="27767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239512" y="2776728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285232" y="2776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190488" y="2776728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236208" y="277672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050024" y="2776728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95744" y="2776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α=0.2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320040" y="3115056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5760" y="311505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mixup_only_moderate_alpha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099816" y="3115056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145536" y="311505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239512" y="311505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285232" y="311505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6190488" y="3115056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36208" y="311505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7050024" y="3115056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095744" y="311505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α=0.4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320040" y="3453384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65760" y="345338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cutmix_only_low_alpha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3099816" y="3453384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145536" y="345338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5239512" y="3453384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5232" y="345338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6190488" y="3453384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236208" y="345338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7050024" y="3453384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095744" y="34533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α=0.5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320040" y="3791712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65760" y="37917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cutmix_only_moderate_alpha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3099816" y="3791712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145536" y="379171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5239512" y="3791712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285232" y="379171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6190488" y="3791712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236208" y="37917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7050024" y="3791712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095744" y="379171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α=1.0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320040" y="4130040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5760" y="41300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mixup_cutmix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3099816" y="4130040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145536" y="4130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5239512" y="4130040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285232" y="413004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6190488" y="4130040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236208" y="413004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7050024" y="4130040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095744" y="41300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Both α=0.4/1.0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320040" y="4468368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65760" y="446836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erasing_jitter_mixup_cutmix_low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3099816" y="4468368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145536" y="44683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119" name="Shape 117"/>
          <p:cNvSpPr/>
          <p:nvPr/>
        </p:nvSpPr>
        <p:spPr>
          <a:xfrm>
            <a:off x="5239512" y="446836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285232" y="446836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p=0.2</a:t>
            </a:r>
            <a:endParaRPr lang="en-US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4468368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36208" y="446836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0F172A"/>
                </a:solidFill>
              </a:rPr>
              <a:t>Color Jitter</a:t>
            </a:r>
            <a:endParaRPr lang="en-US" sz="950" dirty="0"/>
          </a:p>
        </p:txBody>
      </p:sp>
      <p:sp>
        <p:nvSpPr>
          <p:cNvPr id="123" name="Shape 121"/>
          <p:cNvSpPr/>
          <p:nvPr/>
        </p:nvSpPr>
        <p:spPr>
          <a:xfrm>
            <a:off x="7050024" y="4468368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095744" y="44683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p=0.2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320040" y="4806696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65760" y="480669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erasing_jitter_mixup_cutmix_high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3099816" y="4806696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145536" y="48066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5239512" y="4806696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285232" y="480669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p=0.5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6190488" y="4806696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236208" y="480669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0F172A"/>
                </a:solidFill>
              </a:rPr>
              <a:t>Color Jitter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7050024" y="4806696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095744" y="480669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 — Simultaneous Unfreeze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8 / 12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804672"/>
          <a:ext cx="603504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182880" y="3840480"/>
          <a:ext cx="6035040" cy="1051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6446520" y="804672"/>
            <a:ext cx="2468880" cy="4087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6446520" y="804672"/>
            <a:ext cx="246888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37960" y="80467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Key Stats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46520" y="1261872"/>
            <a:ext cx="24688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537960" y="126187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Accuracy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7635240" y="126187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92.97%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46520" y="1709928"/>
            <a:ext cx="2468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37960" y="1709928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Experiment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635240" y="170992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erasing_low_prob</a:t>
            </a:r>
            <a:endParaRPr lang="en-US" sz="1000" dirty="0"/>
          </a:p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(2 layers)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46520" y="2157984"/>
            <a:ext cx="24688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37960" y="2157984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Range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7635240" y="215798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92.07 – 92.97%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446520" y="2606040"/>
            <a:ext cx="2468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37960" y="2606040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vs Linear Probe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7635240" y="260604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+0.93 pp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446520" y="3054096"/>
            <a:ext cx="24688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537960" y="3054096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Avg (2 blocks)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635240" y="3054096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92.61%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446520" y="3502152"/>
            <a:ext cx="2468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537960" y="350215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Avg (4 blocks)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7635240" y="350215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92.40%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446520" y="3950208"/>
            <a:ext cx="24688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537960" y="3950208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Avg (6 blocks)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7635240" y="395020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92.38%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6446520" y="4398264"/>
            <a:ext cx="2468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37960" y="4398264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Sweet spot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7635240" y="439826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97706"/>
                </a:solidFill>
              </a:rPr>
              <a:t>L = 2 blocks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 — Gradual Unfreeze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9 / 12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804672"/>
          <a:ext cx="3931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182880" y="3200400"/>
          <a:ext cx="3931920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4343400" y="804672"/>
            <a:ext cx="4526280" cy="4087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343400" y="804672"/>
            <a:ext cx="452628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434840" y="804672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Key Stats &amp; Observations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43400" y="1261872"/>
            <a:ext cx="45262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34840" y="126187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Accuracy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263640" y="1261872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93.16%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43400" y="1709928"/>
            <a:ext cx="4526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170992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Config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263640" y="1709928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7C3AED"/>
                </a:solidFill>
              </a:rPr>
              <a:t>no_augs + 5 block groups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343400" y="2157984"/>
            <a:ext cx="45262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34840" y="215798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Runner-Up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263640" y="2157984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93.00% (erasing+jitter low)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343400" y="2606040"/>
            <a:ext cx="4526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434840" y="260604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Range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6263640" y="2606040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92.26 – 93.16%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343400" y="3054096"/>
            <a:ext cx="45262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434840" y="305409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vs Linear Probe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6263640" y="3054096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+1.96 pp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343400" y="3502152"/>
            <a:ext cx="4526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434840" y="350215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vs Sim Unfreeze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3502152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+0.19 pp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343400" y="3950208"/>
            <a:ext cx="45262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434840" y="39502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Sweet spot blocks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263640" y="3950208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97706"/>
                </a:solidFill>
              </a:rPr>
              <a:t>3 blocks (avg 92.53%)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343400" y="4398264"/>
            <a:ext cx="4526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434840" y="439826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Worst config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6263640" y="4398264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C2626"/>
                </a:solidFill>
              </a:rPr>
              <a:t>mixup_low_alpha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Augmentation Impact Analysis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11 / 12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424019786"/>
              </p:ext>
            </p:extLst>
          </p:nvPr>
        </p:nvGraphicFramePr>
        <p:xfrm>
          <a:off x="182880" y="804672"/>
          <a:ext cx="87782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182880" y="4114800"/>
            <a:ext cx="4297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274320" y="41148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</a:rPr>
              <a:t>LP is most sensitive to aug type — range of 0.84pp. Best: combined erasing+jitter+cutmix (high prob).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82880" y="4114800"/>
            <a:ext cx="6400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7720" y="4114800"/>
            <a:ext cx="4297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709160" y="41148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</a:rPr>
              <a:t>Sim Unfreeze benefits most from spatial augs (erasing, basic). Batch augs (MixUp alone) are less helpful.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617720" y="4114800"/>
            <a:ext cx="64008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2880" y="4617720"/>
            <a:ext cx="4297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274320" y="46177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</a:rPr>
              <a:t>Gradual Unfreeze is surprisingly robust — even no_augs hits 93.16%, the overall best result.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880" y="4617720"/>
            <a:ext cx="64008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17720" y="4617720"/>
            <a:ext cx="4297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709160" y="46177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</a:rPr>
              <a:t>MixUp alone tends to underperform across all methods. CutMix and combined strategies are more reliable.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17720" y="4617720"/>
            <a:ext cx="64008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pipeline &amp; key results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393192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22960"/>
            <a:ext cx="3931920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509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experiments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54864" cy="256032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44168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Spatial: RandomResizedCrop, HorizontalFlip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82496"/>
            <a:ext cx="54864" cy="256032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673352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Colour: ColorJitter (brightness/contrast/sat/hue)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54864" cy="256032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002536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Erasing: RandomErasing (patch occlusion)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340864"/>
            <a:ext cx="54864" cy="256032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233172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Batch: MixUp (α=0.4) and CutMix (α=1.0)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70048"/>
            <a:ext cx="54864" cy="256032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2660904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Early stopping patience=6 · ReduceLROnPlateau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34840" y="822960"/>
            <a:ext cx="438912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34840" y="822960"/>
            <a:ext cx="438912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95097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findings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0" y="1353312"/>
            <a:ext cx="54864" cy="256032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0016" y="1344168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LP most sensitive — 0.84pp range across aug configs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0" y="1682496"/>
            <a:ext cx="54864" cy="256032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0016" y="1673352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Sim Unfreeze benefits most from spatial+erasing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2011680"/>
            <a:ext cx="54864" cy="256032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0016" y="2002536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Gradual robust — even no_augs hits 93.16% (best overall)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0" y="2340864"/>
            <a:ext cx="54864" cy="256032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0016" y="233172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MixUp alone less helpful; combined with erasing is optimal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2670048"/>
            <a:ext cx="54864" cy="256032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2660904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Combined: erasing + jitter + CutMix = best for LP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3090672"/>
            <a:ext cx="1993392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090672"/>
            <a:ext cx="1993392" cy="64008"/>
          </a:xfrm>
          <a:prstGeom prst="rect">
            <a:avLst/>
          </a:prstGeom>
          <a:solidFill>
            <a:srgbClr val="8EA3B4"/>
          </a:solidFill>
          <a:ln w="12700">
            <a:solidFill>
              <a:srgbClr val="8EA3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" y="3227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92.04%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48056" y="3776472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Linear probe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accuracy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96312" y="3090672"/>
            <a:ext cx="1993392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3090672"/>
            <a:ext cx="1993392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24328" y="3227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92.97%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2624328" y="3776472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Sim unfreeze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accuracy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72584" y="3090672"/>
            <a:ext cx="1993392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672584" y="3090672"/>
            <a:ext cx="1993392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0600" y="3227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93.16%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4800600" y="3776472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Gradual unfreeze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accuracy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48856" y="3090672"/>
            <a:ext cx="1993392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848856" y="3090672"/>
            <a:ext cx="1993392" cy="64008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76872" y="3227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+0.84pp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6976872" y="3776472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 sensitivity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range (LP)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1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 &amp; Class Imbalance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85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Stratified subsets 10–100% · L2 regularisation · 20% cat undersampling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Limited Data Study — Setup &amp; Key Numbers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60350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</a:rPr>
              <a:t>Stratified subsets preserve class proportions at every fraction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863840" y="16459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FA3B1"/>
                </a:solidFill>
              </a:rPr>
              <a:t>2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8321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24128"/>
            <a:ext cx="1920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24128"/>
            <a:ext cx="1920240" cy="777240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0607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D6FA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~5,900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14813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Full train set (100%)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1024128"/>
            <a:ext cx="1920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1024128"/>
            <a:ext cx="1920240" cy="777240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0607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A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~1,472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60320" y="14813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50% subset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24128"/>
            <a:ext cx="1920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1024128"/>
            <a:ext cx="1920240" cy="777240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09160" y="10607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47D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~736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09160" y="14813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25% subset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58000" y="1024128"/>
            <a:ext cx="1920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0" y="1024128"/>
            <a:ext cx="1920240" cy="777240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0607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52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58000" y="14813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10% subset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11480" y="1938528"/>
            <a:ext cx="4114800" cy="2724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1938528"/>
            <a:ext cx="4114800" cy="2724912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20116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Experimental Design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1480" y="2377440"/>
            <a:ext cx="4114800" cy="36576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23774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Data fractions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965960" y="237744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100%, 50%, 25%, 10%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L2 regimes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965960" y="274320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wd_standard (1e-4), wd_strong (1e-2)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3108960"/>
            <a:ext cx="4114800" cy="36576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108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Methods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965960" y="310896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Linear Probe, Sim Unfreeze, Gradual (3 blocks)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34747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Aug experiments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965960" y="34747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4 selected per fraction (no_augs, basic, erasing_jitter_low/high)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1480" y="3840480"/>
            <a:ext cx="4114800" cy="36576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8404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Val / Test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965960" y="384048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Always full unmodified splits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42062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Stratification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965960" y="420624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StratifiedShuffleSplit on breed labels (37 classes)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1938528"/>
            <a:ext cx="3977640" cy="2724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1938528"/>
            <a:ext cx="3977640" cy="2724912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892040" y="201168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Key Drops (avg accuracy 100%→10%)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54880" y="2423160"/>
            <a:ext cx="397764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24688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6FA4"/>
                </a:solidFill>
              </a:rPr>
              <a:t>Linear Probe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92040" y="26974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91.61% → 87.50%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406640" y="266090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52A2A"/>
                </a:solidFill>
              </a:rPr>
              <a:t>−4.11 pp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754880" y="3081528"/>
            <a:ext cx="3977640" cy="594360"/>
          </a:xfrm>
          <a:prstGeom prst="rect">
            <a:avLst/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92040" y="3127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8A7B"/>
                </a:solidFill>
              </a:rPr>
              <a:t>Sim Unfreeze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892040" y="33558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92.46% → 85.64%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406640" y="3319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52A2A"/>
                </a:solidFill>
              </a:rPr>
              <a:t>−6.83 pp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754880" y="3739896"/>
            <a:ext cx="3977640" cy="594360"/>
          </a:xfrm>
          <a:prstGeom prst="rect">
            <a:avLst/>
          </a:prstGeom>
          <a:solidFill>
            <a:srgbClr val="D9C8F0"/>
          </a:solidFill>
          <a:ln w="12700">
            <a:solidFill>
              <a:srgbClr val="D9C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92040" y="3785616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D8E"/>
                </a:solidFill>
              </a:rPr>
              <a:t>Gradual (3 blk)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892040" y="401421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92.30% → 87.15%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406640" y="39776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52A2A"/>
                </a:solidFill>
              </a:rPr>
              <a:t>−5.15 pp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4892040" y="4224528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47D0E"/>
                </a:solidFill>
              </a:rPr>
              <a:t>⚡ Sim Unfreeze is most sensitive to data size (−6.83 pp)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Augmentation Benefit Across Data Fractions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60350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</a:rPr>
              <a:t>Does augmentation matter more when data is scarce?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863840" y="16459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FA3B1"/>
                </a:solidFill>
              </a:rPr>
              <a:t>4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8321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87552"/>
            <a:ext cx="8412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87552"/>
            <a:ext cx="8412480" cy="2834640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87552"/>
            <a:ext cx="914400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87552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Method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389888" y="987552"/>
            <a:ext cx="502920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89888" y="987552"/>
            <a:ext cx="502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Frac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911096" y="987552"/>
            <a:ext cx="822960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11096" y="98755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no_augs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52344" y="987552"/>
            <a:ext cx="822960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52344" y="98755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basic_augs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593592" y="987552"/>
            <a:ext cx="868680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93592" y="987552"/>
            <a:ext cx="86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Best aug acc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80560" y="987552"/>
            <a:ext cx="2331720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987552"/>
            <a:ext cx="2331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Best config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30568" y="987552"/>
            <a:ext cx="822960" cy="31089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30568" y="98755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Gain (no→best)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1316736"/>
            <a:ext cx="9144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316736"/>
            <a:ext cx="914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6FA4"/>
                </a:solidFill>
              </a:rPr>
              <a:t>Linear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389888" y="1316736"/>
            <a:ext cx="5029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89888" y="1316736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100%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11096" y="131673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11096" y="131673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91.20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52344" y="131673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52344" y="131673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91.61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93592" y="1316736"/>
            <a:ext cx="8686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93592" y="1316736"/>
            <a:ext cx="868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92.04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80560" y="1316736"/>
            <a:ext cx="23317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1316736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erasing+jitter+cutmix_high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830568" y="131673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30568" y="131673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47D0E"/>
                </a:solidFill>
              </a:rPr>
              <a:t>+0.84 pp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1636776"/>
            <a:ext cx="91440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1636776"/>
            <a:ext cx="914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6FA4"/>
                </a:solidFill>
              </a:rPr>
              <a:t>Linear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389888" y="1636776"/>
            <a:ext cx="50292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89888" y="1636776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50%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911096" y="163677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11096" y="163677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90.19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752344" y="163677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52344" y="163677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90.43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593592" y="1636776"/>
            <a:ext cx="86868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93592" y="1636776"/>
            <a:ext cx="868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91.47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80560" y="1636776"/>
            <a:ext cx="233172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80560" y="1636776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erasing+jitter+cutmix_low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830568" y="163677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30568" y="163677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4A"/>
                </a:solidFill>
              </a:rPr>
              <a:t>+1.28 pp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7200" y="1956816"/>
            <a:ext cx="9144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1956816"/>
            <a:ext cx="914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6FA4"/>
                </a:solidFill>
              </a:rPr>
              <a:t>Linear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89888" y="1956816"/>
            <a:ext cx="5029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89888" y="1956816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25%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911096" y="195681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11096" y="195681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88.66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752344" y="195681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52344" y="195681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89.53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593592" y="1956816"/>
            <a:ext cx="8686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593592" y="1956816"/>
            <a:ext cx="868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89.53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480560" y="1956816"/>
            <a:ext cx="23317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80560" y="1956816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basic_augs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6830568" y="195681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30568" y="195681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47D0E"/>
                </a:solidFill>
              </a:rPr>
              <a:t>+0.87 pp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57200" y="2276856"/>
            <a:ext cx="91440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7200" y="2276856"/>
            <a:ext cx="914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6FA4"/>
                </a:solidFill>
              </a:rPr>
              <a:t>Linear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1389888" y="2276856"/>
            <a:ext cx="50292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389888" y="2276856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10%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911096" y="227685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911096" y="227685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87.16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752344" y="227685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52344" y="227685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87.74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593592" y="2276856"/>
            <a:ext cx="86868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593592" y="2276856"/>
            <a:ext cx="868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88.44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480560" y="2276856"/>
            <a:ext cx="233172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480560" y="2276856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erasing+jitter+cutmix_high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6830568" y="227685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830568" y="227685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4A"/>
                </a:solidFill>
              </a:rPr>
              <a:t>+1.28 pp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457200" y="2596896"/>
            <a:ext cx="9144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57200" y="2596896"/>
            <a:ext cx="914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6FA4"/>
                </a:solidFill>
              </a:rPr>
              <a:t>Gradual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389888" y="2596896"/>
            <a:ext cx="5029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389888" y="2596896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100%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911096" y="259689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911096" y="259689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91.50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2752344" y="259689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752344" y="259689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92.26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593592" y="2596896"/>
            <a:ext cx="8686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593592" y="2596896"/>
            <a:ext cx="868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93.16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480560" y="2596896"/>
            <a:ext cx="23317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480560" y="2596896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no_augs (no aug wins!)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6830568" y="259689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30568" y="259689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4A"/>
                </a:solidFill>
              </a:rPr>
              <a:t>+1.66 pp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57200" y="2916936"/>
            <a:ext cx="91440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7200" y="2916936"/>
            <a:ext cx="914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6FA4"/>
                </a:solidFill>
              </a:rPr>
              <a:t>Gradual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1389888" y="2916936"/>
            <a:ext cx="50292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389888" y="2916936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50%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1911096" y="291693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11096" y="291693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91.85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2752344" y="291693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752344" y="291693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91.82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3593592" y="2916936"/>
            <a:ext cx="86868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593592" y="2916936"/>
            <a:ext cx="868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91.85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4480560" y="2916936"/>
            <a:ext cx="233172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480560" y="2916936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no_augs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830568" y="291693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830568" y="291693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5568"/>
                </a:solidFill>
              </a:rPr>
              <a:t>+0.00 pp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457200" y="3236976"/>
            <a:ext cx="9144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57200" y="3236976"/>
            <a:ext cx="914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6FA4"/>
                </a:solidFill>
              </a:rPr>
              <a:t>Gradual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1389888" y="3236976"/>
            <a:ext cx="5029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389888" y="3236976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25%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1911096" y="323697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911096" y="323697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90.65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2752344" y="323697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2752344" y="323697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90.65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3593592" y="3236976"/>
            <a:ext cx="86868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593592" y="3236976"/>
            <a:ext cx="868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90.65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4480560" y="3236976"/>
            <a:ext cx="23317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480560" y="3236976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no_augs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6830568" y="3236976"/>
            <a:ext cx="8229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830568" y="323697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5568"/>
                </a:solidFill>
              </a:rPr>
              <a:t>+0.00 pp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457200" y="3557016"/>
            <a:ext cx="91440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57200" y="3557016"/>
            <a:ext cx="914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6FA4"/>
                </a:solidFill>
              </a:rPr>
              <a:t>Gradual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1389888" y="3557016"/>
            <a:ext cx="50292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389888" y="3557016"/>
            <a:ext cx="5029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</a:rPr>
              <a:t>10%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1911096" y="355701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911096" y="355701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86.64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2752344" y="355701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752344" y="355701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86.45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3593592" y="3557016"/>
            <a:ext cx="86868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593592" y="3557016"/>
            <a:ext cx="868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</a:rPr>
              <a:t>87.54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4480560" y="3557016"/>
            <a:ext cx="233172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480560" y="3557016"/>
            <a:ext cx="2331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erasing+jitter+cutmix_low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6830568" y="3557016"/>
            <a:ext cx="822960" cy="3017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830568" y="3557016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47D0E"/>
                </a:solidFill>
              </a:rPr>
              <a:t>+0.90 pp</a:t>
            </a:r>
            <a:endParaRPr lang="en-US" sz="900" dirty="0"/>
          </a:p>
        </p:txBody>
      </p:sp>
      <p:sp>
        <p:nvSpPr>
          <p:cNvPr id="134" name="Shape 132"/>
          <p:cNvSpPr/>
          <p:nvPr/>
        </p:nvSpPr>
        <p:spPr>
          <a:xfrm>
            <a:off x="365760" y="3950208"/>
            <a:ext cx="2697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365760" y="3950208"/>
            <a:ext cx="2697480" cy="896112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6" name="Shape 134"/>
          <p:cNvSpPr/>
          <p:nvPr/>
        </p:nvSpPr>
        <p:spPr>
          <a:xfrm>
            <a:off x="365760" y="3950208"/>
            <a:ext cx="54864" cy="896112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93776" y="4005072"/>
            <a:ext cx="2487168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Linear Probe: augs consistently help (+0.84–1.28 pp). Benefit roughly stable across fractions.</a:t>
            </a:r>
            <a:endParaRPr lang="en-US" sz="900" dirty="0"/>
          </a:p>
        </p:txBody>
      </p:sp>
      <p:sp>
        <p:nvSpPr>
          <p:cNvPr id="138" name="Shape 136"/>
          <p:cNvSpPr/>
          <p:nvPr/>
        </p:nvSpPr>
        <p:spPr>
          <a:xfrm>
            <a:off x="3182112" y="3950208"/>
            <a:ext cx="2697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182112" y="3950208"/>
            <a:ext cx="2697480" cy="896112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40" name="Shape 138"/>
          <p:cNvSpPr/>
          <p:nvPr/>
        </p:nvSpPr>
        <p:spPr>
          <a:xfrm>
            <a:off x="3182112" y="3950208"/>
            <a:ext cx="54864" cy="896112"/>
          </a:xfrm>
          <a:prstGeom prst="rect">
            <a:avLst/>
          </a:prstGeom>
          <a:solidFill>
            <a:srgbClr val="5B2D8E"/>
          </a:solidFill>
          <a:ln w="12700">
            <a:solidFill>
              <a:srgbClr val="5B2D8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3310128" y="4005072"/>
            <a:ext cx="2487168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Gradual: no_augs wins at 100%–25% (pretrained features + phased unfreezing already regularises). Augs help only at 10%.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98464" y="3950208"/>
            <a:ext cx="26974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998464" y="3950208"/>
            <a:ext cx="2697480" cy="896112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44" name="Shape 142"/>
          <p:cNvSpPr/>
          <p:nvPr/>
        </p:nvSpPr>
        <p:spPr>
          <a:xfrm>
            <a:off x="5998464" y="3950208"/>
            <a:ext cx="54864" cy="896112"/>
          </a:xfrm>
          <a:prstGeom prst="rect">
            <a:avLst/>
          </a:prstGeom>
          <a:solidFill>
            <a:srgbClr val="C47D0E"/>
          </a:solidFill>
          <a:ln w="12700">
            <a:solidFill>
              <a:srgbClr val="C47D0E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6126480" y="4005072"/>
            <a:ext cx="2487168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Augmentation becomes critical for all methods only at 10% data, where the model is most at risk of overfitting.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L2 Regularisation: Standard (1e-4) vs Strong (1e-2)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60350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</a:rPr>
              <a:t>Does stronger weight decay help when training data is limited?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863840" y="16459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FA3B1"/>
                </a:solidFill>
              </a:rPr>
              <a:t>5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8321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365760" y="1005840"/>
          <a:ext cx="57607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100584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63640" y="1005840"/>
            <a:ext cx="2468880" cy="1188720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107899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7A4A"/>
                </a:solidFill>
              </a:rPr>
              <a:t>✓ Strong L2 helps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1371600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Linear @ 25%: +0.46 pp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Linear @ 50%: +0.44 pp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Sim @ 25%: +0.18 pp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Gradual @ 10%: +0.24 pp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263640" y="2304288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63640" y="2304288"/>
            <a:ext cx="2468880" cy="1188720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00800" y="237744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52A2A"/>
                </a:solidFill>
              </a:rPr>
              <a:t>✗ Strong L2 hurts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0" y="2670048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Gradual @ 25%: −0.77 pp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Gradual @ 50%: −0.42 pp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Sim @ 50%: −0.47 pp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Linear @ 10%: −0.33 pp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63640" y="3602736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63640" y="3602736"/>
            <a:ext cx="2468880" cy="1188720"/>
          </a:xfrm>
          <a:prstGeom prst="rect">
            <a:avLst/>
          </a:prstGeom>
          <a:ln w="9525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0800" y="367588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7D0E"/>
                </a:solidFill>
              </a:rPr>
              <a:t>⚡ Verdict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0" y="3968496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D1B2A"/>
                </a:solidFill>
              </a:rPr>
              <a:t>Benefits are small and inconsistent. Gradual Unfreeze already regularises through phased unfreezing — extra L2 is mostly redundant or harmful.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 study — accuracy vs training data fraction</a:t>
            </a:r>
            <a:endParaRPr lang="en-US" sz="21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20040" y="822960"/>
          <a:ext cx="50292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532120" y="822960"/>
            <a:ext cx="3246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5532120" y="822960"/>
            <a:ext cx="324612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0" y="9692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most robust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0" y="12710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at 10% (87.2%) and 25% (90.1%). Phased schedule acts as built-in regularisation.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532120" y="1828800"/>
            <a:ext cx="3246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532120" y="1828800"/>
            <a:ext cx="3246120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1975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steepest drop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0" y="22768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Highest at 100% (92.5%) but sharpest degradation to 10% — sensitive to data volume.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532120" y="2834640"/>
            <a:ext cx="3246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32120" y="2834640"/>
            <a:ext cx="3246120" cy="64008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0" y="29809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strong (1e-2) helps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669280" y="32826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LP +0.46pp at 25%, Gradual +0.24pp at 10%. Stronger regularisation beneficial when data scarce.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532120" y="3840480"/>
            <a:ext cx="3246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3840480"/>
            <a:ext cx="3246120" cy="64008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0" y="3986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value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669280" y="42885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Benefit is consistent but not amplified under low data — architecture choice matters more.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6304" y="24917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— 20% cat </a:t>
            </a:r>
            <a:r>
              <a:rPr lang="en-US" sz="24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undersampling</a:t>
            </a:r>
            <a:r>
              <a:rPr lang="en-US" sz="2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compensating strategies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47472" y="745236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4A0"/>
                </a:solidFill>
              </a:rPr>
              <a:t>Aug: basic_augs_rnd_erase_jitter only  ·  20% cat data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955280" y="914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4A0"/>
                </a:solidFill>
              </a:rPr>
              <a:t>9 / 13</a:t>
            </a:r>
            <a:endParaRPr lang="en-US" sz="9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868680"/>
          <a:ext cx="502920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Shape 3"/>
          <p:cNvSpPr/>
          <p:nvPr/>
        </p:nvSpPr>
        <p:spPr>
          <a:xfrm>
            <a:off x="5486400" y="868680"/>
            <a:ext cx="338328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0" y="868680"/>
            <a:ext cx="3383280" cy="34747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0" y="8686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Cat / Dog F1 Gap (aug only)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532120" y="126187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5166"/>
                </a:solidFill>
              </a:rPr>
              <a:t>Method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355080" y="1261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5166"/>
                </a:solidFill>
              </a:rPr>
              <a:t>Cat F1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040880" y="1261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5166"/>
                </a:solidFill>
              </a:rPr>
              <a:t>Dog F1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7726680" y="1261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5166"/>
                </a:solidFill>
              </a:rPr>
              <a:t>Gap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486400" y="1481328"/>
            <a:ext cx="3383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32120" y="1517904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Lin/Base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327648" y="151790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0.795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022592" y="151790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0.936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717536" y="151790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52A2A"/>
                </a:solidFill>
              </a:rPr>
              <a:t>0.141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486400" y="1819656"/>
            <a:ext cx="3383280" cy="338328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185623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Lin/WCE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327648" y="185623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0.799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7022592" y="185623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0.934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717536" y="185623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52A2A"/>
                </a:solidFill>
              </a:rPr>
              <a:t>0.134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486400" y="2157984"/>
            <a:ext cx="3383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32120" y="219456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Lin/OS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327648" y="219456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0.815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7022592" y="219456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0.938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7717536" y="219456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47D0E"/>
                </a:solidFill>
              </a:rPr>
              <a:t>0.123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486400" y="2496312"/>
            <a:ext cx="3383280" cy="338328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532120" y="253288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Sim/Base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327648" y="253288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0.832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022592" y="253288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0.939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717536" y="253288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47D0E"/>
                </a:solidFill>
              </a:rPr>
              <a:t>0.106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486400" y="2834640"/>
            <a:ext cx="3383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532120" y="2871216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Sim/WCE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327648" y="2871216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0.819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7022592" y="2871216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0.940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7717536" y="2871216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47D0E"/>
                </a:solidFill>
              </a:rPr>
              <a:t>0.121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486400" y="3172968"/>
            <a:ext cx="3383280" cy="338328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32120" y="3209544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Sim/OS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7648" y="320954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0.842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022592" y="320954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0.930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7717536" y="320954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7A4A"/>
                </a:solidFill>
              </a:rPr>
              <a:t>0.088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3511296"/>
            <a:ext cx="3383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532120" y="354787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Grad/Base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6327648" y="354787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0.828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022592" y="354787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0.936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7717536" y="354787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47D0E"/>
                </a:solidFill>
              </a:rPr>
              <a:t>0.109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486400" y="3849624"/>
            <a:ext cx="3383280" cy="338328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532120" y="388620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Grad/WCE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6327648" y="388620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0.822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7022592" y="388620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0.931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7717536" y="388620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47D0E"/>
                </a:solidFill>
              </a:rPr>
              <a:t>0.109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5486400" y="4187952"/>
            <a:ext cx="3383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532120" y="422452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Grad/OS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6327648" y="422452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6FA4"/>
                </a:solidFill>
              </a:rPr>
              <a:t>0.837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7022592" y="422452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E8A7B"/>
                </a:solidFill>
              </a:rPr>
              <a:t>0.938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7717536" y="422452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47D0E"/>
                </a:solidFill>
              </a:rPr>
              <a:t>0.101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365760" y="4901184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2044"/>
                </a:solidFill>
              </a:rPr>
              <a:t>★  Best overall accuracy: Gradual+Oversampling (90.68%)   ★  Smallest cat-dog gap: Sim+Oversampling (0.088)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 of Augmentation on Imbalanced Training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4A0"/>
                </a:solidFill>
              </a:rPr>
              <a:t>no_augs vs basic_augs_rnd_erase_jitter  ·  All strategies  ·  20% cat data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955280" y="914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4A0"/>
                </a:solidFill>
              </a:rPr>
              <a:t>8 / 13</a:t>
            </a:r>
            <a:endParaRPr lang="en-US" sz="9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868680"/>
          <a:ext cx="548640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Shape 3"/>
          <p:cNvSpPr/>
          <p:nvPr/>
        </p:nvSpPr>
        <p:spPr>
          <a:xfrm>
            <a:off x="5989320" y="868680"/>
            <a:ext cx="288036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89320" y="868680"/>
            <a:ext cx="2880360" cy="34747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89320" y="868680"/>
            <a:ext cx="2880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Aug Δ (aug − no_aug)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080760" y="126187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5166"/>
                </a:solidFill>
              </a:rPr>
              <a:t>Method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903720" y="1261872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5166"/>
                </a:solidFill>
              </a:rPr>
              <a:t>No Aug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635240" y="1261872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5166"/>
                </a:solidFill>
              </a:rPr>
              <a:t>+ Aug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89320" y="1481328"/>
            <a:ext cx="2880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1517904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Lin/Base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931152" y="151790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88.9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607808" y="151790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89.2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284464" y="1517904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4A0"/>
                </a:solidFill>
              </a:rPr>
              <a:t>+0.28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89320" y="1819656"/>
            <a:ext cx="2880360" cy="338328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035040" y="18562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Lin/WCE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931152" y="185623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88.4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7607808" y="185623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89.2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8284464" y="1856232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7A4A"/>
                </a:solidFill>
              </a:rPr>
              <a:t>+0.74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989320" y="2157984"/>
            <a:ext cx="2880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35040" y="219456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Lin/OS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931152" y="219456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90.2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607808" y="219456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89.9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284464" y="2194560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52A2A"/>
                </a:solidFill>
              </a:rPr>
              <a:t>-0.32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989320" y="2496312"/>
            <a:ext cx="2880360" cy="338328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35040" y="2532888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Sim/Base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931152" y="253288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88.6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7607808" y="253288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90.6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8284464" y="2532888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7A4A"/>
                </a:solidFill>
              </a:rPr>
              <a:t>+1.94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989320" y="2834640"/>
            <a:ext cx="2880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035040" y="287121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Sim/WCE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931152" y="2871216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89.6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7607808" y="2871216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90.2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8284464" y="2871216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7A4A"/>
                </a:solidFill>
              </a:rPr>
              <a:t>+0.55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5989320" y="3172968"/>
            <a:ext cx="2880360" cy="338328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035040" y="3209544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Sim/OS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931152" y="320954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89.3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7607808" y="320954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90.3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284464" y="3209544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7A4A"/>
                </a:solidFill>
              </a:rPr>
              <a:t>+1.04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5989320" y="3511296"/>
            <a:ext cx="2880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035040" y="354787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Grad/Base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6931152" y="354787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91.1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7607808" y="354787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90.3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8284464" y="3547872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52A2A"/>
                </a:solidFill>
              </a:rPr>
              <a:t>-0.79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989320" y="3849624"/>
            <a:ext cx="2880360" cy="338328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035040" y="388620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Grad/WCE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6931152" y="388620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89.5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7607808" y="388620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89.6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8284464" y="3886200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4A0"/>
                </a:solidFill>
              </a:rPr>
              <a:t>+0.13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989320" y="4187952"/>
            <a:ext cx="2880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035040" y="4224528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2A"/>
                </a:solidFill>
              </a:rPr>
              <a:t>Grad/OS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6931152" y="422452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4A0"/>
                </a:solidFill>
              </a:rPr>
              <a:t>90.3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7607808" y="4224528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1B2A"/>
                </a:solidFill>
              </a:rPr>
              <a:t>90.7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284464" y="4224528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84A0"/>
                </a:solidFill>
              </a:rPr>
              <a:t>+0.38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320040" y="4992624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D5166"/>
                </a:solidFill>
              </a:rPr>
              <a:t>Key finding: Augmentation most benefits Sim Unfreeze (up to +1.94pp for baseline) and has mixed effects on Gradual (−0.79pp for baseline, which already regularises via phased unfreezing). Linear Probe sees modest gains.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 Cat Breed F1: Sim Unfreeze (aug only)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4A0"/>
                </a:solidFill>
              </a:rPr>
              <a:t>Aug: basic_augs_rnd_erase_jitter  ·  Baseline 90.57%  WCE 90.19%  Oversampling 90.30%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955280" y="914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4A0"/>
                </a:solidFill>
              </a:rPr>
              <a:t>11 / 13</a:t>
            </a:r>
            <a:endParaRPr lang="en-US" sz="9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28600" y="804672"/>
          <a:ext cx="85953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4992624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D5166"/>
                </a:solidFill>
              </a:rPr>
              <a:t>Ragdoll and Bengal remain lowest across all strategies. Oversampling helps Bengal (+0.024) most. WCE helps Siamese (+0.038) and Birman (+0.044) but hurts Bengal (−0.101).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1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vs ResNet Fine-tuning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85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ViT-B/16 vs ResNet-RS152 · same augmentation · accuracy, efficiency, LR sensitivity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ViT-B/16 vs ResNet-RS152 — accuracy, efficiency, LR schedule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1965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22960"/>
            <a:ext cx="196596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8056" y="96012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92.59%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48056" y="1508760"/>
            <a:ext cx="1709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ViT-B/16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822960"/>
            <a:ext cx="1965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423160" y="822960"/>
            <a:ext cx="1965960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96012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90.46%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551176" y="1508760"/>
            <a:ext cx="1709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ResNet-RS152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26280" y="822960"/>
            <a:ext cx="1965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822960"/>
            <a:ext cx="1965960" cy="64008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4296" y="96012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+2.13pt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654296" y="1508760"/>
            <a:ext cx="1709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ViT advantage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(consistent across F1/P/R)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29400" y="822960"/>
            <a:ext cx="210312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29400" y="822960"/>
            <a:ext cx="2103120" cy="64008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57416" y="96012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757416" y="1508760"/>
            <a:ext cx="18470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ResNet faster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(41.8 vs 49.4 min)</a:t>
            </a:r>
            <a:endParaRPr lang="en-US" sz="1000" dirty="0"/>
          </a:p>
        </p:txBody>
      </p:sp>
      <p:graphicFrame>
        <p:nvGraphicFramePr>
          <p:cNvPr id="19" name="Chart 0"/>
          <p:cNvGraphicFramePr/>
          <p:nvPr>
            <p:extLst>
              <p:ext uri="{D42A27DB-BD31-4B8C-83A1-F6EECF244321}">
                <p14:modId xmlns:p14="http://schemas.microsoft.com/office/powerpoint/2010/main" val="2293604999"/>
              </p:ext>
            </p:extLst>
          </p:nvPr>
        </p:nvGraphicFramePr>
        <p:xfrm>
          <a:off x="320040" y="2240280"/>
          <a:ext cx="411480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Shape 17"/>
          <p:cNvSpPr/>
          <p:nvPr/>
        </p:nvSpPr>
        <p:spPr>
          <a:xfrm>
            <a:off x="4663440" y="2240280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663440" y="2240280"/>
            <a:ext cx="411480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00600" y="232257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— 4-phase schedule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800600" y="25786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0: head (LR 1e-3) → Phases 1–3: one block group each (LR 1e-4 decaying). Requires structured unfreezing with LR decay.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663440" y="2898648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63440" y="2898648"/>
            <a:ext cx="4114800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800600" y="298094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 — 2 phases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800600" y="32369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Converges faster with simpler schedule. Less sensitive to LR choice — more forgiving architecture.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663440" y="3557016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663440" y="3557016"/>
            <a:ext cx="4114800" cy="64008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800600" y="363931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global attention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800600" y="389534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Captures inter-patch breed patterns ResNet misses. Global receptive field from layer 1 — key advantage for fine-grained classification.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663440" y="4215384"/>
            <a:ext cx="4114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663440" y="4215384"/>
            <a:ext cx="4114800" cy="64008"/>
          </a:xfrm>
          <a:prstGeom prst="rect">
            <a:avLst/>
          </a:prstGeom>
          <a:solidFill>
            <a:srgbClr val="1B3A4B"/>
          </a:solidFill>
          <a:ln w="12700">
            <a:solidFill>
              <a:srgbClr val="1B3A4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800600" y="42976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800600" y="4553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Choose ViT when accuracy is paramount. Choose ResNet-RS when compute is bottlenecked and 90%+ suffices.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1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Distillation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85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ViT-Base (86M) → ViT-Tiny (5.7M) · 15× compression · four-loss training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39"/>
            <a:ext cx="2743200" cy="3598815"/>
          </a:xfrm>
          <a:prstGeom prst="rect">
            <a:avLst/>
          </a:prstGeom>
          <a:solidFill>
            <a:srgbClr val="E8F4F8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ViT-Base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1058091" cy="384048"/>
          </a:xfrm>
          <a:prstGeom prst="rect">
            <a:avLst/>
          </a:prstGeom>
          <a:solidFill>
            <a:srgbClr val="D6EA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00200"/>
            <a:ext cx="10580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Blocks 0–4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103120"/>
            <a:ext cx="1058091" cy="384048"/>
          </a:xfrm>
          <a:prstGeom prst="rect">
            <a:avLst/>
          </a:prstGeom>
          <a:solidFill>
            <a:srgbClr val="1C7293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103120"/>
            <a:ext cx="10580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Block 5  ◀ hook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606040"/>
            <a:ext cx="1058091" cy="384048"/>
          </a:xfrm>
          <a:prstGeom prst="rect">
            <a:avLst/>
          </a:prstGeom>
          <a:solidFill>
            <a:srgbClr val="D6EA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606040"/>
            <a:ext cx="10580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Blocks 6–11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154680"/>
            <a:ext cx="1058091" cy="320040"/>
          </a:xfrm>
          <a:prstGeom prst="rect">
            <a:avLst/>
          </a:prstGeom>
          <a:solidFill>
            <a:srgbClr val="D6EA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154680"/>
            <a:ext cx="105809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Norm + Head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881051" y="2109651"/>
            <a:ext cx="1058091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81050" y="2109651"/>
            <a:ext cx="10580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JL Projector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768 → 256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1005839"/>
            <a:ext cx="2788920" cy="3598813"/>
          </a:xfrm>
          <a:prstGeom prst="rect">
            <a:avLst/>
          </a:prstGeom>
          <a:solidFill>
            <a:srgbClr val="EBF8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005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ViT-Tiny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50330" y="1600200"/>
            <a:ext cx="953589" cy="384048"/>
          </a:xfrm>
          <a:prstGeom prst="rect">
            <a:avLst/>
          </a:prstGeom>
          <a:solidFill>
            <a:srgbClr val="C8EFE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0330" y="1600200"/>
            <a:ext cx="95358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Blocks 0–4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50330" y="2103120"/>
            <a:ext cx="953590" cy="384048"/>
          </a:xfrm>
          <a:prstGeom prst="rect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50330" y="2103120"/>
            <a:ext cx="95358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Block 5  ◀ hook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50330" y="2606040"/>
            <a:ext cx="953589" cy="384048"/>
          </a:xfrm>
          <a:prstGeom prst="rect">
            <a:avLst/>
          </a:prstGeom>
          <a:solidFill>
            <a:srgbClr val="C8EFE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50330" y="2606040"/>
            <a:ext cx="95358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Blocks 6–11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50330" y="3154680"/>
            <a:ext cx="953590" cy="320040"/>
          </a:xfrm>
          <a:prstGeom prst="rect">
            <a:avLst/>
          </a:prstGeom>
          <a:solidFill>
            <a:srgbClr val="C8EFE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50330" y="3154680"/>
            <a:ext cx="95358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Norm + Head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70170" y="2116836"/>
            <a:ext cx="953590" cy="3840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0170" y="2116836"/>
            <a:ext cx="95358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Projector (trainable)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192 → 256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2701" y="1245641"/>
            <a:ext cx="1838597" cy="658368"/>
          </a:xfrm>
          <a:prstGeom prst="rect">
            <a:avLst/>
          </a:prstGeom>
          <a:solidFill>
            <a:srgbClr val="B45309">
              <a:alpha val="15000"/>
            </a:srgbClr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72292" y="1285483"/>
            <a:ext cx="183859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Space  256-dim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2701" y="1565681"/>
            <a:ext cx="183859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4530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cosine similarity loss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005271" y="1565681"/>
            <a:ext cx="627839" cy="758201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30480" y="1565681"/>
            <a:ext cx="596000" cy="758201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1262" y="2007859"/>
            <a:ext cx="2037806" cy="502920"/>
          </a:xfrm>
          <a:prstGeom prst="rect">
            <a:avLst/>
          </a:prstGeom>
          <a:solidFill>
            <a:srgbClr val="FFF9EC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72292" y="1992836"/>
            <a:ext cx="184059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Feat loss gated off until block 5 is unfrozen — prevents projector learning stale representations</a:t>
            </a:r>
            <a:endParaRPr lang="en-US" sz="900" dirty="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107434D6-AB06-0FB1-6BC3-913592D3B10E}"/>
              </a:ext>
            </a:extLst>
          </p:cNvPr>
          <p:cNvSpPr/>
          <p:nvPr/>
        </p:nvSpPr>
        <p:spPr>
          <a:xfrm>
            <a:off x="1701163" y="2304288"/>
            <a:ext cx="88449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36" name="Shape 30">
            <a:extLst>
              <a:ext uri="{FF2B5EF4-FFF2-40B4-BE49-F238E27FC236}">
                <a16:creationId xmlns:a16="http://schemas.microsoft.com/office/drawing/2014/main" id="{7B0A7EBF-60F7-9971-7F56-EC1A84C2C0A4}"/>
              </a:ext>
            </a:extLst>
          </p:cNvPr>
          <p:cNvSpPr/>
          <p:nvPr/>
        </p:nvSpPr>
        <p:spPr>
          <a:xfrm>
            <a:off x="7291251" y="2305159"/>
            <a:ext cx="16764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8B6402B4-62D3-A938-9845-808524E7845A}"/>
              </a:ext>
            </a:extLst>
          </p:cNvPr>
          <p:cNvSpPr/>
          <p:nvPr/>
        </p:nvSpPr>
        <p:spPr>
          <a:xfrm>
            <a:off x="594360" y="3665429"/>
            <a:ext cx="1058091" cy="320040"/>
          </a:xfrm>
          <a:prstGeom prst="rect">
            <a:avLst/>
          </a:prstGeom>
          <a:solidFill>
            <a:srgbClr val="D6EA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D79088F5-56F2-6A09-0F4A-5DD091CE2CF0}"/>
              </a:ext>
            </a:extLst>
          </p:cNvPr>
          <p:cNvSpPr/>
          <p:nvPr/>
        </p:nvSpPr>
        <p:spPr>
          <a:xfrm>
            <a:off x="594360" y="3665429"/>
            <a:ext cx="105809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Logits</a:t>
            </a:r>
            <a:endParaRPr lang="en-US" sz="1000" dirty="0"/>
          </a:p>
        </p:txBody>
      </p:sp>
      <p:sp>
        <p:nvSpPr>
          <p:cNvPr id="39" name="Shape 22">
            <a:extLst>
              <a:ext uri="{FF2B5EF4-FFF2-40B4-BE49-F238E27FC236}">
                <a16:creationId xmlns:a16="http://schemas.microsoft.com/office/drawing/2014/main" id="{00D3C3F9-004B-3584-F1B6-C39AA6B5B2F0}"/>
              </a:ext>
            </a:extLst>
          </p:cNvPr>
          <p:cNvSpPr/>
          <p:nvPr/>
        </p:nvSpPr>
        <p:spPr>
          <a:xfrm>
            <a:off x="7550331" y="3672840"/>
            <a:ext cx="953590" cy="320040"/>
          </a:xfrm>
          <a:prstGeom prst="rect">
            <a:avLst/>
          </a:prstGeom>
          <a:solidFill>
            <a:srgbClr val="C8EFE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23">
            <a:extLst>
              <a:ext uri="{FF2B5EF4-FFF2-40B4-BE49-F238E27FC236}">
                <a16:creationId xmlns:a16="http://schemas.microsoft.com/office/drawing/2014/main" id="{5DD3F345-CEED-9F84-9885-06469733BF2F}"/>
              </a:ext>
            </a:extLst>
          </p:cNvPr>
          <p:cNvSpPr/>
          <p:nvPr/>
        </p:nvSpPr>
        <p:spPr>
          <a:xfrm>
            <a:off x="7550331" y="3672840"/>
            <a:ext cx="95358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Logits</a:t>
            </a:r>
            <a:endParaRPr lang="en-US" sz="1000" dirty="0"/>
          </a:p>
        </p:txBody>
      </p:sp>
      <p:sp>
        <p:nvSpPr>
          <p:cNvPr id="41" name="Shape 10">
            <a:extLst>
              <a:ext uri="{FF2B5EF4-FFF2-40B4-BE49-F238E27FC236}">
                <a16:creationId xmlns:a16="http://schemas.microsoft.com/office/drawing/2014/main" id="{0F63692E-BD36-35B6-2ABC-63D177BCE1CE}"/>
              </a:ext>
            </a:extLst>
          </p:cNvPr>
          <p:cNvSpPr/>
          <p:nvPr/>
        </p:nvSpPr>
        <p:spPr>
          <a:xfrm>
            <a:off x="594360" y="4155075"/>
            <a:ext cx="1058091" cy="320040"/>
          </a:xfrm>
          <a:prstGeom prst="rect">
            <a:avLst/>
          </a:prstGeom>
          <a:solidFill>
            <a:srgbClr val="D6EA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90F4757C-C83F-FB42-1D9B-3074E9039DDB}"/>
              </a:ext>
            </a:extLst>
          </p:cNvPr>
          <p:cNvSpPr/>
          <p:nvPr/>
        </p:nvSpPr>
        <p:spPr>
          <a:xfrm>
            <a:off x="594360" y="4155075"/>
            <a:ext cx="105809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Out Probabilities</a:t>
            </a:r>
            <a:endParaRPr lang="en-US" sz="1000" dirty="0"/>
          </a:p>
        </p:txBody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52998833-4A7C-C08C-19FE-42441730450E}"/>
              </a:ext>
            </a:extLst>
          </p:cNvPr>
          <p:cNvSpPr/>
          <p:nvPr/>
        </p:nvSpPr>
        <p:spPr>
          <a:xfrm>
            <a:off x="7517675" y="4163781"/>
            <a:ext cx="1058091" cy="320040"/>
          </a:xfrm>
          <a:prstGeom prst="rect">
            <a:avLst/>
          </a:prstGeom>
          <a:solidFill>
            <a:srgbClr val="D6EAF2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19FE1523-268F-D0B3-993A-0BB890649763}"/>
              </a:ext>
            </a:extLst>
          </p:cNvPr>
          <p:cNvSpPr/>
          <p:nvPr/>
        </p:nvSpPr>
        <p:spPr>
          <a:xfrm>
            <a:off x="7517675" y="4163781"/>
            <a:ext cx="1058091" cy="320040"/>
          </a:xfrm>
          <a:prstGeom prst="rect">
            <a:avLst/>
          </a:prstGeom>
          <a:solidFill>
            <a:srgbClr val="C8EFE4"/>
          </a:solidFill>
          <a:ln w="6350">
            <a:solidFill>
              <a:srgbClr val="CBD5E1"/>
            </a:solidFill>
            <a:prstDash val="solid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Out Probabilities</a:t>
            </a:r>
            <a:endParaRPr lang="en-US" sz="1000" dirty="0"/>
          </a:p>
        </p:txBody>
      </p:sp>
      <p:sp>
        <p:nvSpPr>
          <p:cNvPr id="45" name="Shape 29">
            <a:extLst>
              <a:ext uri="{FF2B5EF4-FFF2-40B4-BE49-F238E27FC236}">
                <a16:creationId xmlns:a16="http://schemas.microsoft.com/office/drawing/2014/main" id="{9C6B8378-58EA-FCDE-AFBD-65C03BAD6681}"/>
              </a:ext>
            </a:extLst>
          </p:cNvPr>
          <p:cNvSpPr/>
          <p:nvPr/>
        </p:nvSpPr>
        <p:spPr>
          <a:xfrm flipV="1">
            <a:off x="1701163" y="3154680"/>
            <a:ext cx="2367914" cy="69320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46" name="Shape 30">
            <a:extLst>
              <a:ext uri="{FF2B5EF4-FFF2-40B4-BE49-F238E27FC236}">
                <a16:creationId xmlns:a16="http://schemas.microsoft.com/office/drawing/2014/main" id="{9D10E615-059E-4713-9EAE-DEC52E764096}"/>
              </a:ext>
            </a:extLst>
          </p:cNvPr>
          <p:cNvSpPr/>
          <p:nvPr/>
        </p:nvSpPr>
        <p:spPr>
          <a:xfrm>
            <a:off x="5084446" y="3154680"/>
            <a:ext cx="2367914" cy="693202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7" name="Shape 26">
            <a:extLst>
              <a:ext uri="{FF2B5EF4-FFF2-40B4-BE49-F238E27FC236}">
                <a16:creationId xmlns:a16="http://schemas.microsoft.com/office/drawing/2014/main" id="{42FC0B66-B800-8CC9-3E89-105536A2BE70}"/>
              </a:ext>
            </a:extLst>
          </p:cNvPr>
          <p:cNvSpPr/>
          <p:nvPr/>
        </p:nvSpPr>
        <p:spPr>
          <a:xfrm>
            <a:off x="4092754" y="2989201"/>
            <a:ext cx="960123" cy="330041"/>
          </a:xfrm>
          <a:prstGeom prst="rect">
            <a:avLst/>
          </a:prstGeom>
          <a:solidFill>
            <a:srgbClr val="B45309">
              <a:alpha val="15000"/>
            </a:srgbClr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48" name="Text 27">
            <a:extLst>
              <a:ext uri="{FF2B5EF4-FFF2-40B4-BE49-F238E27FC236}">
                <a16:creationId xmlns:a16="http://schemas.microsoft.com/office/drawing/2014/main" id="{9434037A-331C-18F9-B99F-E400644A3278}"/>
              </a:ext>
            </a:extLst>
          </p:cNvPr>
          <p:cNvSpPr/>
          <p:nvPr/>
        </p:nvSpPr>
        <p:spPr>
          <a:xfrm>
            <a:off x="3847825" y="3035235"/>
            <a:ext cx="1546318" cy="243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Loss</a:t>
            </a:r>
            <a:endParaRPr lang="en-US" sz="1100" dirty="0"/>
          </a:p>
        </p:txBody>
      </p:sp>
      <p:sp>
        <p:nvSpPr>
          <p:cNvPr id="50" name="Shape 29">
            <a:extLst>
              <a:ext uri="{FF2B5EF4-FFF2-40B4-BE49-F238E27FC236}">
                <a16:creationId xmlns:a16="http://schemas.microsoft.com/office/drawing/2014/main" id="{68921769-2ABA-A47F-1E10-4B17A769FDA4}"/>
              </a:ext>
            </a:extLst>
          </p:cNvPr>
          <p:cNvSpPr/>
          <p:nvPr/>
        </p:nvSpPr>
        <p:spPr>
          <a:xfrm flipV="1">
            <a:off x="1701162" y="3614591"/>
            <a:ext cx="2358393" cy="596417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51" name="Shape 30">
            <a:extLst>
              <a:ext uri="{FF2B5EF4-FFF2-40B4-BE49-F238E27FC236}">
                <a16:creationId xmlns:a16="http://schemas.microsoft.com/office/drawing/2014/main" id="{623A1BC7-2974-59BA-D0D4-8E4D48AC4D2F}"/>
              </a:ext>
            </a:extLst>
          </p:cNvPr>
          <p:cNvSpPr/>
          <p:nvPr/>
        </p:nvSpPr>
        <p:spPr>
          <a:xfrm>
            <a:off x="5093967" y="3621777"/>
            <a:ext cx="2389961" cy="589232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52" name="Shape 26">
            <a:extLst>
              <a:ext uri="{FF2B5EF4-FFF2-40B4-BE49-F238E27FC236}">
                <a16:creationId xmlns:a16="http://schemas.microsoft.com/office/drawing/2014/main" id="{5D87B15F-5D8C-A6E9-AECC-3530575EBBF3}"/>
              </a:ext>
            </a:extLst>
          </p:cNvPr>
          <p:cNvSpPr/>
          <p:nvPr/>
        </p:nvSpPr>
        <p:spPr>
          <a:xfrm>
            <a:off x="4092754" y="3482322"/>
            <a:ext cx="960123" cy="330041"/>
          </a:xfrm>
          <a:prstGeom prst="rect">
            <a:avLst/>
          </a:prstGeom>
          <a:solidFill>
            <a:srgbClr val="B45309">
              <a:alpha val="15000"/>
            </a:srgbClr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D7C3C60E-F883-E18C-5C4F-69051E6C9B71}"/>
              </a:ext>
            </a:extLst>
          </p:cNvPr>
          <p:cNvSpPr/>
          <p:nvPr/>
        </p:nvSpPr>
        <p:spPr>
          <a:xfrm>
            <a:off x="3799656" y="3517808"/>
            <a:ext cx="1546318" cy="243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 Div Loss</a:t>
            </a:r>
            <a:br>
              <a:rPr lang="en-US" sz="7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7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(KL(teacher, student))</a:t>
            </a:r>
            <a:endParaRPr lang="en-US" sz="700" dirty="0"/>
          </a:p>
        </p:txBody>
      </p:sp>
      <p:sp>
        <p:nvSpPr>
          <p:cNvPr id="54" name="Shape 29">
            <a:extLst>
              <a:ext uri="{FF2B5EF4-FFF2-40B4-BE49-F238E27FC236}">
                <a16:creationId xmlns:a16="http://schemas.microsoft.com/office/drawing/2014/main" id="{9CB12002-DC11-438E-749D-B32538E5FE02}"/>
              </a:ext>
            </a:extLst>
          </p:cNvPr>
          <p:cNvSpPr/>
          <p:nvPr/>
        </p:nvSpPr>
        <p:spPr>
          <a:xfrm flipV="1">
            <a:off x="1700347" y="4384109"/>
            <a:ext cx="2348874" cy="3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55" name="Shape 30">
            <a:extLst>
              <a:ext uri="{FF2B5EF4-FFF2-40B4-BE49-F238E27FC236}">
                <a16:creationId xmlns:a16="http://schemas.microsoft.com/office/drawing/2014/main" id="{F085F6F4-B360-F881-5620-CDAE2F715D2F}"/>
              </a:ext>
            </a:extLst>
          </p:cNvPr>
          <p:cNvSpPr/>
          <p:nvPr/>
        </p:nvSpPr>
        <p:spPr>
          <a:xfrm>
            <a:off x="5093967" y="4375599"/>
            <a:ext cx="2389145" cy="8516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A01D6BCD-B6D3-7333-45E4-AF7F9355425A}"/>
              </a:ext>
            </a:extLst>
          </p:cNvPr>
          <p:cNvSpPr/>
          <p:nvPr/>
        </p:nvSpPr>
        <p:spPr>
          <a:xfrm>
            <a:off x="4091124" y="4106190"/>
            <a:ext cx="960123" cy="330041"/>
          </a:xfrm>
          <a:prstGeom prst="rect">
            <a:avLst/>
          </a:prstGeom>
          <a:solidFill>
            <a:srgbClr val="B45309">
              <a:alpha val="15000"/>
            </a:srgbClr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79E58DCA-5CC9-C705-136C-D9E612E00DF9}"/>
              </a:ext>
            </a:extLst>
          </p:cNvPr>
          <p:cNvSpPr/>
          <p:nvPr/>
        </p:nvSpPr>
        <p:spPr>
          <a:xfrm>
            <a:off x="3798026" y="4141676"/>
            <a:ext cx="1546318" cy="243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loss</a:t>
            </a:r>
            <a:br>
              <a:rPr lang="en-US" sz="7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7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(CE(student, teacher))</a:t>
            </a:r>
            <a:endParaRPr lang="en-US" sz="400" dirty="0"/>
          </a:p>
        </p:txBody>
      </p:sp>
      <p:sp>
        <p:nvSpPr>
          <p:cNvPr id="58" name="Shape 26">
            <a:extLst>
              <a:ext uri="{FF2B5EF4-FFF2-40B4-BE49-F238E27FC236}">
                <a16:creationId xmlns:a16="http://schemas.microsoft.com/office/drawing/2014/main" id="{F7F0524D-2714-8F49-CA3B-CF77D5E0A0B7}"/>
              </a:ext>
            </a:extLst>
          </p:cNvPr>
          <p:cNvSpPr/>
          <p:nvPr/>
        </p:nvSpPr>
        <p:spPr>
          <a:xfrm>
            <a:off x="7615643" y="4741708"/>
            <a:ext cx="960123" cy="330041"/>
          </a:xfrm>
          <a:prstGeom prst="rect">
            <a:avLst/>
          </a:prstGeom>
          <a:solidFill>
            <a:srgbClr val="B45309">
              <a:alpha val="15000"/>
            </a:srgbClr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9" name="Text 27">
            <a:extLst>
              <a:ext uri="{FF2B5EF4-FFF2-40B4-BE49-F238E27FC236}">
                <a16:creationId xmlns:a16="http://schemas.microsoft.com/office/drawing/2014/main" id="{03CDD31E-5EEF-91F4-1ED7-C5210092A0D5}"/>
              </a:ext>
            </a:extLst>
          </p:cNvPr>
          <p:cNvSpPr/>
          <p:nvPr/>
        </p:nvSpPr>
        <p:spPr>
          <a:xfrm>
            <a:off x="7322545" y="4777194"/>
            <a:ext cx="1546318" cy="243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loss</a:t>
            </a:r>
            <a:br>
              <a:rPr lang="en-US" sz="7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7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(CE(student, labels))</a:t>
            </a:r>
            <a:endParaRPr lang="en-US" sz="400" dirty="0"/>
          </a:p>
        </p:txBody>
      </p:sp>
      <p:sp>
        <p:nvSpPr>
          <p:cNvPr id="60" name="Shape 30">
            <a:extLst>
              <a:ext uri="{FF2B5EF4-FFF2-40B4-BE49-F238E27FC236}">
                <a16:creationId xmlns:a16="http://schemas.microsoft.com/office/drawing/2014/main" id="{CCD834CA-5F0A-582D-F204-0859B90F9657}"/>
              </a:ext>
            </a:extLst>
          </p:cNvPr>
          <p:cNvSpPr/>
          <p:nvPr/>
        </p:nvSpPr>
        <p:spPr>
          <a:xfrm>
            <a:off x="8090672" y="4533178"/>
            <a:ext cx="0" cy="142951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9" name="Text 0">
            <a:extLst>
              <a:ext uri="{FF2B5EF4-FFF2-40B4-BE49-F238E27FC236}">
                <a16:creationId xmlns:a16="http://schemas.microsoft.com/office/drawing/2014/main" id="{6120C2C3-DF45-1EED-C34C-9CED173A1E65}"/>
              </a:ext>
            </a:extLst>
          </p:cNvPr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 architecture — shared projection space &amp; composite loss</a:t>
            </a:r>
            <a:endParaRPr lang="en-US" sz="2100" dirty="0"/>
          </a:p>
        </p:txBody>
      </p:sp>
      <p:sp>
        <p:nvSpPr>
          <p:cNvPr id="62" name="Text 30">
            <a:extLst>
              <a:ext uri="{FF2B5EF4-FFF2-40B4-BE49-F238E27FC236}">
                <a16:creationId xmlns:a16="http://schemas.microsoft.com/office/drawing/2014/main" id="{E1C9CE4D-E6D5-7009-C813-CB7A01EFBEA0}"/>
              </a:ext>
            </a:extLst>
          </p:cNvPr>
          <p:cNvSpPr/>
          <p:nvPr/>
        </p:nvSpPr>
        <p:spPr>
          <a:xfrm>
            <a:off x="457200" y="4623796"/>
            <a:ext cx="65722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L_total  =  0.3·L_CE  +  0.5·L_KL (T=4)  +  0.1·L_MSE  +  0.1·L_feat (cosine, gated until block 5 unfrozen)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four distillation configurations — pretraining is the key factor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41148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41248"/>
            <a:ext cx="411480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9692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gradual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" y="149961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87.54%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84632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14600" y="15179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F1: 87.35%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14600" y="181051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overall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841248"/>
            <a:ext cx="41148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841248"/>
            <a:ext cx="4114800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73752" y="9692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73752" y="149961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59.36%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73752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03720" y="15179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F1: 58.90%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03720" y="181051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Representations degraded early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41148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114800" cy="64008"/>
          </a:xfrm>
          <a:prstGeom prst="rect">
            <a:avLst/>
          </a:prstGeom>
          <a:solidFill>
            <a:srgbClr val="8EA3B4"/>
          </a:solidFill>
          <a:ln w="12700">
            <a:solidFill>
              <a:srgbClr val="8EA3B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9809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gradual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" y="351129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17.58%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84632" y="4096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14600" y="35295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F1: 16.46%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514600" y="38221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Distillation ≠ pretraining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852928"/>
            <a:ext cx="41148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852928"/>
            <a:ext cx="4114800" cy="64008"/>
          </a:xfrm>
          <a:prstGeom prst="rect">
            <a:avLst/>
          </a:prstGeom>
          <a:solidFill>
            <a:srgbClr val="8EA3B4"/>
          </a:solidFill>
          <a:ln w="12700">
            <a:solidFill>
              <a:srgbClr val="8EA3B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29809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73752" y="351129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16.84%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4873752" y="4096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903720" y="35295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F1: 15.87%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03720" y="38221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Worst config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solidFill>
            <a:srgbClr val="EAF6F4"/>
          </a:solidFill>
          <a:ln w="6350">
            <a:solidFill>
              <a:srgbClr val="17858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~70pt gap between pretrained and scratch — distillation is a fine-tuning technique, not a training-from-scratch technique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across 37 breeds — four distillation configurations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365760" y="960120"/>
          <a:ext cx="84124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850392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474720" y="1005840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005840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1005840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89320" y="1005840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03720" y="1005840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(min)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818120" y="1005840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389888"/>
            <a:ext cx="850392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444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 err="1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ViT</a:t>
            </a: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-Tiny (gradual All-layers)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02152" y="1444752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5.7M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87952" y="1444752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02352" y="1444752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84.46%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16752" y="1444752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84.23%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31152" y="1444752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142.6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845552" y="1444752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191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1956816"/>
            <a:ext cx="8503920" cy="530352"/>
          </a:xfrm>
          <a:prstGeom prst="rect">
            <a:avLst/>
          </a:prstGeom>
          <a:solidFill>
            <a:srgbClr val="F7FBFD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201168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ResNet-10t (gradual All-layers)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02152" y="2011680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5.4M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87952" y="201168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Baseline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02352" y="201168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82.31%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16752" y="201168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82.07%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31152" y="201168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48.5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845552" y="2011680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2523744"/>
            <a:ext cx="850392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3192" y="25786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ResNet-10t (gradual 1-layer)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02152" y="2578608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5.4M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87952" y="25786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02352" y="25786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81.82%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016752" y="25786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81.48%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31152" y="25786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16.4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845552" y="2578608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36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3090672"/>
            <a:ext cx="8503920" cy="530352"/>
          </a:xfrm>
          <a:prstGeom prst="rect">
            <a:avLst/>
          </a:prstGeom>
          <a:solidFill>
            <a:srgbClr val="F7FBFD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314553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ViT-Tiny (gradual 3-layer)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502152" y="3145536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5.7M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87952" y="3145536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02352" y="3145536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78.20%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016752" y="3145536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77.95%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931152" y="3145536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40.9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845552" y="3145536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0040" y="3657600"/>
            <a:ext cx="8503920" cy="530352"/>
          </a:xfrm>
          <a:prstGeom prst="rect">
            <a:avLst/>
          </a:prstGeom>
          <a:solidFill>
            <a:srgbClr val="EBF8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" y="3657600"/>
            <a:ext cx="54864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192" y="371246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ViT-Tiny (distilled, best)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502152" y="3712464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5.7M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187952" y="37124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65A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102352" y="37124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87.54%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016752" y="37124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87.35%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31152" y="37124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111.2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845552" y="3712464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136</a:t>
            </a:r>
            <a:endParaRPr 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F8915F-CA4E-8653-C29F-27D69FC30156}"/>
              </a:ext>
            </a:extLst>
          </p:cNvPr>
          <p:cNvSpPr txBox="1"/>
          <p:nvPr/>
        </p:nvSpPr>
        <p:spPr>
          <a:xfrm>
            <a:off x="1471198" y="4561609"/>
            <a:ext cx="6183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/>
              <a:t>We distil only 1 layer of resnet10t to compare to 3 layers of </a:t>
            </a:r>
            <a:r>
              <a:rPr lang="en-IN" sz="1200" dirty="0" err="1"/>
              <a:t>ViT</a:t>
            </a:r>
            <a:r>
              <a:rPr lang="en-IN" sz="1200" dirty="0"/>
              <a:t>-Tiny to match parameter counts.</a:t>
            </a:r>
          </a:p>
        </p:txBody>
      </p:sp>
      <p:sp>
        <p:nvSpPr>
          <p:cNvPr id="55" name="Text 0">
            <a:extLst>
              <a:ext uri="{FF2B5EF4-FFF2-40B4-BE49-F238E27FC236}">
                <a16:creationId xmlns:a16="http://schemas.microsoft.com/office/drawing/2014/main" id="{D9616240-8565-0B41-1C3E-61659C5F77F8}"/>
              </a:ext>
            </a:extLst>
          </p:cNvPr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student vs all baselines — model comparison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macro F1 — all models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365760" y="960120"/>
          <a:ext cx="841248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— distilled ViT-Tiny vs all baselines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365760" y="960120"/>
          <a:ext cx="84124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1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 Extensions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858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Data efficiency · Minority class recovery · UMAP embedding analysis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efficiency — distillation vs direct finetuning across data fractions</a:t>
            </a:r>
            <a:endParaRPr lang="en-US" sz="21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20040" y="822960"/>
          <a:ext cx="47548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257800" y="822960"/>
            <a:ext cx="3520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5257800" y="822960"/>
            <a:ext cx="352044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85816" y="96012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+9.4pt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385816" y="1508760"/>
            <a:ext cx="32644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gain at 10%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Distillation's biggest advantage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257800" y="1783080"/>
            <a:ext cx="3520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257800" y="1783080"/>
            <a:ext cx="352044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85816" y="192024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+8.8pt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385816" y="2468880"/>
            <a:ext cx="32644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gain at 25%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257800" y="2743200"/>
            <a:ext cx="3520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257800" y="2743200"/>
            <a:ext cx="352044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85816" y="288036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+3.1pt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5385816" y="3429000"/>
            <a:ext cx="32644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gain at 100%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0040" y="3767328"/>
            <a:ext cx="850392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75488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equivalences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75488" y="4206240"/>
            <a:ext cx="54864" cy="256032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3504" y="4197096"/>
            <a:ext cx="8074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Distilled 25% (83.1%) ≈ Direct 100% (84.5%) → 4× less data needed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75488" y="4480560"/>
            <a:ext cx="54864" cy="256032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3504" y="4471416"/>
            <a:ext cx="8074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Distilled 10% (75.0%) ≈ Direct 25% (74.3%) → 2.5× less data needed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75488" y="4754880"/>
            <a:ext cx="54864" cy="256032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3504" y="4745736"/>
            <a:ext cx="8074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Distilled 100% (111 min) faster AND better than Direct 100% (143 min)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— distillation across data fractions</a:t>
            </a:r>
            <a:endParaRPr lang="en-US" sz="24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914400"/>
          <a:ext cx="841248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Imbalanced Cat Data: Setup — what makes this experiment meaningful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39776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41248"/>
            <a:ext cx="397764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9692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 ·  ViT-Base (86M)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1335024"/>
            <a:ext cx="3657600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Trained on FULL balanced dataset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(100% of cat samples + 100% of dogs)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Has seen every cat breed extensively.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Its soft labels carry complete knowledge of cat breed similarity structure — knowledge the student's training data does not contain.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841248"/>
            <a:ext cx="41148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17720" y="841248"/>
            <a:ext cx="411480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73168" y="9692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 ·  ViT-Tiny (5.7M)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73168" y="1335024"/>
            <a:ext cx="3749040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Trained with ONLY 20% of cat samples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(severe underrepresentation)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Without distillation: oversampling used to partially compensate.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With distillation: teacher soft labels provide implicit knowledge of full cat distribution.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3246120"/>
            <a:ext cx="8366760" cy="1691640"/>
          </a:xfrm>
          <a:prstGeom prst="rect">
            <a:avLst/>
          </a:prstGeom>
          <a:solidFill>
            <a:srgbClr val="F5F3FF"/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337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question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694176"/>
            <a:ext cx="804672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Can the teacher's soft labels — which encode full knowledge of the minority cat classes — compensate for the student's training data deficit?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Does distillation provide a larger benefit to underrepresented (cat) classes than to well-represented (dog) classes?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Minority class recovery — balanced teacher rescues underrepresented cat breeds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1965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22960"/>
            <a:ext cx="1965960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8056" y="96012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79.48%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48056" y="1508760"/>
            <a:ext cx="1709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(oversampling)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9292" y="777240"/>
            <a:ext cx="1965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9292" y="777240"/>
            <a:ext cx="196596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07308" y="91440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85.31%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607308" y="1463040"/>
            <a:ext cx="1709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Distillation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92240" y="790956"/>
            <a:ext cx="1965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790956"/>
            <a:ext cx="1965960" cy="64008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0256" y="928116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+5.83pt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20256" y="1476756"/>
            <a:ext cx="1709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Accuracy gain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class regresses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3172" y="2880360"/>
            <a:ext cx="521208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6324" y="288036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677924" y="288036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F1 (mean)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49524" y="288036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F1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29684" y="28803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33172" y="3264408"/>
            <a:ext cx="5212080" cy="502920"/>
          </a:xfrm>
          <a:prstGeom prst="rect">
            <a:avLst/>
          </a:prstGeom>
          <a:solidFill>
            <a:srgbClr val="F5F3FF"/>
          </a:solidFill>
          <a:ln w="3810">
            <a:solidFill>
              <a:srgbClr val="D0DA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" y="335584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🐱 Cats (minority)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77924" y="335584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049524" y="335584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29684" y="335584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+0.094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14884" y="3822192"/>
            <a:ext cx="5212080" cy="502920"/>
          </a:xfrm>
          <a:prstGeom prst="rect">
            <a:avLst/>
          </a:prstGeom>
          <a:solidFill>
            <a:srgbClr val="EAF6F4"/>
          </a:solidFill>
          <a:ln w="3810">
            <a:solidFill>
              <a:srgbClr val="D0DA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324" y="392277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🐶 Dogs (majority)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677924" y="392277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0.828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049524" y="392277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329684" y="392277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+0.046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715000" y="2249424"/>
            <a:ext cx="31089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715000" y="2249424"/>
            <a:ext cx="3108960" cy="640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52160" y="2331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labels encode minority knowledge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852160" y="26334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Teacher assigns non-zero prob to similar cat breeds from full training — transferring intra-species similarity the student never saw.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715000" y="3209544"/>
            <a:ext cx="31089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715000" y="3209544"/>
            <a:ext cx="3108960" cy="640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3291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 divergence is the vehicle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59359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Loss weight 0.5 at T=4. Forces student to match teacher's calibrated uncertainty across cat breeds, not just the hard label.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715000" y="4169664"/>
            <a:ext cx="31089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5715000" y="4169664"/>
            <a:ext cx="3108960" cy="640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52160" y="4251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Outperforms oversampling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852160" y="455371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Oversampling repeats existing examples; distillation synthesises new knowledge. +5.83pt over the best standard correction.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— direct (oversampling) vs distillation across all 37 breeds</a:t>
            </a:r>
            <a:endParaRPr lang="en-US" sz="21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844210483"/>
              </p:ext>
            </p:extLst>
          </p:nvPr>
        </p:nvGraphicFramePr>
        <p:xfrm>
          <a:off x="320040" y="822960"/>
          <a:ext cx="850392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320040" y="4434840"/>
            <a:ext cx="4023360" cy="530352"/>
          </a:xfrm>
          <a:prstGeom prst="rect">
            <a:avLst/>
          </a:prstGeom>
          <a:solidFill>
            <a:srgbClr val="F5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44805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3AE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Classes 0–11 (cats) show the largest gaps — distillation lifts nearly all cat classes significantly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0" y="4434840"/>
            <a:ext cx="4114800" cy="530352"/>
          </a:xfrm>
          <a:prstGeom prst="rect">
            <a:avLst/>
          </a:prstGeom>
          <a:solidFill>
            <a:srgbClr val="EFF6FF"/>
          </a:solidFill>
          <a:ln w="6350">
            <a:solidFill>
              <a:srgbClr val="0369A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09160" y="44805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369A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Classes 12–36 (dogs) also improve uniformly — teacher knowledge benefits majority classes too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gain (distillation − direct) — minority classes gain most</a:t>
            </a:r>
            <a:endParaRPr lang="en-US" sz="21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745956967"/>
              </p:ext>
            </p:extLst>
          </p:nvPr>
        </p:nvGraphicFramePr>
        <p:xfrm>
          <a:off x="320040" y="822960"/>
          <a:ext cx="406908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>
            <p:extLst>
              <p:ext uri="{D42A27DB-BD31-4B8C-83A1-F6EECF244321}">
                <p14:modId xmlns:p14="http://schemas.microsoft.com/office/powerpoint/2010/main" val="1884129256"/>
              </p:ext>
            </p:extLst>
          </p:nvPr>
        </p:nvGraphicFramePr>
        <p:xfrm>
          <a:off x="4663440" y="822960"/>
          <a:ext cx="406908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Shape 1"/>
          <p:cNvSpPr/>
          <p:nvPr/>
        </p:nvSpPr>
        <p:spPr>
          <a:xfrm>
            <a:off x="320040" y="3218688"/>
            <a:ext cx="4069080" cy="438912"/>
          </a:xfrm>
          <a:prstGeom prst="rect">
            <a:avLst/>
          </a:prstGeom>
          <a:solidFill>
            <a:srgbClr val="F5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327355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3AE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Mean gain = +0.094 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4663440" y="3218688"/>
            <a:ext cx="40690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0369A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800600" y="327355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369A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Mean gain = +0.046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20040" y="3749040"/>
            <a:ext cx="841248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20040" y="3749040"/>
            <a:ext cx="84124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75488" y="3858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minority classes — biggest gains from distillation: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11480" y="4187952"/>
            <a:ext cx="20116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 Ragdoll Cat: +0.178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0.503 → distil 0. 681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794760" y="4197096"/>
            <a:ext cx="20116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 </a:t>
            </a:r>
            <a:r>
              <a:rPr lang="en-IN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Abyssinian cat</a:t>
            </a: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 +0.158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0.685 → distil 0.843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12280" y="4206240"/>
            <a:ext cx="20116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 Russian Blue cat: +0.129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0.612 → distil 0.741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embedding analysis — teacher vs distilled student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41248"/>
            <a:ext cx="196596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8056" y="978408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3,143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48056" y="1527048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Both correct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85.7% of test set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68880" y="841248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468880" y="841248"/>
            <a:ext cx="1965960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96896" y="978408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596896" y="1527048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Teacher ✓  Student ✗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7.3% — boundary cases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841248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841248"/>
            <a:ext cx="1965960" cy="64008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978408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45736" y="1527048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Student ✓  Teacher ✗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1.9% — soft label benefit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841248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66560" y="841248"/>
            <a:ext cx="1965960" cy="64008"/>
          </a:xfrm>
          <a:prstGeom prst="rect">
            <a:avLst/>
          </a:prstGeom>
          <a:solidFill>
            <a:srgbClr val="8EA3B4"/>
          </a:solidFill>
          <a:ln w="12700">
            <a:solidFill>
              <a:srgbClr val="8EA3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94576" y="978408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E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94576" y="1527048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Both wrong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EA3B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5.1% — dataset difficulty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2304288"/>
            <a:ext cx="85039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304288"/>
            <a:ext cx="850392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377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distinct clusters — both models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2359152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class is cleanly separated in both teacher and student UMAP spaces. Distillation successfully transferred the teacher's representational topology despite 15× compression.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017520"/>
            <a:ext cx="85039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017520"/>
            <a:ext cx="8503920" cy="64008"/>
          </a:xfrm>
          <a:prstGeom prst="rect">
            <a:avLst/>
          </a:prstGeom>
          <a:solidFill>
            <a:srgbClr val="C77B3A"/>
          </a:solidFill>
          <a:ln w="12700">
            <a:solidFill>
              <a:srgbClr val="C77B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3090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77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clusters appear tighter — dimensionality artefact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06240" y="3072384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192-dim space forces higher intra-class cosine similarity. This is not evidence of better representations — it reflects compression, not quality. What matters is between-class margin.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85039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730752"/>
            <a:ext cx="850392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38039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failures cluster at boundaries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206240" y="3785616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269 teacher-only correct samples concentrate at class boundaries and in intrinsically hard breeds (2, 34, 10) — not random failures. The teacher's larger margin in 768-dim resolves these.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443984"/>
            <a:ext cx="85039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20040" y="4443984"/>
            <a:ext cx="8503920" cy="64008"/>
          </a:xfrm>
          <a:prstGeom prst="rect">
            <a:avLst/>
          </a:prstGeom>
          <a:solidFill>
            <a:srgbClr val="178582"/>
          </a:solidFill>
          <a:ln w="12700">
            <a:solidFill>
              <a:srgbClr val="17858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" y="45171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85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student-only correct samples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206240" y="4498848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student learned complementary knowledge from soft labels beyond the teacher's own hard predictions — distillation does not simply compress, it reshapes the learned distribution.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of CLS embeddings — teacher vs student (37 classes)</a:t>
            </a:r>
            <a:endParaRPr lang="en-US" sz="2200" dirty="0"/>
          </a:p>
        </p:txBody>
      </p:sp>
      <p:pic>
        <p:nvPicPr>
          <p:cNvPr id="3" name="Image 0" descr="/home/claude/img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22960"/>
            <a:ext cx="85953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coloured by prediction outcome — teacher vs student</a:t>
            </a:r>
            <a:endParaRPr lang="en-US" sz="2200" dirty="0"/>
          </a:p>
        </p:txBody>
      </p:sp>
      <p:pic>
        <p:nvPicPr>
          <p:cNvPr id="3" name="Image 0" descr="/home/claude/img_correc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22960"/>
            <a:ext cx="85953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 — parameters, FLOPs, and disk footprint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22860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4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41248"/>
            <a:ext cx="2286000" cy="640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97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15.2×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20040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parameters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1920240" cy="0"/>
          </a:xfrm>
          <a:prstGeom prst="line">
            <a:avLst/>
          </a:prstGeom>
          <a:noFill/>
          <a:ln w="6350">
            <a:solidFill>
              <a:srgbClr val="D0DA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066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fewer FLOPs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(16.87G → 1.08G)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332841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15.2×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6393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smaller on disk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(344 MB → 23 MB)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3950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42611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less GPU memory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(361.7 → 35.6 MB)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834640" y="841248"/>
            <a:ext cx="59893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07792" y="84124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25112" y="84124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(ViT-Base)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79592" y="84124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(ViT-Tiny)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34072" y="84124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4640" y="1225296"/>
            <a:ext cx="59893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A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07792" y="1353312"/>
            <a:ext cx="1252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Parameters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325112" y="135331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86.0M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879592" y="135331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5.6M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434072" y="1353312"/>
            <a:ext cx="9326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15.2×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834640" y="1911096"/>
            <a:ext cx="5989320" cy="621792"/>
          </a:xfrm>
          <a:prstGeom prst="rect">
            <a:avLst/>
          </a:prstGeom>
          <a:solidFill>
            <a:srgbClr val="F6F9FB"/>
          </a:solidFill>
          <a:ln w="3810">
            <a:solidFill>
              <a:srgbClr val="D0DA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07792" y="2039112"/>
            <a:ext cx="1252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FLOPs (BS=1)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325112" y="203911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16.87G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879592" y="203911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1.08G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434072" y="2039112"/>
            <a:ext cx="9326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15.6×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834640" y="2596896"/>
            <a:ext cx="59893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A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07792" y="2724912"/>
            <a:ext cx="1252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Disk size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325112" y="272491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344 MB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879592" y="272491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23 MB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434072" y="2724912"/>
            <a:ext cx="9326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15.2×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834640" y="3282696"/>
            <a:ext cx="5989320" cy="621792"/>
          </a:xfrm>
          <a:prstGeom prst="rect">
            <a:avLst/>
          </a:prstGeom>
          <a:solidFill>
            <a:srgbClr val="F6F9FB"/>
          </a:solidFill>
          <a:ln w="3810">
            <a:solidFill>
              <a:srgbClr val="D0DA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07792" y="3410712"/>
            <a:ext cx="1252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GPU memory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325112" y="341071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361.7 MB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879592" y="3410712"/>
            <a:ext cx="13898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B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35.6 MB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434072" y="3410712"/>
            <a:ext cx="9326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10.2×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832104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381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60120"/>
            <a:ext cx="64008" cy="594360"/>
          </a:xfrm>
          <a:prstGeom prst="rect">
            <a:avLst/>
          </a:prstGeom>
          <a:solidFill>
            <a:srgbClr val="7EDDD5"/>
          </a:solidFill>
          <a:ln w="12700">
            <a:solidFill>
              <a:srgbClr val="7EDD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96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ED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105156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EF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Gradual unfreeze is the best fine-tuning strategy — 93.16% on ViT-Base, most robust to data reduction. Phased LR decay acts as built-in regularisation.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1480" y="1627632"/>
            <a:ext cx="832104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381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627632"/>
            <a:ext cx="64008" cy="594360"/>
          </a:xfrm>
          <a:prstGeom prst="rect">
            <a:avLst/>
          </a:prstGeom>
          <a:solidFill>
            <a:srgbClr val="F5C97A"/>
          </a:solidFill>
          <a:ln w="12700">
            <a:solidFill>
              <a:srgbClr val="F5C9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642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1719072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EF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ViT-B/16 outperforms ResNet-RS152 by 2.13pt (92.59% vs 90.46%). ResNet trains 18% faster — pragmatic choice when compute is limited.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2295144"/>
            <a:ext cx="832104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381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95144"/>
            <a:ext cx="64008" cy="594360"/>
          </a:xfrm>
          <a:prstGeom prst="rect">
            <a:avLst/>
          </a:prstGeom>
          <a:solidFill>
            <a:srgbClr val="F5A893"/>
          </a:solidFill>
          <a:ln w="12700">
            <a:solidFill>
              <a:srgbClr val="F5A8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8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2386584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EF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standard imbalance correction (WCE / oversampling / augmentation) fully closes the cat-dog F1 gap (~0.09–0.14). This motivates distillation from a balanced teacher.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2962656"/>
            <a:ext cx="832104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381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962656"/>
            <a:ext cx="64008" cy="594360"/>
          </a:xfrm>
          <a:prstGeom prst="rect">
            <a:avLst/>
          </a:prstGeom>
          <a:solidFill>
            <a:srgbClr val="B8A0F0"/>
          </a:solidFill>
          <a:ln w="12700">
            <a:solidFill>
              <a:srgbClr val="B8A0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999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8A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3054096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EF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Distilled ViT-Tiny (87.54%) outperforms ALL baselines including its teacher (84.46%) — 15× fewer parameters. Distillation with gradual unfreezing exceeds direct finetuning.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630168"/>
            <a:ext cx="832104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381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630168"/>
            <a:ext cx="64008" cy="594360"/>
          </a:xfrm>
          <a:prstGeom prst="rect">
            <a:avLst/>
          </a:prstGeom>
          <a:solidFill>
            <a:srgbClr val="7EDDD5"/>
          </a:solidFill>
          <a:ln w="12700">
            <a:solidFill>
              <a:srgbClr val="7EDD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ED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" y="3721608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EF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Distillation at 25% data matches direct finetuning at 100% — 4× data efficiency. The gap peaks at 10% data (+9.4pt), confirming distillation is most valuable when labels are scarce.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381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297680"/>
            <a:ext cx="64008" cy="594360"/>
          </a:xfrm>
          <a:prstGeom prst="rect">
            <a:avLst/>
          </a:prstGeom>
          <a:solidFill>
            <a:srgbClr val="A0D9B0"/>
          </a:solidFill>
          <a:ln w="12700">
            <a:solidFill>
              <a:srgbClr val="A0D9B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0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" y="438912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EF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Balanced teacher recovers minority cat classes by 1.65× more than majority dogs. Soft labels transfer implicit minority class knowledge that oversampling cannot replicate.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3631</Words>
  <Application>Microsoft Office PowerPoint</Application>
  <PresentationFormat>On-screen Show (16:9)</PresentationFormat>
  <Paragraphs>771</Paragraphs>
  <Slides>39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Fine-tuning Vision Transformers &amp; Knowledge Distillation</dc:title>
  <dc:subject>PptxGenJS Presentation</dc:subject>
  <dc:creator>PptxGenJS</dc:creator>
  <cp:lastModifiedBy>Bhaswat Raj</cp:lastModifiedBy>
  <cp:revision>20</cp:revision>
  <dcterms:created xsi:type="dcterms:W3CDTF">2026-05-10T14:11:04Z</dcterms:created>
  <dcterms:modified xsi:type="dcterms:W3CDTF">2026-05-17T14:18:14Z</dcterms:modified>
</cp:coreProperties>
</file>