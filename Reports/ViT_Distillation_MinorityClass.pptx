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8" d="100"/>
          <a:sy n="138" d="100"/>
        </p:scale>
        <p:origin x="126"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Direct (oversampling)</c:v>
                </c:pt>
              </c:strCache>
            </c:strRef>
          </c:tx>
          <c:spPr>
            <a:ln w="25400" cap="flat">
              <a:solidFill>
                <a:srgbClr val="E65100"/>
              </a:solidFill>
              <a:prstDash val="solid"/>
              <a:round/>
            </a:ln>
            <a:effectLst/>
          </c:spPr>
          <c:marker>
            <c:symbol val="circle"/>
            <c:size val="6"/>
            <c:spPr>
              <a:solidFill>
                <a:srgbClr val="E65100"/>
              </a:solidFill>
              <a:ln w="9525" cap="flat">
                <a:solidFill>
                  <a:srgbClr val="E65100"/>
                </a:solidFill>
                <a:prstDash val="solid"/>
                <a:round/>
              </a:ln>
              <a:effectLst/>
            </c:spPr>
          </c:marker>
          <c:cat>
            <c:strRef>
              <c:f>Sheet1!$A$2:$A$38</c:f>
              <c:strCache>
                <c:ptCount val="37"/>
                <c:pt idx="0">
                  <c:v>c0</c:v>
                </c:pt>
                <c:pt idx="1">
                  <c:v>c1</c:v>
                </c:pt>
                <c:pt idx="2">
                  <c:v>c2</c:v>
                </c:pt>
                <c:pt idx="3">
                  <c:v>c3</c:v>
                </c:pt>
                <c:pt idx="4">
                  <c:v>c4</c:v>
                </c:pt>
                <c:pt idx="5">
                  <c:v>c5</c:v>
                </c:pt>
                <c:pt idx="6">
                  <c:v>c6</c:v>
                </c:pt>
                <c:pt idx="7">
                  <c:v>c7</c:v>
                </c:pt>
                <c:pt idx="8">
                  <c:v>c8</c:v>
                </c:pt>
                <c:pt idx="9">
                  <c:v>c9</c:v>
                </c:pt>
                <c:pt idx="10">
                  <c:v>c10</c:v>
                </c:pt>
                <c:pt idx="11">
                  <c:v>c11</c:v>
                </c:pt>
                <c:pt idx="12">
                  <c:v>c12</c:v>
                </c:pt>
                <c:pt idx="13">
                  <c:v>c13</c:v>
                </c:pt>
                <c:pt idx="14">
                  <c:v>c14</c:v>
                </c:pt>
                <c:pt idx="15">
                  <c:v>c15</c:v>
                </c:pt>
                <c:pt idx="16">
                  <c:v>c16</c:v>
                </c:pt>
                <c:pt idx="17">
                  <c:v>c17</c:v>
                </c:pt>
                <c:pt idx="18">
                  <c:v>c18</c:v>
                </c:pt>
                <c:pt idx="19">
                  <c:v>c19</c:v>
                </c:pt>
                <c:pt idx="20">
                  <c:v>c20</c:v>
                </c:pt>
                <c:pt idx="21">
                  <c:v>c21</c:v>
                </c:pt>
                <c:pt idx="22">
                  <c:v>c22</c:v>
                </c:pt>
                <c:pt idx="23">
                  <c:v>c23</c:v>
                </c:pt>
                <c:pt idx="24">
                  <c:v>c24</c:v>
                </c:pt>
                <c:pt idx="25">
                  <c:v>c25</c:v>
                </c:pt>
                <c:pt idx="26">
                  <c:v>c26</c:v>
                </c:pt>
                <c:pt idx="27">
                  <c:v>c27</c:v>
                </c:pt>
                <c:pt idx="28">
                  <c:v>c28</c:v>
                </c:pt>
                <c:pt idx="29">
                  <c:v>c29</c:v>
                </c:pt>
                <c:pt idx="30">
                  <c:v>c30</c:v>
                </c:pt>
                <c:pt idx="31">
                  <c:v>c31</c:v>
                </c:pt>
                <c:pt idx="32">
                  <c:v>c32</c:v>
                </c:pt>
                <c:pt idx="33">
                  <c:v>c33</c:v>
                </c:pt>
                <c:pt idx="34">
                  <c:v>c34</c:v>
                </c:pt>
                <c:pt idx="35">
                  <c:v>c35</c:v>
                </c:pt>
                <c:pt idx="36">
                  <c:v>c36</c:v>
                </c:pt>
              </c:strCache>
            </c:strRef>
          </c:cat>
          <c:val>
            <c:numRef>
              <c:f>Sheet1!$B$2:$B$38</c:f>
              <c:numCache>
                <c:formatCode>General</c:formatCode>
                <c:ptCount val="37"/>
                <c:pt idx="0">
                  <c:v>0.68500000000000005</c:v>
                </c:pt>
                <c:pt idx="1">
                  <c:v>0.746</c:v>
                </c:pt>
                <c:pt idx="2">
                  <c:v>0.50600000000000001</c:v>
                </c:pt>
                <c:pt idx="3">
                  <c:v>0.84099999999999997</c:v>
                </c:pt>
                <c:pt idx="4">
                  <c:v>0.77400000000000002</c:v>
                </c:pt>
                <c:pt idx="5">
                  <c:v>0.69399999999999995</c:v>
                </c:pt>
                <c:pt idx="6">
                  <c:v>0.63400000000000001</c:v>
                </c:pt>
                <c:pt idx="7">
                  <c:v>0.80900000000000005</c:v>
                </c:pt>
                <c:pt idx="8">
                  <c:v>0.752</c:v>
                </c:pt>
                <c:pt idx="9">
                  <c:v>0.70399999999999996</c:v>
                </c:pt>
                <c:pt idx="10">
                  <c:v>0.76800000000000002</c:v>
                </c:pt>
                <c:pt idx="11">
                  <c:v>0.74399999999999999</c:v>
                </c:pt>
                <c:pt idx="12">
                  <c:v>0.81399999999999995</c:v>
                </c:pt>
                <c:pt idx="13">
                  <c:v>0.79300000000000004</c:v>
                </c:pt>
                <c:pt idx="14">
                  <c:v>0.88500000000000001</c:v>
                </c:pt>
                <c:pt idx="15">
                  <c:v>0.89700000000000002</c:v>
                </c:pt>
                <c:pt idx="16">
                  <c:v>0.83699999999999997</c:v>
                </c:pt>
                <c:pt idx="17">
                  <c:v>0.84399999999999997</c:v>
                </c:pt>
                <c:pt idx="18">
                  <c:v>0.93700000000000006</c:v>
                </c:pt>
                <c:pt idx="19">
                  <c:v>0.92800000000000005</c:v>
                </c:pt>
                <c:pt idx="20">
                  <c:v>0.73</c:v>
                </c:pt>
                <c:pt idx="21">
                  <c:v>0.83699999999999997</c:v>
                </c:pt>
                <c:pt idx="22">
                  <c:v>0.88800000000000001</c:v>
                </c:pt>
                <c:pt idx="23">
                  <c:v>0.753</c:v>
                </c:pt>
                <c:pt idx="24">
                  <c:v>0.91100000000000003</c:v>
                </c:pt>
                <c:pt idx="25">
                  <c:v>0.95</c:v>
                </c:pt>
                <c:pt idx="26">
                  <c:v>0.503</c:v>
                </c:pt>
                <c:pt idx="27">
                  <c:v>0.61199999999999999</c:v>
                </c:pt>
                <c:pt idx="28">
                  <c:v>0.83899999999999997</c:v>
                </c:pt>
                <c:pt idx="29">
                  <c:v>0.89900000000000002</c:v>
                </c:pt>
                <c:pt idx="30">
                  <c:v>0.88500000000000001</c:v>
                </c:pt>
                <c:pt idx="31">
                  <c:v>0.877</c:v>
                </c:pt>
                <c:pt idx="32">
                  <c:v>0.82099999999999995</c:v>
                </c:pt>
                <c:pt idx="33">
                  <c:v>0.84599999999999997</c:v>
                </c:pt>
                <c:pt idx="34">
                  <c:v>0.52600000000000002</c:v>
                </c:pt>
                <c:pt idx="35">
                  <c:v>0.86299999999999999</c:v>
                </c:pt>
                <c:pt idx="36">
                  <c:v>0.89900000000000002</c:v>
                </c:pt>
              </c:numCache>
            </c:numRef>
          </c:val>
          <c:smooth val="0"/>
          <c:extLst>
            <c:ext xmlns:c16="http://schemas.microsoft.com/office/drawing/2014/chart" uri="{C3380CC4-5D6E-409C-BE32-E72D297353CC}">
              <c16:uniqueId val="{00000000-8D9A-495F-958A-36B2774289BA}"/>
            </c:ext>
          </c:extLst>
        </c:ser>
        <c:ser>
          <c:idx val="1"/>
          <c:order val="1"/>
          <c:tx>
            <c:strRef>
              <c:f>Sheet1!$C$1</c:f>
              <c:strCache>
                <c:ptCount val="1"/>
                <c:pt idx="0">
                  <c:v>Distillation</c:v>
                </c:pt>
              </c:strCache>
            </c:strRef>
          </c:tx>
          <c:spPr>
            <a:ln w="25400" cap="flat">
              <a:solidFill>
                <a:srgbClr val="7C3AED"/>
              </a:solidFill>
              <a:prstDash val="solid"/>
              <a:round/>
            </a:ln>
            <a:effectLst/>
          </c:spPr>
          <c:marker>
            <c:symbol val="circle"/>
            <c:size val="6"/>
            <c:spPr>
              <a:solidFill>
                <a:srgbClr val="7C3AED"/>
              </a:solidFill>
              <a:ln w="9525" cap="flat">
                <a:solidFill>
                  <a:srgbClr val="7C3AED"/>
                </a:solidFill>
                <a:prstDash val="solid"/>
                <a:round/>
              </a:ln>
              <a:effectLst/>
            </c:spPr>
          </c:marker>
          <c:cat>
            <c:strRef>
              <c:f>Sheet1!$A$2:$A$38</c:f>
              <c:strCache>
                <c:ptCount val="37"/>
                <c:pt idx="0">
                  <c:v>c0</c:v>
                </c:pt>
                <c:pt idx="1">
                  <c:v>c1</c:v>
                </c:pt>
                <c:pt idx="2">
                  <c:v>c2</c:v>
                </c:pt>
                <c:pt idx="3">
                  <c:v>c3</c:v>
                </c:pt>
                <c:pt idx="4">
                  <c:v>c4</c:v>
                </c:pt>
                <c:pt idx="5">
                  <c:v>c5</c:v>
                </c:pt>
                <c:pt idx="6">
                  <c:v>c6</c:v>
                </c:pt>
                <c:pt idx="7">
                  <c:v>c7</c:v>
                </c:pt>
                <c:pt idx="8">
                  <c:v>c8</c:v>
                </c:pt>
                <c:pt idx="9">
                  <c:v>c9</c:v>
                </c:pt>
                <c:pt idx="10">
                  <c:v>c10</c:v>
                </c:pt>
                <c:pt idx="11">
                  <c:v>c11</c:v>
                </c:pt>
                <c:pt idx="12">
                  <c:v>c12</c:v>
                </c:pt>
                <c:pt idx="13">
                  <c:v>c13</c:v>
                </c:pt>
                <c:pt idx="14">
                  <c:v>c14</c:v>
                </c:pt>
                <c:pt idx="15">
                  <c:v>c15</c:v>
                </c:pt>
                <c:pt idx="16">
                  <c:v>c16</c:v>
                </c:pt>
                <c:pt idx="17">
                  <c:v>c17</c:v>
                </c:pt>
                <c:pt idx="18">
                  <c:v>c18</c:v>
                </c:pt>
                <c:pt idx="19">
                  <c:v>c19</c:v>
                </c:pt>
                <c:pt idx="20">
                  <c:v>c20</c:v>
                </c:pt>
                <c:pt idx="21">
                  <c:v>c21</c:v>
                </c:pt>
                <c:pt idx="22">
                  <c:v>c22</c:v>
                </c:pt>
                <c:pt idx="23">
                  <c:v>c23</c:v>
                </c:pt>
                <c:pt idx="24">
                  <c:v>c24</c:v>
                </c:pt>
                <c:pt idx="25">
                  <c:v>c25</c:v>
                </c:pt>
                <c:pt idx="26">
                  <c:v>c26</c:v>
                </c:pt>
                <c:pt idx="27">
                  <c:v>c27</c:v>
                </c:pt>
                <c:pt idx="28">
                  <c:v>c28</c:v>
                </c:pt>
                <c:pt idx="29">
                  <c:v>c29</c:v>
                </c:pt>
                <c:pt idx="30">
                  <c:v>c30</c:v>
                </c:pt>
                <c:pt idx="31">
                  <c:v>c31</c:v>
                </c:pt>
                <c:pt idx="32">
                  <c:v>c32</c:v>
                </c:pt>
                <c:pt idx="33">
                  <c:v>c33</c:v>
                </c:pt>
                <c:pt idx="34">
                  <c:v>c34</c:v>
                </c:pt>
                <c:pt idx="35">
                  <c:v>c35</c:v>
                </c:pt>
                <c:pt idx="36">
                  <c:v>c36</c:v>
                </c:pt>
              </c:strCache>
            </c:strRef>
          </c:cat>
          <c:val>
            <c:numRef>
              <c:f>Sheet1!$C$2:$C$38</c:f>
              <c:numCache>
                <c:formatCode>General</c:formatCode>
                <c:ptCount val="37"/>
                <c:pt idx="0">
                  <c:v>0.84299999999999997</c:v>
                </c:pt>
                <c:pt idx="1">
                  <c:v>0.76200000000000001</c:v>
                </c:pt>
                <c:pt idx="2">
                  <c:v>0.622</c:v>
                </c:pt>
                <c:pt idx="3">
                  <c:v>0.89700000000000002</c:v>
                </c:pt>
                <c:pt idx="4">
                  <c:v>0.83199999999999996</c:v>
                </c:pt>
                <c:pt idx="5">
                  <c:v>0.78500000000000003</c:v>
                </c:pt>
                <c:pt idx="6">
                  <c:v>0.73799999999999999</c:v>
                </c:pt>
                <c:pt idx="7">
                  <c:v>0.85299999999999998</c:v>
                </c:pt>
                <c:pt idx="8">
                  <c:v>0.85599999999999998</c:v>
                </c:pt>
                <c:pt idx="9">
                  <c:v>0.81699999999999995</c:v>
                </c:pt>
                <c:pt idx="10">
                  <c:v>0.81499999999999995</c:v>
                </c:pt>
                <c:pt idx="11">
                  <c:v>0.84199999999999997</c:v>
                </c:pt>
                <c:pt idx="12">
                  <c:v>0.88400000000000001</c:v>
                </c:pt>
                <c:pt idx="13">
                  <c:v>0.876</c:v>
                </c:pt>
                <c:pt idx="14">
                  <c:v>0.89</c:v>
                </c:pt>
                <c:pt idx="15">
                  <c:v>0.91600000000000004</c:v>
                </c:pt>
                <c:pt idx="16">
                  <c:v>0.89900000000000002</c:v>
                </c:pt>
                <c:pt idx="17">
                  <c:v>0.89800000000000002</c:v>
                </c:pt>
                <c:pt idx="18">
                  <c:v>0.97499999999999998</c:v>
                </c:pt>
                <c:pt idx="19">
                  <c:v>0.96</c:v>
                </c:pt>
                <c:pt idx="20">
                  <c:v>0.78600000000000003</c:v>
                </c:pt>
                <c:pt idx="21">
                  <c:v>0.86899999999999999</c:v>
                </c:pt>
                <c:pt idx="22">
                  <c:v>0.90800000000000003</c:v>
                </c:pt>
                <c:pt idx="23">
                  <c:v>0.79</c:v>
                </c:pt>
                <c:pt idx="24">
                  <c:v>0.92700000000000005</c:v>
                </c:pt>
                <c:pt idx="25">
                  <c:v>0.96899999999999997</c:v>
                </c:pt>
                <c:pt idx="26">
                  <c:v>0.68100000000000005</c:v>
                </c:pt>
                <c:pt idx="27">
                  <c:v>0.74099999999999999</c:v>
                </c:pt>
                <c:pt idx="28">
                  <c:v>0.90300000000000002</c:v>
                </c:pt>
                <c:pt idx="29">
                  <c:v>0.90300000000000002</c:v>
                </c:pt>
                <c:pt idx="30">
                  <c:v>0.93100000000000005</c:v>
                </c:pt>
                <c:pt idx="31">
                  <c:v>0.91500000000000004</c:v>
                </c:pt>
                <c:pt idx="32">
                  <c:v>0.83299999999999996</c:v>
                </c:pt>
                <c:pt idx="33">
                  <c:v>0.95099999999999996</c:v>
                </c:pt>
                <c:pt idx="34">
                  <c:v>0.57799999999999996</c:v>
                </c:pt>
                <c:pt idx="35">
                  <c:v>0.89800000000000002</c:v>
                </c:pt>
                <c:pt idx="36">
                  <c:v>0.95399999999999996</c:v>
                </c:pt>
              </c:numCache>
            </c:numRef>
          </c:val>
          <c:smooth val="0"/>
          <c:extLst>
            <c:ext xmlns:c16="http://schemas.microsoft.com/office/drawing/2014/chart" uri="{C3380CC4-5D6E-409C-BE32-E72D297353CC}">
              <c16:uniqueId val="{00000001-8D9A-495F-958A-36B2774289B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min val="0.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Cat classes (minority)</c:v>
                </c:pt>
              </c:strCache>
            </c:strRef>
          </c:tx>
          <c:spPr>
            <a:solidFill>
              <a:srgbClr val="7C3AED"/>
            </a:solidFill>
            <a:effectLst/>
          </c:spPr>
          <c:invertIfNegative val="0"/>
          <c:dLbls>
            <c:numFmt formatCode="#,##0.000" sourceLinked="0"/>
            <c:spPr>
              <a:noFill/>
              <a:ln>
                <a:noFill/>
              </a:ln>
              <a:effectLst/>
            </c:spPr>
            <c:txPr>
              <a:bodyPr/>
              <a:lstStyle/>
              <a:p>
                <a:pPr>
                  <a:defRPr sz="800" b="0" i="0" u="none" strike="noStrike">
                    <a:solidFill>
                      <a:srgbClr val="1E2B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c0</c:v>
                </c:pt>
                <c:pt idx="1">
                  <c:v>c1</c:v>
                </c:pt>
                <c:pt idx="2">
                  <c:v>c2</c:v>
                </c:pt>
                <c:pt idx="3">
                  <c:v>c3</c:v>
                </c:pt>
                <c:pt idx="4">
                  <c:v>c4</c:v>
                </c:pt>
                <c:pt idx="5">
                  <c:v>c5</c:v>
                </c:pt>
                <c:pt idx="6">
                  <c:v>c6</c:v>
                </c:pt>
                <c:pt idx="7">
                  <c:v>c7</c:v>
                </c:pt>
                <c:pt idx="8">
                  <c:v>c8</c:v>
                </c:pt>
                <c:pt idx="9">
                  <c:v>c9</c:v>
                </c:pt>
                <c:pt idx="10">
                  <c:v>c10</c:v>
                </c:pt>
                <c:pt idx="11">
                  <c:v>c11</c:v>
                </c:pt>
              </c:strCache>
            </c:strRef>
          </c:cat>
          <c:val>
            <c:numRef>
              <c:f>Sheet1!$B$2:$B$13</c:f>
              <c:numCache>
                <c:formatCode>General</c:formatCode>
                <c:ptCount val="12"/>
                <c:pt idx="0">
                  <c:v>0.158</c:v>
                </c:pt>
                <c:pt idx="1">
                  <c:v>1.6E-2</c:v>
                </c:pt>
                <c:pt idx="2">
                  <c:v>0.11600000000000001</c:v>
                </c:pt>
                <c:pt idx="3">
                  <c:v>5.6000000000000001E-2</c:v>
                </c:pt>
                <c:pt idx="4">
                  <c:v>5.8000000000000003E-2</c:v>
                </c:pt>
                <c:pt idx="5">
                  <c:v>9.0999999999999998E-2</c:v>
                </c:pt>
                <c:pt idx="6">
                  <c:v>0.104</c:v>
                </c:pt>
                <c:pt idx="7">
                  <c:v>4.3999999999999997E-2</c:v>
                </c:pt>
                <c:pt idx="8">
                  <c:v>0.104</c:v>
                </c:pt>
                <c:pt idx="9">
                  <c:v>0.113</c:v>
                </c:pt>
                <c:pt idx="10">
                  <c:v>4.7E-2</c:v>
                </c:pt>
                <c:pt idx="11">
                  <c:v>9.8000000000000004E-2</c:v>
                </c:pt>
              </c:numCache>
            </c:numRef>
          </c:val>
          <c:extLst>
            <c:ext xmlns:c16="http://schemas.microsoft.com/office/drawing/2014/chart" uri="{C3380CC4-5D6E-409C-BE32-E72D297353CC}">
              <c16:uniqueId val="{00000000-8B83-454D-A233-A50101BD240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0.2"/>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Dog classes (majority)</c:v>
                </c:pt>
              </c:strCache>
            </c:strRef>
          </c:tx>
          <c:spPr>
            <a:solidFill>
              <a:srgbClr val="0369A1"/>
            </a:solidFill>
            <a:effectLst/>
          </c:spPr>
          <c:invertIfNegative val="0"/>
          <c:dLbls>
            <c:numFmt formatCode="#,##0.00" sourceLinked="0"/>
            <c:spPr>
              <a:noFill/>
              <a:ln>
                <a:noFill/>
              </a:ln>
              <a:effectLst/>
            </c:spPr>
            <c:txPr>
              <a:bodyPr/>
              <a:lstStyle/>
              <a:p>
                <a:pPr>
                  <a:defRPr sz="800" b="0" i="0" u="none" strike="noStrike">
                    <a:solidFill>
                      <a:srgbClr val="1E2B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Sheet1!$A$2:$A$26</c:f>
              <c:strCache>
                <c:ptCount val="25"/>
                <c:pt idx="0">
                  <c:v>c12</c:v>
                </c:pt>
                <c:pt idx="1">
                  <c:v>c13</c:v>
                </c:pt>
                <c:pt idx="2">
                  <c:v>c14</c:v>
                </c:pt>
                <c:pt idx="3">
                  <c:v>c15</c:v>
                </c:pt>
                <c:pt idx="4">
                  <c:v>c16</c:v>
                </c:pt>
                <c:pt idx="5">
                  <c:v>c17</c:v>
                </c:pt>
                <c:pt idx="6">
                  <c:v>c18</c:v>
                </c:pt>
                <c:pt idx="7">
                  <c:v>c19</c:v>
                </c:pt>
                <c:pt idx="8">
                  <c:v>c20</c:v>
                </c:pt>
                <c:pt idx="9">
                  <c:v>c21</c:v>
                </c:pt>
                <c:pt idx="10">
                  <c:v>c22</c:v>
                </c:pt>
                <c:pt idx="11">
                  <c:v>c23</c:v>
                </c:pt>
                <c:pt idx="12">
                  <c:v>c24</c:v>
                </c:pt>
                <c:pt idx="13">
                  <c:v>c25</c:v>
                </c:pt>
                <c:pt idx="14">
                  <c:v>c26</c:v>
                </c:pt>
                <c:pt idx="15">
                  <c:v>c27</c:v>
                </c:pt>
                <c:pt idx="16">
                  <c:v>c28</c:v>
                </c:pt>
                <c:pt idx="17">
                  <c:v>c29</c:v>
                </c:pt>
                <c:pt idx="18">
                  <c:v>c30</c:v>
                </c:pt>
                <c:pt idx="19">
                  <c:v>c31</c:v>
                </c:pt>
                <c:pt idx="20">
                  <c:v>c32</c:v>
                </c:pt>
                <c:pt idx="21">
                  <c:v>c33</c:v>
                </c:pt>
                <c:pt idx="22">
                  <c:v>c34</c:v>
                </c:pt>
                <c:pt idx="23">
                  <c:v>c35</c:v>
                </c:pt>
                <c:pt idx="24">
                  <c:v>c36</c:v>
                </c:pt>
              </c:strCache>
            </c:strRef>
          </c:cat>
          <c:val>
            <c:numRef>
              <c:f>Sheet1!$B$2:$B$26</c:f>
              <c:numCache>
                <c:formatCode>General</c:formatCode>
                <c:ptCount val="25"/>
                <c:pt idx="0">
                  <c:v>7.0000000000000007E-2</c:v>
                </c:pt>
                <c:pt idx="1">
                  <c:v>8.3000000000000004E-2</c:v>
                </c:pt>
                <c:pt idx="2">
                  <c:v>5.0000000000000001E-3</c:v>
                </c:pt>
                <c:pt idx="3">
                  <c:v>1.9E-2</c:v>
                </c:pt>
                <c:pt idx="4">
                  <c:v>6.2E-2</c:v>
                </c:pt>
                <c:pt idx="5">
                  <c:v>5.3999999999999999E-2</c:v>
                </c:pt>
                <c:pt idx="6">
                  <c:v>3.7999999999999999E-2</c:v>
                </c:pt>
                <c:pt idx="7">
                  <c:v>3.2000000000000001E-2</c:v>
                </c:pt>
                <c:pt idx="8">
                  <c:v>5.6000000000000001E-2</c:v>
                </c:pt>
                <c:pt idx="9">
                  <c:v>3.2000000000000001E-2</c:v>
                </c:pt>
                <c:pt idx="10">
                  <c:v>0.02</c:v>
                </c:pt>
                <c:pt idx="11">
                  <c:v>3.6999999999999998E-2</c:v>
                </c:pt>
                <c:pt idx="12">
                  <c:v>1.6E-2</c:v>
                </c:pt>
                <c:pt idx="13">
                  <c:v>1.9E-2</c:v>
                </c:pt>
                <c:pt idx="14">
                  <c:v>0.17799999999999999</c:v>
                </c:pt>
                <c:pt idx="15">
                  <c:v>0.129</c:v>
                </c:pt>
                <c:pt idx="16">
                  <c:v>6.4000000000000001E-2</c:v>
                </c:pt>
                <c:pt idx="17">
                  <c:v>4.0000000000000001E-3</c:v>
                </c:pt>
                <c:pt idx="18">
                  <c:v>4.5999999999999999E-2</c:v>
                </c:pt>
                <c:pt idx="19">
                  <c:v>3.7999999999999999E-2</c:v>
                </c:pt>
                <c:pt idx="20">
                  <c:v>1.2E-2</c:v>
                </c:pt>
                <c:pt idx="21">
                  <c:v>0.105</c:v>
                </c:pt>
                <c:pt idx="22">
                  <c:v>5.1999999999999998E-2</c:v>
                </c:pt>
                <c:pt idx="23">
                  <c:v>3.5000000000000003E-2</c:v>
                </c:pt>
                <c:pt idx="24">
                  <c:v>5.5E-2</c:v>
                </c:pt>
              </c:numCache>
            </c:numRef>
          </c:val>
          <c:extLst>
            <c:ext xmlns:c16="http://schemas.microsoft.com/office/drawing/2014/chart" uri="{C3380CC4-5D6E-409C-BE32-E72D297353CC}">
              <c16:uniqueId val="{00000000-6DF9-4E78-BA28-F1AE8FE06E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0.2"/>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1968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Text 1"/>
          <p:cNvSpPr/>
          <p:nvPr/>
        </p:nvSpPr>
        <p:spPr>
          <a:xfrm>
            <a:off x="457200" y="1188720"/>
            <a:ext cx="8229600" cy="164592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Minority Class Knowledge Transfer</a:t>
            </a:r>
            <a:endParaRPr lang="en-US" sz="3400" dirty="0"/>
          </a:p>
          <a:p>
            <a:pPr marL="0" indent="0" algn="ctr">
              <a:buNone/>
            </a:pPr>
            <a:r>
              <a:rPr lang="en-US" sz="3400" b="1" dirty="0">
                <a:solidFill>
                  <a:srgbClr val="FFFFFF"/>
                </a:solidFill>
                <a:latin typeface="Calibri" pitchFamily="34" charset="0"/>
                <a:ea typeface="Calibri" pitchFamily="34" charset="-122"/>
                <a:cs typeface="Calibri" pitchFamily="34" charset="-120"/>
              </a:rPr>
              <a:t>under Class Imbalance</a:t>
            </a:r>
            <a:endParaRPr lang="en-US" sz="3400" dirty="0"/>
          </a:p>
        </p:txBody>
      </p:sp>
      <p:sp>
        <p:nvSpPr>
          <p:cNvPr id="4" name="Text 2"/>
          <p:cNvSpPr/>
          <p:nvPr/>
        </p:nvSpPr>
        <p:spPr>
          <a:xfrm>
            <a:off x="457200" y="2926080"/>
            <a:ext cx="8229600" cy="548640"/>
          </a:xfrm>
          <a:prstGeom prst="rect">
            <a:avLst/>
          </a:prstGeom>
          <a:noFill/>
          <a:ln/>
        </p:spPr>
        <p:txBody>
          <a:bodyPr wrap="square" rtlCol="0" anchor="ctr"/>
          <a:lstStyle/>
          <a:p>
            <a:pPr marL="0" indent="0" algn="ctr">
              <a:buNone/>
            </a:pPr>
            <a:r>
              <a:rPr lang="en-US" sz="1500" dirty="0">
                <a:solidFill>
                  <a:srgbClr val="A78BFA"/>
                </a:solidFill>
                <a:latin typeface="Calibri Light" pitchFamily="34" charset="0"/>
                <a:ea typeface="Calibri Light" pitchFamily="34" charset="-122"/>
                <a:cs typeface="Calibri Light" pitchFamily="34" charset="-120"/>
              </a:rPr>
              <a:t>Does a balanced teacher rescue a student trained on imbalanced data?</a:t>
            </a:r>
            <a:endParaRPr lang="en-US" sz="1500" dirty="0"/>
          </a:p>
          <a:p>
            <a:pPr marL="0" indent="0" algn="ctr">
              <a:buNone/>
            </a:pPr>
            <a:r>
              <a:rPr lang="en-US" sz="1500" dirty="0">
                <a:solidFill>
                  <a:srgbClr val="A78BFA"/>
                </a:solidFill>
                <a:latin typeface="Calibri Light" pitchFamily="34" charset="0"/>
                <a:ea typeface="Calibri Light" pitchFamily="34" charset="-122"/>
                <a:cs typeface="Calibri Light" pitchFamily="34" charset="-120"/>
              </a:rPr>
              <a:t>ViT-Tiny · Cats undersampled to 20% · Oxford-IIIT Pet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346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Text 1"/>
          <p:cNvSpPr/>
          <p:nvPr/>
        </p:nvSpPr>
        <p:spPr>
          <a:xfrm>
            <a:off x="365760" y="365760"/>
            <a:ext cx="2286000" cy="1645920"/>
          </a:xfrm>
          <a:prstGeom prst="rect">
            <a:avLst/>
          </a:prstGeom>
          <a:noFill/>
          <a:ln/>
        </p:spPr>
        <p:txBody>
          <a:bodyPr wrap="square" rtlCol="0" anchor="ctr"/>
          <a:lstStyle/>
          <a:p>
            <a:pPr marL="0" indent="0">
              <a:buNone/>
            </a:pPr>
            <a:r>
              <a:rPr lang="en-US" sz="8000" b="1" dirty="0">
                <a:solidFill>
                  <a:srgbClr val="FFFFFF">
                    <a:alpha val="78000"/>
                  </a:srgbClr>
                </a:solidFill>
                <a:latin typeface="Calibri" pitchFamily="34" charset="0"/>
                <a:ea typeface="Calibri" pitchFamily="34" charset="-122"/>
                <a:cs typeface="Calibri" pitchFamily="34" charset="-120"/>
              </a:rPr>
              <a:t>01</a:t>
            </a:r>
            <a:endParaRPr lang="en-US" sz="8000" dirty="0"/>
          </a:p>
        </p:txBody>
      </p:sp>
      <p:sp>
        <p:nvSpPr>
          <p:cNvPr id="4" name="Text 2"/>
          <p:cNvSpPr/>
          <p:nvPr/>
        </p:nvSpPr>
        <p:spPr>
          <a:xfrm>
            <a:off x="365760" y="2240280"/>
            <a:ext cx="832104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Experimental setup</a:t>
            </a:r>
            <a:endParaRPr lang="en-US" sz="2400" dirty="0"/>
          </a:p>
        </p:txBody>
      </p:sp>
      <p:sp>
        <p:nvSpPr>
          <p:cNvPr id="5" name="Text 3"/>
          <p:cNvSpPr/>
          <p:nvPr/>
        </p:nvSpPr>
        <p:spPr>
          <a:xfrm>
            <a:off x="365760" y="2944368"/>
            <a:ext cx="8321040" cy="457200"/>
          </a:xfrm>
          <a:prstGeom prst="rect">
            <a:avLst/>
          </a:prstGeom>
          <a:noFill/>
          <a:ln/>
        </p:spPr>
        <p:txBody>
          <a:bodyPr wrap="square" rtlCol="0" anchor="ctr"/>
          <a:lstStyle/>
          <a:p>
            <a:pPr marL="0" indent="0">
              <a:buNone/>
            </a:pPr>
            <a:r>
              <a:rPr lang="en-US" sz="1300" dirty="0">
                <a:solidFill>
                  <a:srgbClr val="C4B5FD"/>
                </a:solidFill>
                <a:latin typeface="Calibri Light" pitchFamily="34" charset="0"/>
                <a:ea typeface="Calibri Light" pitchFamily="34" charset="-122"/>
                <a:cs typeface="Calibri Light" pitchFamily="34" charset="-120"/>
              </a:rPr>
              <a:t>Teacher sees full balanced data — student trained on 20% cat samples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Setup — what makes this experiment meaningful</a:t>
            </a:r>
            <a:endParaRPr lang="en-US" sz="2100" dirty="0"/>
          </a:p>
        </p:txBody>
      </p:sp>
      <p:sp>
        <p:nvSpPr>
          <p:cNvPr id="3" name="Shape 1"/>
          <p:cNvSpPr/>
          <p:nvPr/>
        </p:nvSpPr>
        <p:spPr>
          <a:xfrm>
            <a:off x="320040" y="841248"/>
            <a:ext cx="3977640" cy="2286000"/>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4" name="Shape 2"/>
          <p:cNvSpPr/>
          <p:nvPr/>
        </p:nvSpPr>
        <p:spPr>
          <a:xfrm>
            <a:off x="320040" y="841248"/>
            <a:ext cx="3977640" cy="54864"/>
          </a:xfrm>
          <a:prstGeom prst="rect">
            <a:avLst/>
          </a:prstGeom>
          <a:solidFill>
            <a:srgbClr val="028090"/>
          </a:solidFill>
          <a:ln w="12700">
            <a:solidFill>
              <a:srgbClr val="028090"/>
            </a:solidFill>
            <a:prstDash val="solid"/>
          </a:ln>
        </p:spPr>
      </p:sp>
      <p:sp>
        <p:nvSpPr>
          <p:cNvPr id="5" name="Text 3"/>
          <p:cNvSpPr/>
          <p:nvPr/>
        </p:nvSpPr>
        <p:spPr>
          <a:xfrm>
            <a:off x="475488" y="969264"/>
            <a:ext cx="3657600" cy="320040"/>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Teacher  ·  ViT-Base (86M)</a:t>
            </a:r>
            <a:endParaRPr lang="en-US" sz="1300" dirty="0"/>
          </a:p>
        </p:txBody>
      </p:sp>
      <p:sp>
        <p:nvSpPr>
          <p:cNvPr id="6" name="Text 4"/>
          <p:cNvSpPr/>
          <p:nvPr/>
        </p:nvSpPr>
        <p:spPr>
          <a:xfrm>
            <a:off x="475488" y="1335024"/>
            <a:ext cx="3657600" cy="1719072"/>
          </a:xfrm>
          <a:prstGeom prst="rect">
            <a:avLst/>
          </a:prstGeom>
          <a:noFill/>
          <a:ln/>
        </p:spPr>
        <p:txBody>
          <a:bodyPr wrap="square" rtlCol="0" anchor="ctr"/>
          <a:lstStyle/>
          <a:p>
            <a:pPr marL="0" indent="0">
              <a:lnSpc>
                <a:spcPct val="135000"/>
              </a:lnSpc>
              <a:buNone/>
            </a:pPr>
            <a:r>
              <a:rPr lang="en-US" sz="1150" dirty="0">
                <a:solidFill>
                  <a:srgbClr val="1E2B38"/>
                </a:solidFill>
                <a:latin typeface="Calibri Light" pitchFamily="34" charset="0"/>
                <a:ea typeface="Calibri Light" pitchFamily="34" charset="-122"/>
                <a:cs typeface="Calibri Light" pitchFamily="34" charset="-120"/>
              </a:rPr>
              <a:t>Trained on FULL balanced dataset</a:t>
            </a:r>
            <a:endParaRPr lang="en-US" sz="1150" dirty="0"/>
          </a:p>
          <a:p>
            <a:pPr marL="0" indent="0">
              <a:lnSpc>
                <a:spcPct val="135000"/>
              </a:lnSpc>
              <a:buNone/>
            </a:pPr>
            <a:r>
              <a:rPr lang="en-US" sz="1150" dirty="0">
                <a:solidFill>
                  <a:srgbClr val="1E2B38"/>
                </a:solidFill>
                <a:latin typeface="Calibri Light" pitchFamily="34" charset="0"/>
                <a:ea typeface="Calibri Light" pitchFamily="34" charset="-122"/>
                <a:cs typeface="Calibri Light" pitchFamily="34" charset="-120"/>
              </a:rPr>
              <a:t>(100% of cat samples + 100% of dogs)</a:t>
            </a:r>
            <a:endParaRPr lang="en-US" sz="1150" dirty="0"/>
          </a:p>
          <a:p>
            <a:pPr marL="0" indent="0">
              <a:lnSpc>
                <a:spcPct val="135000"/>
              </a:lnSpc>
              <a:buNone/>
            </a:pPr>
            <a:endParaRPr lang="en-US" sz="1150" dirty="0"/>
          </a:p>
          <a:p>
            <a:pPr marL="0" indent="0">
              <a:lnSpc>
                <a:spcPct val="135000"/>
              </a:lnSpc>
              <a:buNone/>
            </a:pPr>
            <a:r>
              <a:rPr lang="en-US" sz="1150" dirty="0">
                <a:solidFill>
                  <a:srgbClr val="1E2B38"/>
                </a:solidFill>
                <a:latin typeface="Calibri Light" pitchFamily="34" charset="0"/>
                <a:ea typeface="Calibri Light" pitchFamily="34" charset="-122"/>
                <a:cs typeface="Calibri Light" pitchFamily="34" charset="-120"/>
              </a:rPr>
              <a:t>Has seen every cat breed extensively.</a:t>
            </a:r>
            <a:endParaRPr lang="en-US" sz="1150" dirty="0"/>
          </a:p>
          <a:p>
            <a:pPr marL="0" indent="0">
              <a:lnSpc>
                <a:spcPct val="135000"/>
              </a:lnSpc>
              <a:buNone/>
            </a:pPr>
            <a:r>
              <a:rPr lang="en-US" sz="1150" dirty="0">
                <a:solidFill>
                  <a:srgbClr val="1E2B38"/>
                </a:solidFill>
                <a:latin typeface="Calibri Light" pitchFamily="34" charset="0"/>
                <a:ea typeface="Calibri Light" pitchFamily="34" charset="-122"/>
                <a:cs typeface="Calibri Light" pitchFamily="34" charset="-120"/>
              </a:rPr>
              <a:t>Its soft labels carry complete knowledge of cat breed similarity structure — knowledge the student's training data does not contain.</a:t>
            </a:r>
            <a:endParaRPr lang="en-US" sz="1150" dirty="0"/>
          </a:p>
        </p:txBody>
      </p:sp>
      <p:sp>
        <p:nvSpPr>
          <p:cNvPr id="7" name="Shape 5"/>
          <p:cNvSpPr/>
          <p:nvPr/>
        </p:nvSpPr>
        <p:spPr>
          <a:xfrm>
            <a:off x="4617720" y="841248"/>
            <a:ext cx="4114800" cy="2286000"/>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8" name="Shape 6"/>
          <p:cNvSpPr/>
          <p:nvPr/>
        </p:nvSpPr>
        <p:spPr>
          <a:xfrm>
            <a:off x="4617720" y="841248"/>
            <a:ext cx="4114800" cy="54864"/>
          </a:xfrm>
          <a:prstGeom prst="rect">
            <a:avLst/>
          </a:prstGeom>
          <a:solidFill>
            <a:srgbClr val="7C3AED"/>
          </a:solidFill>
          <a:ln w="12700">
            <a:solidFill>
              <a:srgbClr val="7C3AED"/>
            </a:solidFill>
            <a:prstDash val="solid"/>
          </a:ln>
        </p:spPr>
      </p:sp>
      <p:sp>
        <p:nvSpPr>
          <p:cNvPr id="9" name="Text 7"/>
          <p:cNvSpPr/>
          <p:nvPr/>
        </p:nvSpPr>
        <p:spPr>
          <a:xfrm>
            <a:off x="4773168" y="969264"/>
            <a:ext cx="3749040" cy="320040"/>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Student  ·  ViT-Tiny (5.7M)</a:t>
            </a:r>
            <a:endParaRPr lang="en-US" sz="1300" dirty="0"/>
          </a:p>
        </p:txBody>
      </p:sp>
      <p:sp>
        <p:nvSpPr>
          <p:cNvPr id="10" name="Text 8"/>
          <p:cNvSpPr/>
          <p:nvPr/>
        </p:nvSpPr>
        <p:spPr>
          <a:xfrm>
            <a:off x="4773168" y="1335024"/>
            <a:ext cx="3749040" cy="1719072"/>
          </a:xfrm>
          <a:prstGeom prst="rect">
            <a:avLst/>
          </a:prstGeom>
          <a:noFill/>
          <a:ln/>
        </p:spPr>
        <p:txBody>
          <a:bodyPr wrap="square" rtlCol="0" anchor="ctr"/>
          <a:lstStyle/>
          <a:p>
            <a:pPr marL="0" indent="0">
              <a:lnSpc>
                <a:spcPct val="135000"/>
              </a:lnSpc>
              <a:buNone/>
            </a:pPr>
            <a:r>
              <a:rPr lang="en-US" sz="1150" dirty="0">
                <a:solidFill>
                  <a:srgbClr val="1E2B38"/>
                </a:solidFill>
                <a:latin typeface="Calibri Light" pitchFamily="34" charset="0"/>
                <a:ea typeface="Calibri Light" pitchFamily="34" charset="-122"/>
                <a:cs typeface="Calibri Light" pitchFamily="34" charset="-120"/>
              </a:rPr>
              <a:t>Trained with ONLY 20% of cat samples</a:t>
            </a:r>
            <a:endParaRPr lang="en-US" sz="1150" dirty="0"/>
          </a:p>
          <a:p>
            <a:pPr marL="0" indent="0">
              <a:lnSpc>
                <a:spcPct val="135000"/>
              </a:lnSpc>
              <a:buNone/>
            </a:pPr>
            <a:r>
              <a:rPr lang="en-US" sz="1150" dirty="0">
                <a:solidFill>
                  <a:srgbClr val="1E2B38"/>
                </a:solidFill>
                <a:latin typeface="Calibri Light" pitchFamily="34" charset="0"/>
                <a:ea typeface="Calibri Light" pitchFamily="34" charset="-122"/>
                <a:cs typeface="Calibri Light" pitchFamily="34" charset="-120"/>
              </a:rPr>
              <a:t>(severe underrepresentation)</a:t>
            </a:r>
            <a:endParaRPr lang="en-US" sz="1150" dirty="0"/>
          </a:p>
          <a:p>
            <a:pPr marL="0" indent="0">
              <a:lnSpc>
                <a:spcPct val="135000"/>
              </a:lnSpc>
              <a:buNone/>
            </a:pPr>
            <a:endParaRPr lang="en-US" sz="1150" dirty="0"/>
          </a:p>
          <a:p>
            <a:pPr marL="0" indent="0">
              <a:lnSpc>
                <a:spcPct val="135000"/>
              </a:lnSpc>
              <a:buNone/>
            </a:pPr>
            <a:r>
              <a:rPr lang="en-US" sz="1150" dirty="0">
                <a:solidFill>
                  <a:srgbClr val="1E2B38"/>
                </a:solidFill>
                <a:latin typeface="Calibri Light" pitchFamily="34" charset="0"/>
                <a:ea typeface="Calibri Light" pitchFamily="34" charset="-122"/>
                <a:cs typeface="Calibri Light" pitchFamily="34" charset="-120"/>
              </a:rPr>
              <a:t>Without distillation: oversampling used to partially compensate.</a:t>
            </a:r>
            <a:endParaRPr lang="en-US" sz="1150" dirty="0"/>
          </a:p>
          <a:p>
            <a:pPr marL="0" indent="0">
              <a:lnSpc>
                <a:spcPct val="135000"/>
              </a:lnSpc>
              <a:buNone/>
            </a:pPr>
            <a:r>
              <a:rPr lang="en-US" sz="1150" dirty="0">
                <a:solidFill>
                  <a:srgbClr val="1E2B38"/>
                </a:solidFill>
                <a:latin typeface="Calibri Light" pitchFamily="34" charset="0"/>
                <a:ea typeface="Calibri Light" pitchFamily="34" charset="-122"/>
                <a:cs typeface="Calibri Light" pitchFamily="34" charset="-120"/>
              </a:rPr>
              <a:t>With distillation: teacher soft labels provide implicit knowledge of full cat distribution.</a:t>
            </a:r>
            <a:endParaRPr lang="en-US" sz="1150" dirty="0"/>
          </a:p>
        </p:txBody>
      </p:sp>
      <p:sp>
        <p:nvSpPr>
          <p:cNvPr id="11" name="Shape 9"/>
          <p:cNvSpPr/>
          <p:nvPr/>
        </p:nvSpPr>
        <p:spPr>
          <a:xfrm>
            <a:off x="320040" y="3246120"/>
            <a:ext cx="8366760" cy="1691640"/>
          </a:xfrm>
          <a:prstGeom prst="rect">
            <a:avLst/>
          </a:prstGeom>
          <a:solidFill>
            <a:srgbClr val="F5F3FF"/>
          </a:solidFill>
          <a:ln w="10160">
            <a:solidFill>
              <a:srgbClr val="7C3AED"/>
            </a:solidFill>
            <a:prstDash val="solid"/>
          </a:ln>
        </p:spPr>
      </p:sp>
      <p:sp>
        <p:nvSpPr>
          <p:cNvPr id="12" name="Text 10"/>
          <p:cNvSpPr/>
          <p:nvPr/>
        </p:nvSpPr>
        <p:spPr>
          <a:xfrm>
            <a:off x="502920" y="3337560"/>
            <a:ext cx="2743200" cy="320040"/>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The key question</a:t>
            </a:r>
            <a:endParaRPr lang="en-US" sz="1200" dirty="0"/>
          </a:p>
        </p:txBody>
      </p:sp>
      <p:sp>
        <p:nvSpPr>
          <p:cNvPr id="13" name="Text 11"/>
          <p:cNvSpPr/>
          <p:nvPr/>
        </p:nvSpPr>
        <p:spPr>
          <a:xfrm>
            <a:off x="502920" y="3694176"/>
            <a:ext cx="8046720" cy="1170432"/>
          </a:xfrm>
          <a:prstGeom prst="rect">
            <a:avLst/>
          </a:prstGeom>
          <a:noFill/>
          <a:ln/>
        </p:spPr>
        <p:txBody>
          <a:bodyPr wrap="square" rtlCol="0" anchor="ctr"/>
          <a:lstStyle/>
          <a:p>
            <a:pPr marL="0" indent="0">
              <a:lnSpc>
                <a:spcPct val="135000"/>
              </a:lnSpc>
              <a:buNone/>
            </a:pPr>
            <a:r>
              <a:rPr lang="en-US" sz="1200" dirty="0">
                <a:solidFill>
                  <a:srgbClr val="1E2B38"/>
                </a:solidFill>
                <a:latin typeface="Calibri Light" pitchFamily="34" charset="0"/>
                <a:ea typeface="Calibri Light" pitchFamily="34" charset="-122"/>
                <a:cs typeface="Calibri Light" pitchFamily="34" charset="-120"/>
              </a:rPr>
              <a:t>Can the teacher's soft labels — which encode full knowledge of the minority cat classes — compensate for the student's training data deficit?</a:t>
            </a:r>
            <a:endParaRPr lang="en-US" sz="1200" dirty="0"/>
          </a:p>
          <a:p>
            <a:pPr marL="0" indent="0">
              <a:lnSpc>
                <a:spcPct val="135000"/>
              </a:lnSpc>
              <a:buNone/>
            </a:pPr>
            <a:r>
              <a:rPr lang="en-US" sz="1200" dirty="0">
                <a:solidFill>
                  <a:srgbClr val="1E2B38"/>
                </a:solidFill>
                <a:latin typeface="Calibri Light" pitchFamily="34" charset="0"/>
                <a:ea typeface="Calibri Light" pitchFamily="34" charset="-122"/>
                <a:cs typeface="Calibri Light" pitchFamily="34" charset="-120"/>
              </a:rPr>
              <a:t>Does distillation provide a larger benefit to underrepresented (cat) classes than to well-represented (dog) classes?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346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Text 1"/>
          <p:cNvSpPr/>
          <p:nvPr/>
        </p:nvSpPr>
        <p:spPr>
          <a:xfrm>
            <a:off x="365760" y="365760"/>
            <a:ext cx="2286000" cy="1645920"/>
          </a:xfrm>
          <a:prstGeom prst="rect">
            <a:avLst/>
          </a:prstGeom>
          <a:noFill/>
          <a:ln/>
        </p:spPr>
        <p:txBody>
          <a:bodyPr wrap="square" rtlCol="0" anchor="ctr"/>
          <a:lstStyle/>
          <a:p>
            <a:pPr marL="0" indent="0">
              <a:buNone/>
            </a:pPr>
            <a:r>
              <a:rPr lang="en-US" sz="8000" b="1" dirty="0">
                <a:solidFill>
                  <a:srgbClr val="FFFFFF">
                    <a:alpha val="78000"/>
                  </a:srgbClr>
                </a:solidFill>
                <a:latin typeface="Calibri" pitchFamily="34" charset="0"/>
                <a:ea typeface="Calibri" pitchFamily="34" charset="-122"/>
                <a:cs typeface="Calibri" pitchFamily="34" charset="-120"/>
              </a:rPr>
              <a:t>02</a:t>
            </a:r>
            <a:endParaRPr lang="en-US" sz="8000" dirty="0"/>
          </a:p>
        </p:txBody>
      </p:sp>
      <p:sp>
        <p:nvSpPr>
          <p:cNvPr id="4" name="Text 2"/>
          <p:cNvSpPr/>
          <p:nvPr/>
        </p:nvSpPr>
        <p:spPr>
          <a:xfrm>
            <a:off x="365760" y="2240280"/>
            <a:ext cx="832104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Overall performance</a:t>
            </a:r>
            <a:endParaRPr lang="en-US" sz="2400" dirty="0"/>
          </a:p>
        </p:txBody>
      </p:sp>
      <p:sp>
        <p:nvSpPr>
          <p:cNvPr id="5" name="Text 3"/>
          <p:cNvSpPr/>
          <p:nvPr/>
        </p:nvSpPr>
        <p:spPr>
          <a:xfrm>
            <a:off x="365760" y="2944368"/>
            <a:ext cx="8321040" cy="457200"/>
          </a:xfrm>
          <a:prstGeom prst="rect">
            <a:avLst/>
          </a:prstGeom>
          <a:noFill/>
          <a:ln/>
        </p:spPr>
        <p:txBody>
          <a:bodyPr wrap="square" rtlCol="0" anchor="ctr"/>
          <a:lstStyle/>
          <a:p>
            <a:pPr marL="0" indent="0">
              <a:buNone/>
            </a:pPr>
            <a:r>
              <a:rPr lang="en-US" sz="1300" dirty="0">
                <a:solidFill>
                  <a:srgbClr val="C4B5FD"/>
                </a:solidFill>
                <a:latin typeface="Calibri Light" pitchFamily="34" charset="0"/>
                <a:ea typeface="Calibri Light" pitchFamily="34" charset="-122"/>
                <a:cs typeface="Calibri Light" pitchFamily="34" charset="-120"/>
              </a:rPr>
              <a:t>Direct finetuning with oversampling vs distillation from balanced teacher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Overall accuracy and F1 — imbalanced training, full test set</a:t>
            </a:r>
            <a:endParaRPr lang="en-US" sz="2100" dirty="0"/>
          </a:p>
        </p:txBody>
      </p:sp>
      <p:sp>
        <p:nvSpPr>
          <p:cNvPr id="3" name="Shape 1"/>
          <p:cNvSpPr/>
          <p:nvPr/>
        </p:nvSpPr>
        <p:spPr>
          <a:xfrm>
            <a:off x="320040" y="841248"/>
            <a:ext cx="1920240" cy="1353312"/>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4" name="Shape 2"/>
          <p:cNvSpPr/>
          <p:nvPr/>
        </p:nvSpPr>
        <p:spPr>
          <a:xfrm>
            <a:off x="320040" y="841248"/>
            <a:ext cx="1920240" cy="54864"/>
          </a:xfrm>
          <a:prstGeom prst="rect">
            <a:avLst/>
          </a:prstGeom>
          <a:solidFill>
            <a:srgbClr val="C2410C"/>
          </a:solidFill>
          <a:ln w="12700">
            <a:solidFill>
              <a:srgbClr val="C2410C"/>
            </a:solidFill>
            <a:prstDash val="solid"/>
          </a:ln>
        </p:spPr>
      </p:sp>
      <p:sp>
        <p:nvSpPr>
          <p:cNvPr id="5" name="Text 3"/>
          <p:cNvSpPr/>
          <p:nvPr/>
        </p:nvSpPr>
        <p:spPr>
          <a:xfrm>
            <a:off x="448056" y="969264"/>
            <a:ext cx="1664208" cy="530352"/>
          </a:xfrm>
          <a:prstGeom prst="rect">
            <a:avLst/>
          </a:prstGeom>
          <a:noFill/>
          <a:ln/>
        </p:spPr>
        <p:txBody>
          <a:bodyPr wrap="square" lIns="0" tIns="0" rIns="0" bIns="0" rtlCol="0" anchor="ctr"/>
          <a:lstStyle/>
          <a:p>
            <a:pPr marL="0" indent="0">
              <a:buNone/>
            </a:pPr>
            <a:r>
              <a:rPr lang="en-US" sz="2600" b="1" dirty="0">
                <a:solidFill>
                  <a:srgbClr val="C2410C"/>
                </a:solidFill>
                <a:latin typeface="Calibri" pitchFamily="34" charset="0"/>
                <a:ea typeface="Calibri" pitchFamily="34" charset="-122"/>
                <a:cs typeface="Calibri" pitchFamily="34" charset="-120"/>
              </a:rPr>
              <a:t>79.48%</a:t>
            </a:r>
            <a:endParaRPr lang="en-US" sz="2600" dirty="0"/>
          </a:p>
        </p:txBody>
      </p:sp>
      <p:sp>
        <p:nvSpPr>
          <p:cNvPr id="6" name="Text 4"/>
          <p:cNvSpPr/>
          <p:nvPr/>
        </p:nvSpPr>
        <p:spPr>
          <a:xfrm>
            <a:off x="448056" y="1481328"/>
            <a:ext cx="1664208" cy="640080"/>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Direct finetune</a:t>
            </a:r>
            <a:endParaRPr lang="en-US" sz="1000" dirty="0"/>
          </a:p>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accuracy (oversampling)</a:t>
            </a:r>
            <a:endParaRPr lang="en-US" sz="1000" dirty="0"/>
          </a:p>
        </p:txBody>
      </p:sp>
      <p:sp>
        <p:nvSpPr>
          <p:cNvPr id="7" name="Shape 5"/>
          <p:cNvSpPr/>
          <p:nvPr/>
        </p:nvSpPr>
        <p:spPr>
          <a:xfrm>
            <a:off x="2377440" y="841248"/>
            <a:ext cx="1920240" cy="1353312"/>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8" name="Shape 6"/>
          <p:cNvSpPr/>
          <p:nvPr/>
        </p:nvSpPr>
        <p:spPr>
          <a:xfrm>
            <a:off x="2377440" y="841248"/>
            <a:ext cx="1920240" cy="54864"/>
          </a:xfrm>
          <a:prstGeom prst="rect">
            <a:avLst/>
          </a:prstGeom>
          <a:solidFill>
            <a:srgbClr val="7C3AED"/>
          </a:solidFill>
          <a:ln w="12700">
            <a:solidFill>
              <a:srgbClr val="7C3AED"/>
            </a:solidFill>
            <a:prstDash val="solid"/>
          </a:ln>
        </p:spPr>
      </p:sp>
      <p:sp>
        <p:nvSpPr>
          <p:cNvPr id="9" name="Text 7"/>
          <p:cNvSpPr/>
          <p:nvPr/>
        </p:nvSpPr>
        <p:spPr>
          <a:xfrm>
            <a:off x="2505456" y="969264"/>
            <a:ext cx="1664208" cy="530352"/>
          </a:xfrm>
          <a:prstGeom prst="rect">
            <a:avLst/>
          </a:prstGeom>
          <a:noFill/>
          <a:ln/>
        </p:spPr>
        <p:txBody>
          <a:bodyPr wrap="square" lIns="0" tIns="0" rIns="0" bIns="0" rtlCol="0" anchor="ctr"/>
          <a:lstStyle/>
          <a:p>
            <a:pPr marL="0" indent="0">
              <a:buNone/>
            </a:pPr>
            <a:r>
              <a:rPr lang="en-US" sz="2600" b="1" dirty="0">
                <a:solidFill>
                  <a:srgbClr val="7C3AED"/>
                </a:solidFill>
                <a:latin typeface="Calibri" pitchFamily="34" charset="0"/>
                <a:ea typeface="Calibri" pitchFamily="34" charset="-122"/>
                <a:cs typeface="Calibri" pitchFamily="34" charset="-120"/>
              </a:rPr>
              <a:t>85.31%</a:t>
            </a:r>
            <a:endParaRPr lang="en-US" sz="2600" dirty="0"/>
          </a:p>
        </p:txBody>
      </p:sp>
      <p:sp>
        <p:nvSpPr>
          <p:cNvPr id="10" name="Text 8"/>
          <p:cNvSpPr/>
          <p:nvPr/>
        </p:nvSpPr>
        <p:spPr>
          <a:xfrm>
            <a:off x="2505456" y="1481328"/>
            <a:ext cx="1664208" cy="640080"/>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Distillation</a:t>
            </a:r>
            <a:endParaRPr lang="en-US" sz="1000" dirty="0"/>
          </a:p>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Accuracy (oversampling)</a:t>
            </a:r>
            <a:endParaRPr lang="en-US" sz="1000" dirty="0"/>
          </a:p>
        </p:txBody>
      </p:sp>
      <p:sp>
        <p:nvSpPr>
          <p:cNvPr id="11" name="Shape 9"/>
          <p:cNvSpPr/>
          <p:nvPr/>
        </p:nvSpPr>
        <p:spPr>
          <a:xfrm>
            <a:off x="4434840" y="841248"/>
            <a:ext cx="1920240" cy="1353312"/>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12" name="Shape 10"/>
          <p:cNvSpPr/>
          <p:nvPr/>
        </p:nvSpPr>
        <p:spPr>
          <a:xfrm>
            <a:off x="4434840" y="841248"/>
            <a:ext cx="1920240" cy="54864"/>
          </a:xfrm>
          <a:prstGeom prst="rect">
            <a:avLst/>
          </a:prstGeom>
          <a:solidFill>
            <a:srgbClr val="0F766E"/>
          </a:solidFill>
          <a:ln w="12700">
            <a:solidFill>
              <a:srgbClr val="0F766E"/>
            </a:solidFill>
            <a:prstDash val="solid"/>
          </a:ln>
        </p:spPr>
      </p:sp>
      <p:sp>
        <p:nvSpPr>
          <p:cNvPr id="13" name="Text 11"/>
          <p:cNvSpPr/>
          <p:nvPr/>
        </p:nvSpPr>
        <p:spPr>
          <a:xfrm>
            <a:off x="4562856" y="969264"/>
            <a:ext cx="1664208" cy="530352"/>
          </a:xfrm>
          <a:prstGeom prst="rect">
            <a:avLst/>
          </a:prstGeom>
          <a:noFill/>
          <a:ln/>
        </p:spPr>
        <p:txBody>
          <a:bodyPr wrap="square" lIns="0" tIns="0" rIns="0" bIns="0" rtlCol="0" anchor="ctr"/>
          <a:lstStyle/>
          <a:p>
            <a:pPr marL="0" indent="0">
              <a:buNone/>
            </a:pPr>
            <a:r>
              <a:rPr lang="en-US" sz="2600" b="1" dirty="0">
                <a:solidFill>
                  <a:srgbClr val="0F766E"/>
                </a:solidFill>
                <a:latin typeface="Calibri" pitchFamily="34" charset="0"/>
                <a:ea typeface="Calibri" pitchFamily="34" charset="-122"/>
                <a:cs typeface="Calibri" pitchFamily="34" charset="-120"/>
              </a:rPr>
              <a:t>+5.83pt</a:t>
            </a:r>
            <a:endParaRPr lang="en-US" sz="2600" dirty="0"/>
          </a:p>
        </p:txBody>
      </p:sp>
      <p:sp>
        <p:nvSpPr>
          <p:cNvPr id="14" name="Text 12"/>
          <p:cNvSpPr/>
          <p:nvPr/>
        </p:nvSpPr>
        <p:spPr>
          <a:xfrm>
            <a:off x="4562856" y="1481328"/>
            <a:ext cx="1664208" cy="640080"/>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Accuracy gain</a:t>
            </a:r>
            <a:endParaRPr lang="en-US" sz="1000" dirty="0"/>
          </a:p>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from distillation</a:t>
            </a:r>
            <a:endParaRPr lang="en-US" sz="1000" dirty="0"/>
          </a:p>
        </p:txBody>
      </p:sp>
      <p:sp>
        <p:nvSpPr>
          <p:cNvPr id="15" name="Shape 13"/>
          <p:cNvSpPr/>
          <p:nvPr/>
        </p:nvSpPr>
        <p:spPr>
          <a:xfrm>
            <a:off x="6492240" y="841248"/>
            <a:ext cx="2240280" cy="1353312"/>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16" name="Shape 14"/>
          <p:cNvSpPr/>
          <p:nvPr/>
        </p:nvSpPr>
        <p:spPr>
          <a:xfrm>
            <a:off x="6492240" y="841248"/>
            <a:ext cx="2240280" cy="54864"/>
          </a:xfrm>
          <a:prstGeom prst="rect">
            <a:avLst/>
          </a:prstGeom>
          <a:solidFill>
            <a:srgbClr val="028090"/>
          </a:solidFill>
          <a:ln w="12700">
            <a:solidFill>
              <a:srgbClr val="028090"/>
            </a:solidFill>
            <a:prstDash val="solid"/>
          </a:ln>
        </p:spPr>
      </p:sp>
      <p:sp>
        <p:nvSpPr>
          <p:cNvPr id="17" name="Text 15"/>
          <p:cNvSpPr/>
          <p:nvPr/>
        </p:nvSpPr>
        <p:spPr>
          <a:xfrm>
            <a:off x="6620256" y="969264"/>
            <a:ext cx="1984248" cy="530352"/>
          </a:xfrm>
          <a:prstGeom prst="rect">
            <a:avLst/>
          </a:prstGeom>
          <a:noFill/>
          <a:ln/>
        </p:spPr>
        <p:txBody>
          <a:bodyPr wrap="square" lIns="0" tIns="0" rIns="0" bIns="0" rtlCol="0" anchor="ctr"/>
          <a:lstStyle/>
          <a:p>
            <a:pPr marL="0" indent="0">
              <a:buNone/>
            </a:pPr>
            <a:r>
              <a:rPr lang="en-US" sz="2600" b="1" dirty="0">
                <a:solidFill>
                  <a:srgbClr val="028090"/>
                </a:solidFill>
                <a:latin typeface="Calibri" pitchFamily="34" charset="0"/>
                <a:ea typeface="Calibri" pitchFamily="34" charset="-122"/>
                <a:cs typeface="Calibri" pitchFamily="34" charset="-120"/>
              </a:rPr>
              <a:t>−10.7min</a:t>
            </a:r>
            <a:endParaRPr lang="en-US" sz="2600" dirty="0"/>
          </a:p>
        </p:txBody>
      </p:sp>
      <p:sp>
        <p:nvSpPr>
          <p:cNvPr id="18" name="Text 16"/>
          <p:cNvSpPr/>
          <p:nvPr/>
        </p:nvSpPr>
        <p:spPr>
          <a:xfrm>
            <a:off x="6620256" y="1481328"/>
            <a:ext cx="1984248" cy="640080"/>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Less training time</a:t>
            </a:r>
            <a:endParaRPr lang="en-US" sz="1000" dirty="0"/>
          </a:p>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(82.7 vs 93.4 min)</a:t>
            </a:r>
            <a:endParaRPr lang="en-US" sz="1000" dirty="0"/>
          </a:p>
        </p:txBody>
      </p:sp>
      <p:sp>
        <p:nvSpPr>
          <p:cNvPr id="19" name="Shape 17"/>
          <p:cNvSpPr/>
          <p:nvPr/>
        </p:nvSpPr>
        <p:spPr>
          <a:xfrm>
            <a:off x="320040" y="2331720"/>
            <a:ext cx="1920240" cy="1234440"/>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20" name="Shape 18"/>
          <p:cNvSpPr/>
          <p:nvPr/>
        </p:nvSpPr>
        <p:spPr>
          <a:xfrm>
            <a:off x="320040" y="2331720"/>
            <a:ext cx="1920240" cy="54864"/>
          </a:xfrm>
          <a:prstGeom prst="rect">
            <a:avLst/>
          </a:prstGeom>
          <a:solidFill>
            <a:srgbClr val="C2410C"/>
          </a:solidFill>
          <a:ln w="12700">
            <a:solidFill>
              <a:srgbClr val="C2410C"/>
            </a:solidFill>
            <a:prstDash val="solid"/>
          </a:ln>
        </p:spPr>
      </p:sp>
      <p:sp>
        <p:nvSpPr>
          <p:cNvPr id="21" name="Text 19"/>
          <p:cNvSpPr/>
          <p:nvPr/>
        </p:nvSpPr>
        <p:spPr>
          <a:xfrm>
            <a:off x="448056" y="2459736"/>
            <a:ext cx="1664208" cy="530352"/>
          </a:xfrm>
          <a:prstGeom prst="rect">
            <a:avLst/>
          </a:prstGeom>
          <a:noFill/>
          <a:ln/>
        </p:spPr>
        <p:txBody>
          <a:bodyPr wrap="square" lIns="0" tIns="0" rIns="0" bIns="0" rtlCol="0" anchor="ctr"/>
          <a:lstStyle/>
          <a:p>
            <a:pPr marL="0" indent="0">
              <a:buNone/>
            </a:pPr>
            <a:r>
              <a:rPr lang="en-US" sz="2600" b="1" dirty="0">
                <a:solidFill>
                  <a:srgbClr val="C2410C"/>
                </a:solidFill>
                <a:latin typeface="Calibri" pitchFamily="34" charset="0"/>
                <a:ea typeface="Calibri" pitchFamily="34" charset="-122"/>
                <a:cs typeface="Calibri" pitchFamily="34" charset="-120"/>
              </a:rPr>
              <a:t>78.99%</a:t>
            </a:r>
            <a:endParaRPr lang="en-US" sz="2600" dirty="0"/>
          </a:p>
        </p:txBody>
      </p:sp>
      <p:sp>
        <p:nvSpPr>
          <p:cNvPr id="22" name="Text 20"/>
          <p:cNvSpPr/>
          <p:nvPr/>
        </p:nvSpPr>
        <p:spPr>
          <a:xfrm>
            <a:off x="448056" y="2971800"/>
            <a:ext cx="1664208" cy="521208"/>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Direct macro F1</a:t>
            </a:r>
            <a:endParaRPr lang="en-US" sz="1000" dirty="0"/>
          </a:p>
        </p:txBody>
      </p:sp>
      <p:sp>
        <p:nvSpPr>
          <p:cNvPr id="23" name="Shape 21"/>
          <p:cNvSpPr/>
          <p:nvPr/>
        </p:nvSpPr>
        <p:spPr>
          <a:xfrm>
            <a:off x="2377440" y="2331720"/>
            <a:ext cx="1920240" cy="1234440"/>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24" name="Shape 22"/>
          <p:cNvSpPr/>
          <p:nvPr/>
        </p:nvSpPr>
        <p:spPr>
          <a:xfrm>
            <a:off x="2377440" y="2331720"/>
            <a:ext cx="1920240" cy="54864"/>
          </a:xfrm>
          <a:prstGeom prst="rect">
            <a:avLst/>
          </a:prstGeom>
          <a:solidFill>
            <a:srgbClr val="7C3AED"/>
          </a:solidFill>
          <a:ln w="12700">
            <a:solidFill>
              <a:srgbClr val="7C3AED"/>
            </a:solidFill>
            <a:prstDash val="solid"/>
          </a:ln>
        </p:spPr>
      </p:sp>
      <p:sp>
        <p:nvSpPr>
          <p:cNvPr id="25" name="Text 23"/>
          <p:cNvSpPr/>
          <p:nvPr/>
        </p:nvSpPr>
        <p:spPr>
          <a:xfrm>
            <a:off x="2505456" y="2459736"/>
            <a:ext cx="1664208" cy="530352"/>
          </a:xfrm>
          <a:prstGeom prst="rect">
            <a:avLst/>
          </a:prstGeom>
          <a:noFill/>
          <a:ln/>
        </p:spPr>
        <p:txBody>
          <a:bodyPr wrap="square" lIns="0" tIns="0" rIns="0" bIns="0" rtlCol="0" anchor="ctr"/>
          <a:lstStyle/>
          <a:p>
            <a:pPr marL="0" indent="0">
              <a:buNone/>
            </a:pPr>
            <a:r>
              <a:rPr lang="en-US" sz="2600" b="1" dirty="0">
                <a:solidFill>
                  <a:srgbClr val="7C3AED"/>
                </a:solidFill>
                <a:latin typeface="Calibri" pitchFamily="34" charset="0"/>
                <a:ea typeface="Calibri" pitchFamily="34" charset="-122"/>
                <a:cs typeface="Calibri" pitchFamily="34" charset="-120"/>
              </a:rPr>
              <a:t>85.13%</a:t>
            </a:r>
            <a:endParaRPr lang="en-US" sz="2600" dirty="0"/>
          </a:p>
        </p:txBody>
      </p:sp>
      <p:sp>
        <p:nvSpPr>
          <p:cNvPr id="26" name="Text 24"/>
          <p:cNvSpPr/>
          <p:nvPr/>
        </p:nvSpPr>
        <p:spPr>
          <a:xfrm>
            <a:off x="2505456" y="2971800"/>
            <a:ext cx="1664208" cy="521208"/>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Distilled macro F1</a:t>
            </a:r>
            <a:endParaRPr lang="en-US" sz="1000" dirty="0"/>
          </a:p>
        </p:txBody>
      </p:sp>
      <p:sp>
        <p:nvSpPr>
          <p:cNvPr id="27" name="Shape 25"/>
          <p:cNvSpPr/>
          <p:nvPr/>
        </p:nvSpPr>
        <p:spPr>
          <a:xfrm>
            <a:off x="4434840" y="2331720"/>
            <a:ext cx="1920240" cy="1234440"/>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28" name="Shape 26"/>
          <p:cNvSpPr/>
          <p:nvPr/>
        </p:nvSpPr>
        <p:spPr>
          <a:xfrm>
            <a:off x="4434840" y="2331720"/>
            <a:ext cx="1920240" cy="54864"/>
          </a:xfrm>
          <a:prstGeom prst="rect">
            <a:avLst/>
          </a:prstGeom>
          <a:solidFill>
            <a:srgbClr val="0F766E"/>
          </a:solidFill>
          <a:ln w="12700">
            <a:solidFill>
              <a:srgbClr val="0F766E"/>
            </a:solidFill>
            <a:prstDash val="solid"/>
          </a:ln>
        </p:spPr>
      </p:sp>
      <p:sp>
        <p:nvSpPr>
          <p:cNvPr id="29" name="Text 27"/>
          <p:cNvSpPr/>
          <p:nvPr/>
        </p:nvSpPr>
        <p:spPr>
          <a:xfrm>
            <a:off x="4562856" y="2459736"/>
            <a:ext cx="1664208" cy="530352"/>
          </a:xfrm>
          <a:prstGeom prst="rect">
            <a:avLst/>
          </a:prstGeom>
          <a:noFill/>
          <a:ln/>
        </p:spPr>
        <p:txBody>
          <a:bodyPr wrap="square" lIns="0" tIns="0" rIns="0" bIns="0" rtlCol="0" anchor="ctr"/>
          <a:lstStyle/>
          <a:p>
            <a:pPr marL="0" indent="0">
              <a:buNone/>
            </a:pPr>
            <a:r>
              <a:rPr lang="en-US" sz="2600" b="1" dirty="0">
                <a:solidFill>
                  <a:srgbClr val="0F766E"/>
                </a:solidFill>
                <a:latin typeface="Calibri" pitchFamily="34" charset="0"/>
                <a:ea typeface="Calibri" pitchFamily="34" charset="-122"/>
                <a:cs typeface="Calibri" pitchFamily="34" charset="-120"/>
              </a:rPr>
              <a:t>+6.14pt</a:t>
            </a:r>
            <a:endParaRPr lang="en-US" sz="2600" dirty="0"/>
          </a:p>
        </p:txBody>
      </p:sp>
      <p:sp>
        <p:nvSpPr>
          <p:cNvPr id="30" name="Text 28"/>
          <p:cNvSpPr/>
          <p:nvPr/>
        </p:nvSpPr>
        <p:spPr>
          <a:xfrm>
            <a:off x="4562856" y="2971800"/>
            <a:ext cx="1664208" cy="521208"/>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F1 gain</a:t>
            </a:r>
            <a:endParaRPr lang="en-US" sz="1000" dirty="0"/>
          </a:p>
        </p:txBody>
      </p:sp>
      <p:sp>
        <p:nvSpPr>
          <p:cNvPr id="31" name="Shape 29"/>
          <p:cNvSpPr/>
          <p:nvPr/>
        </p:nvSpPr>
        <p:spPr>
          <a:xfrm>
            <a:off x="6492240" y="2331720"/>
            <a:ext cx="2240280" cy="1234440"/>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32" name="Shape 30"/>
          <p:cNvSpPr/>
          <p:nvPr/>
        </p:nvSpPr>
        <p:spPr>
          <a:xfrm>
            <a:off x="6492240" y="2331720"/>
            <a:ext cx="2240280" cy="54864"/>
          </a:xfrm>
          <a:prstGeom prst="rect">
            <a:avLst/>
          </a:prstGeom>
          <a:solidFill>
            <a:srgbClr val="0F3460"/>
          </a:solidFill>
          <a:ln w="12700">
            <a:solidFill>
              <a:srgbClr val="0F3460"/>
            </a:solidFill>
            <a:prstDash val="solid"/>
          </a:ln>
        </p:spPr>
      </p:sp>
      <p:sp>
        <p:nvSpPr>
          <p:cNvPr id="33" name="Text 31"/>
          <p:cNvSpPr/>
          <p:nvPr/>
        </p:nvSpPr>
        <p:spPr>
          <a:xfrm>
            <a:off x="6620256" y="2459736"/>
            <a:ext cx="1984248" cy="530352"/>
          </a:xfrm>
          <a:prstGeom prst="rect">
            <a:avLst/>
          </a:prstGeom>
          <a:noFill/>
          <a:ln/>
        </p:spPr>
        <p:txBody>
          <a:bodyPr wrap="square" lIns="0" tIns="0" rIns="0" bIns="0" rtlCol="0" anchor="ctr"/>
          <a:lstStyle/>
          <a:p>
            <a:pPr marL="0" indent="0">
              <a:buNone/>
            </a:pPr>
            <a:r>
              <a:rPr lang="en-US" sz="2600" b="1" dirty="0">
                <a:solidFill>
                  <a:srgbClr val="0F3460"/>
                </a:solidFill>
                <a:latin typeface="Calibri" pitchFamily="34" charset="0"/>
                <a:ea typeface="Calibri" pitchFamily="34" charset="-122"/>
                <a:cs typeface="Calibri" pitchFamily="34" charset="-120"/>
              </a:rPr>
              <a:t>0 classes</a:t>
            </a:r>
            <a:endParaRPr lang="en-US" sz="2600" dirty="0"/>
          </a:p>
        </p:txBody>
      </p:sp>
      <p:sp>
        <p:nvSpPr>
          <p:cNvPr id="34" name="Text 32"/>
          <p:cNvSpPr/>
          <p:nvPr/>
        </p:nvSpPr>
        <p:spPr>
          <a:xfrm>
            <a:off x="6620256" y="2971800"/>
            <a:ext cx="1984248" cy="521208"/>
          </a:xfrm>
          <a:prstGeom prst="rect">
            <a:avLst/>
          </a:prstGeom>
          <a:noFill/>
          <a:ln/>
        </p:spPr>
        <p:txBody>
          <a:bodyPr wrap="square" lIns="0" tIns="0" rIns="0" bIns="0" rtlCol="0" anchor="ctr"/>
          <a:lstStyle/>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Where distillation</a:t>
            </a:r>
            <a:endParaRPr lang="en-US" sz="1000" dirty="0"/>
          </a:p>
          <a:p>
            <a:pPr marL="0" indent="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performs worse</a:t>
            </a:r>
            <a:endParaRPr lang="en-US" sz="1000" dirty="0"/>
          </a:p>
        </p:txBody>
      </p:sp>
      <p:sp>
        <p:nvSpPr>
          <p:cNvPr id="35" name="Shape 33"/>
          <p:cNvSpPr/>
          <p:nvPr/>
        </p:nvSpPr>
        <p:spPr>
          <a:xfrm>
            <a:off x="320040" y="3685032"/>
            <a:ext cx="8366760" cy="1261872"/>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36" name="Shape 34"/>
          <p:cNvSpPr/>
          <p:nvPr/>
        </p:nvSpPr>
        <p:spPr>
          <a:xfrm>
            <a:off x="320040" y="3685032"/>
            <a:ext cx="64008" cy="1261872"/>
          </a:xfrm>
          <a:prstGeom prst="rect">
            <a:avLst/>
          </a:prstGeom>
          <a:solidFill>
            <a:srgbClr val="028090"/>
          </a:solidFill>
          <a:ln w="12700">
            <a:solidFill>
              <a:srgbClr val="028090"/>
            </a:solidFill>
            <a:prstDash val="solid"/>
          </a:ln>
        </p:spPr>
      </p:sp>
      <p:sp>
        <p:nvSpPr>
          <p:cNvPr id="37" name="Text 35"/>
          <p:cNvSpPr/>
          <p:nvPr/>
        </p:nvSpPr>
        <p:spPr>
          <a:xfrm>
            <a:off x="475488" y="3785616"/>
            <a:ext cx="1371600" cy="27432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Context</a:t>
            </a:r>
            <a:endParaRPr lang="en-US" sz="1100" dirty="0"/>
          </a:p>
        </p:txBody>
      </p:sp>
      <p:sp>
        <p:nvSpPr>
          <p:cNvPr id="38" name="Text 36"/>
          <p:cNvSpPr/>
          <p:nvPr/>
        </p:nvSpPr>
        <p:spPr>
          <a:xfrm>
            <a:off x="475488" y="4096512"/>
            <a:ext cx="8046720" cy="777240"/>
          </a:xfrm>
          <a:prstGeom prst="rect">
            <a:avLst/>
          </a:prstGeom>
          <a:noFill/>
          <a:ln/>
        </p:spPr>
        <p:txBody>
          <a:bodyPr wrap="square" rtlCol="0" anchor="ctr"/>
          <a:lstStyle/>
          <a:p>
            <a:pPr marL="0" indent="0">
              <a:lnSpc>
                <a:spcPct val="130000"/>
              </a:lnSpc>
              <a:buNone/>
            </a:pPr>
            <a:r>
              <a:rPr lang="en-US" sz="1100" dirty="0">
                <a:solidFill>
                  <a:srgbClr val="1E2B38"/>
                </a:solidFill>
                <a:latin typeface="Calibri Light" pitchFamily="34" charset="0"/>
                <a:ea typeface="Calibri Light" pitchFamily="34" charset="-122"/>
                <a:cs typeface="Calibri Light" pitchFamily="34" charset="-120"/>
              </a:rPr>
              <a:t>Direct finetuning uses oversampling — the strongest standard correction for class imbalance. Despite this, distillation from a teacher trained on full balanced data outperforms it by 5.83pt on accuracy and 6.14pt on macro F1, while also being faster to train. Not a single class regresses under distillation.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346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Text 1"/>
          <p:cNvSpPr/>
          <p:nvPr/>
        </p:nvSpPr>
        <p:spPr>
          <a:xfrm>
            <a:off x="365760" y="365760"/>
            <a:ext cx="2286000" cy="1645920"/>
          </a:xfrm>
          <a:prstGeom prst="rect">
            <a:avLst/>
          </a:prstGeom>
          <a:noFill/>
          <a:ln/>
        </p:spPr>
        <p:txBody>
          <a:bodyPr wrap="square" rtlCol="0" anchor="ctr"/>
          <a:lstStyle/>
          <a:p>
            <a:pPr marL="0" indent="0">
              <a:buNone/>
            </a:pPr>
            <a:r>
              <a:rPr lang="en-US" sz="8000" b="1" dirty="0">
                <a:solidFill>
                  <a:srgbClr val="FFFFFF">
                    <a:alpha val="78000"/>
                  </a:srgbClr>
                </a:solidFill>
                <a:latin typeface="Calibri" pitchFamily="34" charset="0"/>
                <a:ea typeface="Calibri" pitchFamily="34" charset="-122"/>
                <a:cs typeface="Calibri" pitchFamily="34" charset="-120"/>
              </a:rPr>
              <a:t>03</a:t>
            </a:r>
            <a:endParaRPr lang="en-US" sz="8000" dirty="0"/>
          </a:p>
        </p:txBody>
      </p:sp>
      <p:sp>
        <p:nvSpPr>
          <p:cNvPr id="4" name="Text 2"/>
          <p:cNvSpPr/>
          <p:nvPr/>
        </p:nvSpPr>
        <p:spPr>
          <a:xfrm>
            <a:off x="365760" y="2240280"/>
            <a:ext cx="832104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Minority class rescue</a:t>
            </a:r>
            <a:endParaRPr lang="en-US" sz="2400" dirty="0"/>
          </a:p>
        </p:txBody>
      </p:sp>
      <p:sp>
        <p:nvSpPr>
          <p:cNvPr id="5" name="Text 3"/>
          <p:cNvSpPr/>
          <p:nvPr/>
        </p:nvSpPr>
        <p:spPr>
          <a:xfrm>
            <a:off x="365760" y="2944368"/>
            <a:ext cx="8321040" cy="457200"/>
          </a:xfrm>
          <a:prstGeom prst="rect">
            <a:avLst/>
          </a:prstGeom>
          <a:noFill/>
          <a:ln/>
        </p:spPr>
        <p:txBody>
          <a:bodyPr wrap="square" rtlCol="0" anchor="ctr"/>
          <a:lstStyle/>
          <a:p>
            <a:pPr marL="0" indent="0">
              <a:buNone/>
            </a:pPr>
            <a:r>
              <a:rPr lang="en-US" sz="1300" dirty="0">
                <a:solidFill>
                  <a:srgbClr val="C4B5FD"/>
                </a:solidFill>
                <a:latin typeface="Calibri Light" pitchFamily="34" charset="0"/>
                <a:ea typeface="Calibri Light" pitchFamily="34" charset="-122"/>
                <a:cs typeface="Calibri Light" pitchFamily="34" charset="-120"/>
              </a:rPr>
              <a:t>Does the teacher's full-data knowledge transfer to underrepresented cat classes?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Gain breakdown — minority cats (0–11) vs majority dogs (12–36)</a:t>
            </a:r>
            <a:endParaRPr lang="en-US" sz="2100" dirty="0"/>
          </a:p>
        </p:txBody>
      </p:sp>
      <p:sp>
        <p:nvSpPr>
          <p:cNvPr id="3" name="Shape 1"/>
          <p:cNvSpPr/>
          <p:nvPr/>
        </p:nvSpPr>
        <p:spPr>
          <a:xfrm>
            <a:off x="320040" y="841248"/>
            <a:ext cx="3977640" cy="3108960"/>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4" name="Shape 2"/>
          <p:cNvSpPr/>
          <p:nvPr/>
        </p:nvSpPr>
        <p:spPr>
          <a:xfrm>
            <a:off x="320040" y="841248"/>
            <a:ext cx="3977640" cy="54864"/>
          </a:xfrm>
          <a:prstGeom prst="rect">
            <a:avLst/>
          </a:prstGeom>
          <a:solidFill>
            <a:srgbClr val="7C3AED"/>
          </a:solidFill>
          <a:ln w="12700">
            <a:solidFill>
              <a:srgbClr val="7C3AED"/>
            </a:solidFill>
            <a:prstDash val="solid"/>
          </a:ln>
        </p:spPr>
      </p:sp>
      <p:sp>
        <p:nvSpPr>
          <p:cNvPr id="5" name="Text 3"/>
          <p:cNvSpPr/>
          <p:nvPr/>
        </p:nvSpPr>
        <p:spPr>
          <a:xfrm>
            <a:off x="475488" y="969264"/>
            <a:ext cx="3657600" cy="347472"/>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  Cat classes  (minority — 20% training data)</a:t>
            </a:r>
            <a:endParaRPr lang="en-US" sz="1300" dirty="0"/>
          </a:p>
        </p:txBody>
      </p:sp>
      <p:sp>
        <p:nvSpPr>
          <p:cNvPr id="6" name="Text 4"/>
          <p:cNvSpPr/>
          <p:nvPr/>
        </p:nvSpPr>
        <p:spPr>
          <a:xfrm>
            <a:off x="502920" y="1417320"/>
            <a:ext cx="20116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Light" pitchFamily="34" charset="0"/>
                <a:ea typeface="Calibri Light" pitchFamily="34" charset="-122"/>
                <a:cs typeface="Calibri Light" pitchFamily="34" charset="-120"/>
              </a:rPr>
              <a:t>Direct F1 (mean)</a:t>
            </a:r>
            <a:endParaRPr lang="en-US" sz="1100" dirty="0"/>
          </a:p>
        </p:txBody>
      </p:sp>
      <p:sp>
        <p:nvSpPr>
          <p:cNvPr id="7" name="Text 5"/>
          <p:cNvSpPr/>
          <p:nvPr/>
        </p:nvSpPr>
        <p:spPr>
          <a:xfrm>
            <a:off x="2606040" y="1389888"/>
            <a:ext cx="1554480" cy="347472"/>
          </a:xfrm>
          <a:prstGeom prst="rect">
            <a:avLst/>
          </a:prstGeom>
          <a:noFill/>
          <a:ln/>
        </p:spPr>
        <p:txBody>
          <a:bodyPr wrap="square" lIns="0" tIns="0" rIns="0" bIns="0" rtlCol="0" anchor="ctr"/>
          <a:lstStyle/>
          <a:p>
            <a:pPr marL="0" indent="0" algn="r">
              <a:buNone/>
            </a:pPr>
            <a:r>
              <a:rPr lang="en-US" sz="1800" b="1" dirty="0">
                <a:solidFill>
                  <a:srgbClr val="C2410C"/>
                </a:solidFill>
                <a:latin typeface="Calibri" pitchFamily="34" charset="0"/>
                <a:ea typeface="Calibri" pitchFamily="34" charset="-122"/>
                <a:cs typeface="Calibri" pitchFamily="34" charset="-120"/>
              </a:rPr>
              <a:t>0.721</a:t>
            </a:r>
            <a:endParaRPr lang="en-US" sz="1800" dirty="0"/>
          </a:p>
        </p:txBody>
      </p:sp>
      <p:sp>
        <p:nvSpPr>
          <p:cNvPr id="8" name="Text 6"/>
          <p:cNvSpPr/>
          <p:nvPr/>
        </p:nvSpPr>
        <p:spPr>
          <a:xfrm>
            <a:off x="502920" y="2103120"/>
            <a:ext cx="20116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Light" pitchFamily="34" charset="0"/>
                <a:ea typeface="Calibri Light" pitchFamily="34" charset="-122"/>
                <a:cs typeface="Calibri Light" pitchFamily="34" charset="-120"/>
              </a:rPr>
              <a:t>Distilled F1 (mean)</a:t>
            </a:r>
            <a:endParaRPr lang="en-US" sz="1100" dirty="0"/>
          </a:p>
        </p:txBody>
      </p:sp>
      <p:sp>
        <p:nvSpPr>
          <p:cNvPr id="9" name="Text 7"/>
          <p:cNvSpPr/>
          <p:nvPr/>
        </p:nvSpPr>
        <p:spPr>
          <a:xfrm>
            <a:off x="2606040" y="2075688"/>
            <a:ext cx="1554480" cy="347472"/>
          </a:xfrm>
          <a:prstGeom prst="rect">
            <a:avLst/>
          </a:prstGeom>
          <a:noFill/>
          <a:ln/>
        </p:spPr>
        <p:txBody>
          <a:bodyPr wrap="square" lIns="0" tIns="0" rIns="0" bIns="0" rtlCol="0" anchor="ctr"/>
          <a:lstStyle/>
          <a:p>
            <a:pPr marL="0" indent="0" algn="r">
              <a:buNone/>
            </a:pPr>
            <a:r>
              <a:rPr lang="en-US" sz="1800" b="1" dirty="0">
                <a:solidFill>
                  <a:srgbClr val="7C3AED"/>
                </a:solidFill>
                <a:latin typeface="Calibri" pitchFamily="34" charset="0"/>
                <a:ea typeface="Calibri" pitchFamily="34" charset="-122"/>
                <a:cs typeface="Calibri" pitchFamily="34" charset="-120"/>
              </a:rPr>
              <a:t>0.805</a:t>
            </a:r>
            <a:endParaRPr lang="en-US" sz="1800" dirty="0"/>
          </a:p>
        </p:txBody>
      </p:sp>
      <p:sp>
        <p:nvSpPr>
          <p:cNvPr id="10" name="Text 8"/>
          <p:cNvSpPr/>
          <p:nvPr/>
        </p:nvSpPr>
        <p:spPr>
          <a:xfrm>
            <a:off x="502920" y="2788920"/>
            <a:ext cx="20116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Light" pitchFamily="34" charset="0"/>
                <a:ea typeface="Calibri Light" pitchFamily="34" charset="-122"/>
                <a:cs typeface="Calibri Light" pitchFamily="34" charset="-120"/>
              </a:rPr>
              <a:t>Mean gain per class</a:t>
            </a:r>
            <a:endParaRPr lang="en-US" sz="1100" dirty="0"/>
          </a:p>
        </p:txBody>
      </p:sp>
      <p:sp>
        <p:nvSpPr>
          <p:cNvPr id="11" name="Text 9"/>
          <p:cNvSpPr/>
          <p:nvPr/>
        </p:nvSpPr>
        <p:spPr>
          <a:xfrm>
            <a:off x="2606040" y="2761488"/>
            <a:ext cx="1554480" cy="347472"/>
          </a:xfrm>
          <a:prstGeom prst="rect">
            <a:avLst/>
          </a:prstGeom>
          <a:noFill/>
          <a:ln/>
        </p:spPr>
        <p:txBody>
          <a:bodyPr wrap="square" lIns="0" tIns="0" rIns="0" bIns="0" rtlCol="0" anchor="ctr"/>
          <a:lstStyle/>
          <a:p>
            <a:pPr marL="0" indent="0" algn="r">
              <a:buNone/>
            </a:pPr>
            <a:r>
              <a:rPr lang="en-US" sz="1800" b="1" dirty="0">
                <a:solidFill>
                  <a:srgbClr val="0F766E"/>
                </a:solidFill>
                <a:latin typeface="Calibri" pitchFamily="34" charset="0"/>
                <a:ea typeface="Calibri" pitchFamily="34" charset="-122"/>
                <a:cs typeface="Calibri" pitchFamily="34" charset="-120"/>
              </a:rPr>
              <a:t>+0.084</a:t>
            </a:r>
            <a:endParaRPr lang="en-US" sz="1800" dirty="0"/>
          </a:p>
        </p:txBody>
      </p:sp>
      <p:sp>
        <p:nvSpPr>
          <p:cNvPr id="12" name="Shape 10"/>
          <p:cNvSpPr/>
          <p:nvPr/>
        </p:nvSpPr>
        <p:spPr>
          <a:xfrm>
            <a:off x="475488" y="3493008"/>
            <a:ext cx="3657600" cy="0"/>
          </a:xfrm>
          <a:prstGeom prst="line">
            <a:avLst/>
          </a:prstGeom>
          <a:noFill/>
          <a:ln w="6350">
            <a:solidFill>
              <a:srgbClr val="CBD5E1"/>
            </a:solidFill>
            <a:prstDash val="solid"/>
          </a:ln>
        </p:spPr>
      </p:sp>
      <p:sp>
        <p:nvSpPr>
          <p:cNvPr id="13" name="Text 11"/>
          <p:cNvSpPr/>
          <p:nvPr/>
        </p:nvSpPr>
        <p:spPr>
          <a:xfrm>
            <a:off x="534924" y="3473414"/>
            <a:ext cx="3657600" cy="502920"/>
          </a:xfrm>
          <a:prstGeom prst="rect">
            <a:avLst/>
          </a:prstGeom>
          <a:noFill/>
          <a:ln/>
        </p:spPr>
        <p:txBody>
          <a:bodyPr wrap="square" rtlCol="0" anchor="ctr"/>
          <a:lstStyle/>
          <a:p>
            <a:pPr marL="0" indent="0">
              <a:lnSpc>
                <a:spcPct val="130000"/>
              </a:lnSpc>
              <a:buNone/>
            </a:pPr>
            <a:r>
              <a:rPr lang="en-US" sz="1000" dirty="0">
                <a:solidFill>
                  <a:srgbClr val="1E2B38"/>
                </a:solidFill>
                <a:latin typeface="Calibri Light" pitchFamily="34" charset="0"/>
                <a:ea typeface="Calibri Light" pitchFamily="34" charset="-122"/>
                <a:cs typeface="Calibri Light" pitchFamily="34" charset="-120"/>
              </a:rPr>
              <a:t>8 of 12 cat classes gain &gt;0.05 F1</a:t>
            </a:r>
            <a:endParaRPr lang="en-US" sz="1000" dirty="0"/>
          </a:p>
          <a:p>
            <a:pPr marL="0" indent="0">
              <a:lnSpc>
                <a:spcPct val="130000"/>
              </a:lnSpc>
              <a:buNone/>
            </a:pPr>
            <a:r>
              <a:rPr lang="en-US" sz="1000" dirty="0">
                <a:solidFill>
                  <a:srgbClr val="1E2B38"/>
                </a:solidFill>
                <a:latin typeface="Calibri Light" pitchFamily="34" charset="0"/>
                <a:ea typeface="Calibri Light" pitchFamily="34" charset="-122"/>
                <a:cs typeface="Calibri Light" pitchFamily="34" charset="-120"/>
              </a:rPr>
              <a:t>Highest: c0 (+0.158)  c26 (+0.178)  c9 (+0.114)</a:t>
            </a:r>
            <a:endParaRPr lang="en-US" sz="1000" dirty="0"/>
          </a:p>
        </p:txBody>
      </p:sp>
      <p:sp>
        <p:nvSpPr>
          <p:cNvPr id="14" name="Shape 12"/>
          <p:cNvSpPr/>
          <p:nvPr/>
        </p:nvSpPr>
        <p:spPr>
          <a:xfrm>
            <a:off x="4663440" y="841248"/>
            <a:ext cx="4069080" cy="3108960"/>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15" name="Shape 13"/>
          <p:cNvSpPr/>
          <p:nvPr/>
        </p:nvSpPr>
        <p:spPr>
          <a:xfrm>
            <a:off x="4663440" y="841248"/>
            <a:ext cx="4069080" cy="54864"/>
          </a:xfrm>
          <a:prstGeom prst="rect">
            <a:avLst/>
          </a:prstGeom>
          <a:solidFill>
            <a:srgbClr val="0369A1"/>
          </a:solidFill>
          <a:ln w="12700">
            <a:solidFill>
              <a:srgbClr val="0369A1"/>
            </a:solidFill>
            <a:prstDash val="solid"/>
          </a:ln>
        </p:spPr>
      </p:sp>
      <p:sp>
        <p:nvSpPr>
          <p:cNvPr id="16" name="Text 14"/>
          <p:cNvSpPr/>
          <p:nvPr/>
        </p:nvSpPr>
        <p:spPr>
          <a:xfrm>
            <a:off x="4818888" y="969264"/>
            <a:ext cx="3749040" cy="347472"/>
          </a:xfrm>
          <a:prstGeom prst="rect">
            <a:avLst/>
          </a:prstGeom>
          <a:noFill/>
          <a:ln/>
        </p:spPr>
        <p:txBody>
          <a:bodyPr wrap="square" lIns="0" tIns="0" rIns="0" bIns="0" rtlCol="0" anchor="ctr"/>
          <a:lstStyle/>
          <a:p>
            <a:pPr marL="0" indent="0">
              <a:buNone/>
            </a:pPr>
            <a:r>
              <a:rPr lang="en-US" sz="1300" b="1" dirty="0">
                <a:solidFill>
                  <a:srgbClr val="0369A1"/>
                </a:solidFill>
                <a:latin typeface="Calibri" pitchFamily="34" charset="0"/>
                <a:ea typeface="Calibri" pitchFamily="34" charset="-122"/>
                <a:cs typeface="Calibri" pitchFamily="34" charset="-120"/>
              </a:rPr>
              <a:t>🐶  Dog classes  (majority — full training data)</a:t>
            </a:r>
            <a:endParaRPr lang="en-US" sz="1300" dirty="0"/>
          </a:p>
        </p:txBody>
      </p:sp>
      <p:sp>
        <p:nvSpPr>
          <p:cNvPr id="17" name="Text 15"/>
          <p:cNvSpPr/>
          <p:nvPr/>
        </p:nvSpPr>
        <p:spPr>
          <a:xfrm>
            <a:off x="4846320" y="1417320"/>
            <a:ext cx="20116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Light" pitchFamily="34" charset="0"/>
                <a:ea typeface="Calibri Light" pitchFamily="34" charset="-122"/>
                <a:cs typeface="Calibri Light" pitchFamily="34" charset="-120"/>
              </a:rPr>
              <a:t>Direct F1 (mean)</a:t>
            </a:r>
            <a:endParaRPr lang="en-US" sz="1100" dirty="0"/>
          </a:p>
        </p:txBody>
      </p:sp>
      <p:sp>
        <p:nvSpPr>
          <p:cNvPr id="18" name="Text 16"/>
          <p:cNvSpPr/>
          <p:nvPr/>
        </p:nvSpPr>
        <p:spPr>
          <a:xfrm>
            <a:off x="6858000" y="1389888"/>
            <a:ext cx="1645920" cy="347472"/>
          </a:xfrm>
          <a:prstGeom prst="rect">
            <a:avLst/>
          </a:prstGeom>
          <a:noFill/>
          <a:ln/>
        </p:spPr>
        <p:txBody>
          <a:bodyPr wrap="square" lIns="0" tIns="0" rIns="0" bIns="0" rtlCol="0" anchor="ctr"/>
          <a:lstStyle/>
          <a:p>
            <a:pPr marL="0" indent="0" algn="r">
              <a:buNone/>
            </a:pPr>
            <a:r>
              <a:rPr lang="en-US" sz="1800" b="1" dirty="0">
                <a:solidFill>
                  <a:srgbClr val="C2410C"/>
                </a:solidFill>
                <a:latin typeface="Calibri" pitchFamily="34" charset="0"/>
                <a:ea typeface="Calibri" pitchFamily="34" charset="-122"/>
                <a:cs typeface="Calibri" pitchFamily="34" charset="-120"/>
              </a:rPr>
              <a:t>0.823</a:t>
            </a:r>
            <a:endParaRPr lang="en-US" sz="1800" dirty="0"/>
          </a:p>
        </p:txBody>
      </p:sp>
      <p:sp>
        <p:nvSpPr>
          <p:cNvPr id="19" name="Text 17"/>
          <p:cNvSpPr/>
          <p:nvPr/>
        </p:nvSpPr>
        <p:spPr>
          <a:xfrm>
            <a:off x="4846320" y="2103120"/>
            <a:ext cx="20116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Light" pitchFamily="34" charset="0"/>
                <a:ea typeface="Calibri Light" pitchFamily="34" charset="-122"/>
                <a:cs typeface="Calibri Light" pitchFamily="34" charset="-120"/>
              </a:rPr>
              <a:t>Distilled F1 (mean)</a:t>
            </a:r>
            <a:endParaRPr lang="en-US" sz="1100" dirty="0"/>
          </a:p>
        </p:txBody>
      </p:sp>
      <p:sp>
        <p:nvSpPr>
          <p:cNvPr id="20" name="Text 18"/>
          <p:cNvSpPr/>
          <p:nvPr/>
        </p:nvSpPr>
        <p:spPr>
          <a:xfrm>
            <a:off x="6858000" y="2075688"/>
            <a:ext cx="1645920" cy="347472"/>
          </a:xfrm>
          <a:prstGeom prst="rect">
            <a:avLst/>
          </a:prstGeom>
          <a:noFill/>
          <a:ln/>
        </p:spPr>
        <p:txBody>
          <a:bodyPr wrap="square" lIns="0" tIns="0" rIns="0" bIns="0" rtlCol="0" anchor="ctr"/>
          <a:lstStyle/>
          <a:p>
            <a:pPr marL="0" indent="0" algn="r">
              <a:buNone/>
            </a:pPr>
            <a:r>
              <a:rPr lang="en-US" sz="1800" b="1" dirty="0">
                <a:solidFill>
                  <a:srgbClr val="0369A1"/>
                </a:solidFill>
                <a:latin typeface="Calibri" pitchFamily="34" charset="0"/>
                <a:ea typeface="Calibri" pitchFamily="34" charset="-122"/>
                <a:cs typeface="Calibri" pitchFamily="34" charset="-120"/>
              </a:rPr>
              <a:t>0.873</a:t>
            </a:r>
            <a:endParaRPr lang="en-US" sz="1800" dirty="0"/>
          </a:p>
        </p:txBody>
      </p:sp>
      <p:sp>
        <p:nvSpPr>
          <p:cNvPr id="21" name="Text 19"/>
          <p:cNvSpPr/>
          <p:nvPr/>
        </p:nvSpPr>
        <p:spPr>
          <a:xfrm>
            <a:off x="4846320" y="2788920"/>
            <a:ext cx="20116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Light" pitchFamily="34" charset="0"/>
                <a:ea typeface="Calibri Light" pitchFamily="34" charset="-122"/>
                <a:cs typeface="Calibri Light" pitchFamily="34" charset="-120"/>
              </a:rPr>
              <a:t>Mean gain per class</a:t>
            </a:r>
            <a:endParaRPr lang="en-US" sz="1100" dirty="0"/>
          </a:p>
        </p:txBody>
      </p:sp>
      <p:sp>
        <p:nvSpPr>
          <p:cNvPr id="22" name="Text 20"/>
          <p:cNvSpPr/>
          <p:nvPr/>
        </p:nvSpPr>
        <p:spPr>
          <a:xfrm>
            <a:off x="6858000" y="2761488"/>
            <a:ext cx="1645920" cy="347472"/>
          </a:xfrm>
          <a:prstGeom prst="rect">
            <a:avLst/>
          </a:prstGeom>
          <a:noFill/>
          <a:ln/>
        </p:spPr>
        <p:txBody>
          <a:bodyPr wrap="square" lIns="0" tIns="0" rIns="0" bIns="0" rtlCol="0" anchor="ctr"/>
          <a:lstStyle/>
          <a:p>
            <a:pPr marL="0" indent="0" algn="r">
              <a:buNone/>
            </a:pPr>
            <a:r>
              <a:rPr lang="en-US" sz="1800" b="1" dirty="0">
                <a:solidFill>
                  <a:srgbClr val="0F766E"/>
                </a:solidFill>
                <a:latin typeface="Calibri" pitchFamily="34" charset="0"/>
                <a:ea typeface="Calibri" pitchFamily="34" charset="-122"/>
                <a:cs typeface="Calibri" pitchFamily="34" charset="-120"/>
              </a:rPr>
              <a:t>+0.051</a:t>
            </a:r>
            <a:endParaRPr lang="en-US" sz="1800" dirty="0"/>
          </a:p>
        </p:txBody>
      </p:sp>
      <p:sp>
        <p:nvSpPr>
          <p:cNvPr id="23" name="Shape 21"/>
          <p:cNvSpPr/>
          <p:nvPr/>
        </p:nvSpPr>
        <p:spPr>
          <a:xfrm>
            <a:off x="4818888" y="3493008"/>
            <a:ext cx="3749040" cy="0"/>
          </a:xfrm>
          <a:prstGeom prst="line">
            <a:avLst/>
          </a:prstGeom>
          <a:noFill/>
          <a:ln w="6350">
            <a:solidFill>
              <a:srgbClr val="CBD5E1"/>
            </a:solidFill>
            <a:prstDash val="solid"/>
          </a:ln>
        </p:spPr>
      </p:sp>
      <p:sp>
        <p:nvSpPr>
          <p:cNvPr id="24" name="Text 22"/>
          <p:cNvSpPr/>
          <p:nvPr/>
        </p:nvSpPr>
        <p:spPr>
          <a:xfrm>
            <a:off x="5269557" y="3465576"/>
            <a:ext cx="3749040" cy="502920"/>
          </a:xfrm>
          <a:prstGeom prst="rect">
            <a:avLst/>
          </a:prstGeom>
          <a:noFill/>
          <a:ln/>
        </p:spPr>
        <p:txBody>
          <a:bodyPr wrap="square" rtlCol="0" anchor="ctr"/>
          <a:lstStyle/>
          <a:p>
            <a:pPr marL="0" indent="0">
              <a:lnSpc>
                <a:spcPct val="130000"/>
              </a:lnSpc>
              <a:buNone/>
            </a:pPr>
            <a:r>
              <a:rPr lang="en-US" sz="1000" dirty="0">
                <a:solidFill>
                  <a:srgbClr val="1E2B38"/>
                </a:solidFill>
                <a:latin typeface="Calibri Light" pitchFamily="34" charset="0"/>
                <a:ea typeface="Calibri Light" pitchFamily="34" charset="-122"/>
                <a:cs typeface="Calibri Light" pitchFamily="34" charset="-120"/>
              </a:rPr>
              <a:t>All 25 dog classes gain from distillation</a:t>
            </a:r>
            <a:endParaRPr lang="en-US" sz="1000" dirty="0"/>
          </a:p>
          <a:p>
            <a:pPr marL="0" indent="0">
              <a:lnSpc>
                <a:spcPct val="130000"/>
              </a:lnSpc>
              <a:buNone/>
            </a:pPr>
            <a:r>
              <a:rPr lang="en-US" sz="1000" dirty="0">
                <a:solidFill>
                  <a:srgbClr val="1E2B38"/>
                </a:solidFill>
                <a:latin typeface="Calibri Light" pitchFamily="34" charset="0"/>
                <a:ea typeface="Calibri Light" pitchFamily="34" charset="-122"/>
                <a:cs typeface="Calibri Light" pitchFamily="34" charset="-120"/>
              </a:rPr>
              <a:t>Highest: c26 (+0.178) c27 (+0.129) c33 (+0.105)</a:t>
            </a:r>
            <a:endParaRPr lang="en-US" sz="1000" dirty="0"/>
          </a:p>
        </p:txBody>
      </p:sp>
      <p:sp>
        <p:nvSpPr>
          <p:cNvPr id="25" name="Shape 23"/>
          <p:cNvSpPr/>
          <p:nvPr/>
        </p:nvSpPr>
        <p:spPr>
          <a:xfrm>
            <a:off x="320040" y="4069080"/>
            <a:ext cx="8366760" cy="841248"/>
          </a:xfrm>
          <a:prstGeom prst="rect">
            <a:avLst/>
          </a:prstGeom>
          <a:solidFill>
            <a:srgbClr val="F5F3FF"/>
          </a:solidFill>
          <a:ln w="10160">
            <a:solidFill>
              <a:srgbClr val="7C3AED"/>
            </a:solidFill>
            <a:prstDash val="solid"/>
          </a:ln>
        </p:spPr>
      </p:sp>
      <p:sp>
        <p:nvSpPr>
          <p:cNvPr id="26" name="Text 24"/>
          <p:cNvSpPr/>
          <p:nvPr/>
        </p:nvSpPr>
        <p:spPr>
          <a:xfrm>
            <a:off x="475488" y="4160520"/>
            <a:ext cx="1280160" cy="502920"/>
          </a:xfrm>
          <a:prstGeom prst="rect">
            <a:avLst/>
          </a:prstGeom>
          <a:noFill/>
          <a:ln/>
        </p:spPr>
        <p:txBody>
          <a:bodyPr wrap="square" lIns="0" tIns="0" rIns="0" bIns="0" rtlCol="0" anchor="ctr"/>
          <a:lstStyle/>
          <a:p>
            <a:pPr marL="0" indent="0">
              <a:buNone/>
            </a:pPr>
            <a:r>
              <a:rPr lang="en-US" sz="2600" b="1" dirty="0">
                <a:solidFill>
                  <a:srgbClr val="7C3AED"/>
                </a:solidFill>
                <a:latin typeface="Calibri" pitchFamily="34" charset="0"/>
                <a:ea typeface="Calibri" pitchFamily="34" charset="-122"/>
                <a:cs typeface="Calibri" pitchFamily="34" charset="-120"/>
              </a:rPr>
              <a:t>1.65×</a:t>
            </a:r>
            <a:endParaRPr lang="en-US" sz="2600" dirty="0"/>
          </a:p>
        </p:txBody>
      </p:sp>
      <p:sp>
        <p:nvSpPr>
          <p:cNvPr id="27" name="Text 25"/>
          <p:cNvSpPr/>
          <p:nvPr/>
        </p:nvSpPr>
        <p:spPr>
          <a:xfrm>
            <a:off x="1828800" y="4187952"/>
            <a:ext cx="6675120" cy="658368"/>
          </a:xfrm>
          <a:prstGeom prst="rect">
            <a:avLst/>
          </a:prstGeom>
          <a:noFill/>
          <a:ln/>
        </p:spPr>
        <p:txBody>
          <a:bodyPr wrap="square" rtlCol="0" anchor="ctr"/>
          <a:lstStyle/>
          <a:p>
            <a:pPr marL="0" indent="0">
              <a:lnSpc>
                <a:spcPct val="130000"/>
              </a:lnSpc>
              <a:buNone/>
            </a:pPr>
            <a:r>
              <a:rPr lang="en-US" sz="1100" dirty="0">
                <a:solidFill>
                  <a:srgbClr val="1E2B38"/>
                </a:solidFill>
                <a:latin typeface="Calibri Light" pitchFamily="34" charset="0"/>
                <a:ea typeface="Calibri Light" pitchFamily="34" charset="-122"/>
                <a:cs typeface="Calibri Light" pitchFamily="34" charset="-120"/>
              </a:rPr>
              <a:t>more gain on cat classes than dog classes — confirming the teacher's full-data minority knowledge transfers preferentially to underrepresented classes. The teacher's soft labels act as a data augmentation for breeds the student rarely saw during training.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Per-class F1 — direct (oversampling) vs distillation across all 37 breeds</a:t>
            </a:r>
            <a:endParaRPr lang="en-US" sz="2100" dirty="0"/>
          </a:p>
        </p:txBody>
      </p:sp>
      <p:graphicFrame>
        <p:nvGraphicFramePr>
          <p:cNvPr id="3" name="Chart 0"/>
          <p:cNvGraphicFramePr/>
          <p:nvPr/>
        </p:nvGraphicFramePr>
        <p:xfrm>
          <a:off x="320040" y="822960"/>
          <a:ext cx="850392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320040" y="4434840"/>
            <a:ext cx="4023360" cy="530352"/>
          </a:xfrm>
          <a:prstGeom prst="rect">
            <a:avLst/>
          </a:prstGeom>
          <a:solidFill>
            <a:srgbClr val="F5F3FF"/>
          </a:solidFill>
          <a:ln w="6350">
            <a:solidFill>
              <a:srgbClr val="7C3AED"/>
            </a:solidFill>
            <a:prstDash val="solid"/>
          </a:ln>
        </p:spPr>
      </p:sp>
      <p:sp>
        <p:nvSpPr>
          <p:cNvPr id="5" name="Text 2"/>
          <p:cNvSpPr/>
          <p:nvPr/>
        </p:nvSpPr>
        <p:spPr>
          <a:xfrm>
            <a:off x="457200" y="4480560"/>
            <a:ext cx="3840480" cy="411480"/>
          </a:xfrm>
          <a:prstGeom prst="rect">
            <a:avLst/>
          </a:prstGeom>
          <a:noFill/>
          <a:ln/>
        </p:spPr>
        <p:txBody>
          <a:bodyPr wrap="square" rtlCol="0" anchor="ctr"/>
          <a:lstStyle/>
          <a:p>
            <a:pPr marL="0" indent="0">
              <a:buNone/>
            </a:pPr>
            <a:r>
              <a:rPr lang="en-US" sz="1000" dirty="0">
                <a:solidFill>
                  <a:srgbClr val="7C3AED"/>
                </a:solidFill>
                <a:latin typeface="Calibri Light" pitchFamily="34" charset="0"/>
                <a:ea typeface="Calibri Light" pitchFamily="34" charset="-122"/>
                <a:cs typeface="Calibri Light" pitchFamily="34" charset="-120"/>
              </a:rPr>
              <a:t>Classes 0–11 (cats) show the largest gaps — distillation lifts nearly all cat classes significantly</a:t>
            </a:r>
            <a:endParaRPr lang="en-US" sz="1000" dirty="0"/>
          </a:p>
        </p:txBody>
      </p:sp>
      <p:sp>
        <p:nvSpPr>
          <p:cNvPr id="6" name="Shape 3"/>
          <p:cNvSpPr/>
          <p:nvPr/>
        </p:nvSpPr>
        <p:spPr>
          <a:xfrm>
            <a:off x="4572000" y="4434840"/>
            <a:ext cx="4114800" cy="530352"/>
          </a:xfrm>
          <a:prstGeom prst="rect">
            <a:avLst/>
          </a:prstGeom>
          <a:solidFill>
            <a:srgbClr val="EFF6FF"/>
          </a:solidFill>
          <a:ln w="6350">
            <a:solidFill>
              <a:srgbClr val="0369A1"/>
            </a:solidFill>
            <a:prstDash val="solid"/>
          </a:ln>
        </p:spPr>
      </p:sp>
      <p:sp>
        <p:nvSpPr>
          <p:cNvPr id="7" name="Text 4"/>
          <p:cNvSpPr/>
          <p:nvPr/>
        </p:nvSpPr>
        <p:spPr>
          <a:xfrm>
            <a:off x="4709160" y="4480560"/>
            <a:ext cx="3931920" cy="411480"/>
          </a:xfrm>
          <a:prstGeom prst="rect">
            <a:avLst/>
          </a:prstGeom>
          <a:noFill/>
          <a:ln/>
        </p:spPr>
        <p:txBody>
          <a:bodyPr wrap="square" rtlCol="0" anchor="ctr"/>
          <a:lstStyle/>
          <a:p>
            <a:pPr marL="0" indent="0">
              <a:buNone/>
            </a:pPr>
            <a:r>
              <a:rPr lang="en-US" sz="1000" dirty="0">
                <a:solidFill>
                  <a:srgbClr val="0369A1"/>
                </a:solidFill>
                <a:latin typeface="Calibri Light" pitchFamily="34" charset="0"/>
                <a:ea typeface="Calibri Light" pitchFamily="34" charset="-122"/>
                <a:cs typeface="Calibri Light" pitchFamily="34" charset="-120"/>
              </a:rPr>
              <a:t>Classes 12–36 (dogs) also improve uniformly — teacher knowledge benefits majority classes too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Per-class F1 gain (distillation − direct) — minority classes gain most</a:t>
            </a:r>
            <a:endParaRPr lang="en-US" sz="2100" dirty="0"/>
          </a:p>
        </p:txBody>
      </p:sp>
      <p:graphicFrame>
        <p:nvGraphicFramePr>
          <p:cNvPr id="3" name="Chart 0"/>
          <p:cNvGraphicFramePr/>
          <p:nvPr>
            <p:extLst>
              <p:ext uri="{D42A27DB-BD31-4B8C-83A1-F6EECF244321}">
                <p14:modId xmlns:p14="http://schemas.microsoft.com/office/powerpoint/2010/main" val="1813400466"/>
              </p:ext>
            </p:extLst>
          </p:nvPr>
        </p:nvGraphicFramePr>
        <p:xfrm>
          <a:off x="320040" y="822960"/>
          <a:ext cx="406908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4663440" y="822960"/>
          <a:ext cx="406908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5" name="Shape 1"/>
          <p:cNvSpPr/>
          <p:nvPr/>
        </p:nvSpPr>
        <p:spPr>
          <a:xfrm>
            <a:off x="320040" y="3218688"/>
            <a:ext cx="4069080" cy="438912"/>
          </a:xfrm>
          <a:prstGeom prst="rect">
            <a:avLst/>
          </a:prstGeom>
          <a:solidFill>
            <a:srgbClr val="F5F3FF"/>
          </a:solidFill>
          <a:ln w="6350">
            <a:solidFill>
              <a:srgbClr val="7C3AED"/>
            </a:solidFill>
            <a:prstDash val="solid"/>
          </a:ln>
        </p:spPr>
      </p:sp>
      <p:sp>
        <p:nvSpPr>
          <p:cNvPr id="6" name="Text 2"/>
          <p:cNvSpPr/>
          <p:nvPr/>
        </p:nvSpPr>
        <p:spPr>
          <a:xfrm>
            <a:off x="457200" y="3273552"/>
            <a:ext cx="3794760" cy="329184"/>
          </a:xfrm>
          <a:prstGeom prst="rect">
            <a:avLst/>
          </a:prstGeom>
          <a:noFill/>
          <a:ln/>
        </p:spPr>
        <p:txBody>
          <a:bodyPr wrap="square" rtlCol="0" anchor="ctr"/>
          <a:lstStyle/>
          <a:p>
            <a:pPr marL="0" indent="0">
              <a:buNone/>
            </a:pPr>
            <a:r>
              <a:rPr lang="en-US" sz="1000" dirty="0">
                <a:solidFill>
                  <a:srgbClr val="7C3AED"/>
                </a:solidFill>
                <a:latin typeface="Calibri Light" pitchFamily="34" charset="0"/>
                <a:ea typeface="Calibri Light" pitchFamily="34" charset="-122"/>
                <a:cs typeface="Calibri Light" pitchFamily="34" charset="-120"/>
              </a:rPr>
              <a:t>Mean gain = +0.084   (range +0.016 to +0.158)</a:t>
            </a:r>
            <a:endParaRPr lang="en-US" sz="1000" dirty="0"/>
          </a:p>
        </p:txBody>
      </p:sp>
      <p:sp>
        <p:nvSpPr>
          <p:cNvPr id="7" name="Shape 3"/>
          <p:cNvSpPr/>
          <p:nvPr/>
        </p:nvSpPr>
        <p:spPr>
          <a:xfrm>
            <a:off x="4663440" y="3218688"/>
            <a:ext cx="4069080" cy="438912"/>
          </a:xfrm>
          <a:prstGeom prst="rect">
            <a:avLst/>
          </a:prstGeom>
          <a:solidFill>
            <a:srgbClr val="EFF6FF"/>
          </a:solidFill>
          <a:ln w="6350">
            <a:solidFill>
              <a:srgbClr val="0369A1"/>
            </a:solidFill>
            <a:prstDash val="solid"/>
          </a:ln>
        </p:spPr>
      </p:sp>
      <p:sp>
        <p:nvSpPr>
          <p:cNvPr id="8" name="Text 4"/>
          <p:cNvSpPr/>
          <p:nvPr/>
        </p:nvSpPr>
        <p:spPr>
          <a:xfrm>
            <a:off x="4800600" y="3273552"/>
            <a:ext cx="3794760" cy="329184"/>
          </a:xfrm>
          <a:prstGeom prst="rect">
            <a:avLst/>
          </a:prstGeom>
          <a:noFill/>
          <a:ln/>
        </p:spPr>
        <p:txBody>
          <a:bodyPr wrap="square" rtlCol="0" anchor="ctr"/>
          <a:lstStyle/>
          <a:p>
            <a:pPr marL="0" indent="0">
              <a:buNone/>
            </a:pPr>
            <a:r>
              <a:rPr lang="en-US" sz="1000" dirty="0">
                <a:solidFill>
                  <a:srgbClr val="0369A1"/>
                </a:solidFill>
                <a:latin typeface="Calibri Light" pitchFamily="34" charset="0"/>
                <a:ea typeface="Calibri Light" pitchFamily="34" charset="-122"/>
                <a:cs typeface="Calibri Light" pitchFamily="34" charset="-120"/>
              </a:rPr>
              <a:t>Mean gain = +0.051   (range +0.004 to +0.178)</a:t>
            </a:r>
            <a:endParaRPr lang="en-US" sz="1000" dirty="0"/>
          </a:p>
        </p:txBody>
      </p:sp>
      <p:sp>
        <p:nvSpPr>
          <p:cNvPr id="9" name="Shape 5"/>
          <p:cNvSpPr/>
          <p:nvPr/>
        </p:nvSpPr>
        <p:spPr>
          <a:xfrm>
            <a:off x="320040" y="3749040"/>
            <a:ext cx="8412480" cy="1207008"/>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10" name="Shape 6"/>
          <p:cNvSpPr/>
          <p:nvPr/>
        </p:nvSpPr>
        <p:spPr>
          <a:xfrm>
            <a:off x="320040" y="3749040"/>
            <a:ext cx="8412480" cy="54864"/>
          </a:xfrm>
          <a:prstGeom prst="rect">
            <a:avLst/>
          </a:prstGeom>
          <a:solidFill>
            <a:srgbClr val="0F766E"/>
          </a:solidFill>
          <a:ln w="12700">
            <a:solidFill>
              <a:srgbClr val="0F766E"/>
            </a:solidFill>
            <a:prstDash val="solid"/>
          </a:ln>
        </p:spPr>
      </p:sp>
      <p:sp>
        <p:nvSpPr>
          <p:cNvPr id="11" name="Text 7"/>
          <p:cNvSpPr/>
          <p:nvPr/>
        </p:nvSpPr>
        <p:spPr>
          <a:xfrm>
            <a:off x="475488" y="3858768"/>
            <a:ext cx="548640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Hardest minority classes — biggest gains from distillation:</a:t>
            </a:r>
            <a:endParaRPr lang="en-US" sz="1100" dirty="0"/>
          </a:p>
        </p:txBody>
      </p:sp>
      <p:sp>
        <p:nvSpPr>
          <p:cNvPr id="12" name="Text 8"/>
          <p:cNvSpPr/>
          <p:nvPr/>
        </p:nvSpPr>
        <p:spPr>
          <a:xfrm>
            <a:off x="411480" y="4187952"/>
            <a:ext cx="2011680" cy="694944"/>
          </a:xfrm>
          <a:prstGeom prst="rect">
            <a:avLst/>
          </a:prstGeom>
          <a:noFill/>
          <a:ln/>
        </p:spPr>
        <p:txBody>
          <a:bodyPr wrap="square" rtlCol="0" anchor="ctr"/>
          <a:lstStyle/>
          <a:p>
            <a:pPr marL="0" indent="0">
              <a:lnSpc>
                <a:spcPct val="130000"/>
              </a:lnSpc>
              <a:buNone/>
            </a:pPr>
            <a:r>
              <a:rPr lang="en-US" sz="950" dirty="0">
                <a:solidFill>
                  <a:srgbClr val="1E2B38"/>
                </a:solidFill>
                <a:latin typeface="Calibri Light" pitchFamily="34" charset="0"/>
                <a:ea typeface="Calibri Light" pitchFamily="34" charset="-122"/>
                <a:cs typeface="Calibri Light" pitchFamily="34" charset="-120"/>
              </a:rPr>
              <a:t>Class 0: +0.158</a:t>
            </a:r>
            <a:endParaRPr lang="en-US" sz="950" dirty="0"/>
          </a:p>
          <a:p>
            <a:pPr marL="0" indent="0">
              <a:lnSpc>
                <a:spcPct val="130000"/>
              </a:lnSpc>
              <a:buNone/>
            </a:pPr>
            <a:r>
              <a:rPr lang="en-US" sz="950" dirty="0">
                <a:solidFill>
                  <a:srgbClr val="1E2B38"/>
                </a:solidFill>
                <a:latin typeface="Calibri Light" pitchFamily="34" charset="0"/>
                <a:ea typeface="Calibri Light" pitchFamily="34" charset="-122"/>
                <a:cs typeface="Calibri Light" pitchFamily="34" charset="-120"/>
              </a:rPr>
              <a:t>direct 0.685 → distil 0.843</a:t>
            </a:r>
            <a:endParaRPr lang="en-US" sz="950" dirty="0"/>
          </a:p>
        </p:txBody>
      </p:sp>
      <p:sp>
        <p:nvSpPr>
          <p:cNvPr id="13" name="Text 9"/>
          <p:cNvSpPr/>
          <p:nvPr/>
        </p:nvSpPr>
        <p:spPr>
          <a:xfrm>
            <a:off x="2514600" y="4187952"/>
            <a:ext cx="2011680" cy="694944"/>
          </a:xfrm>
          <a:prstGeom prst="rect">
            <a:avLst/>
          </a:prstGeom>
          <a:noFill/>
          <a:ln/>
        </p:spPr>
        <p:txBody>
          <a:bodyPr wrap="square" rtlCol="0" anchor="ctr"/>
          <a:lstStyle/>
          <a:p>
            <a:pPr marL="0" indent="0">
              <a:lnSpc>
                <a:spcPct val="130000"/>
              </a:lnSpc>
              <a:buNone/>
            </a:pPr>
            <a:r>
              <a:rPr lang="en-US" sz="950" dirty="0">
                <a:solidFill>
                  <a:srgbClr val="1E2B38"/>
                </a:solidFill>
                <a:latin typeface="Calibri Light" pitchFamily="34" charset="0"/>
                <a:ea typeface="Calibri Light" pitchFamily="34" charset="-122"/>
                <a:cs typeface="Calibri Light" pitchFamily="34" charset="-120"/>
              </a:rPr>
              <a:t>Class 2: +0.116</a:t>
            </a:r>
            <a:endParaRPr lang="en-US" sz="950" dirty="0"/>
          </a:p>
          <a:p>
            <a:pPr marL="0" indent="0">
              <a:lnSpc>
                <a:spcPct val="130000"/>
              </a:lnSpc>
              <a:buNone/>
            </a:pPr>
            <a:r>
              <a:rPr lang="en-US" sz="950" dirty="0">
                <a:solidFill>
                  <a:srgbClr val="1E2B38"/>
                </a:solidFill>
                <a:latin typeface="Calibri Light" pitchFamily="34" charset="0"/>
                <a:ea typeface="Calibri Light" pitchFamily="34" charset="-122"/>
                <a:cs typeface="Calibri Light" pitchFamily="34" charset="-120"/>
              </a:rPr>
              <a:t>direct 0.506 → distil 0.622</a:t>
            </a:r>
            <a:endParaRPr lang="en-US" sz="950" dirty="0"/>
          </a:p>
        </p:txBody>
      </p:sp>
      <p:sp>
        <p:nvSpPr>
          <p:cNvPr id="14" name="Text 10"/>
          <p:cNvSpPr/>
          <p:nvPr/>
        </p:nvSpPr>
        <p:spPr>
          <a:xfrm>
            <a:off x="4617720" y="4187952"/>
            <a:ext cx="2011680" cy="694944"/>
          </a:xfrm>
          <a:prstGeom prst="rect">
            <a:avLst/>
          </a:prstGeom>
          <a:noFill/>
          <a:ln/>
        </p:spPr>
        <p:txBody>
          <a:bodyPr wrap="square" rtlCol="0" anchor="ctr"/>
          <a:lstStyle/>
          <a:p>
            <a:pPr marL="0" indent="0">
              <a:lnSpc>
                <a:spcPct val="130000"/>
              </a:lnSpc>
              <a:buNone/>
            </a:pPr>
            <a:r>
              <a:rPr lang="en-US" sz="950" dirty="0">
                <a:solidFill>
                  <a:srgbClr val="1E2B38"/>
                </a:solidFill>
                <a:latin typeface="Calibri Light" pitchFamily="34" charset="0"/>
                <a:ea typeface="Calibri Light" pitchFamily="34" charset="-122"/>
                <a:cs typeface="Calibri Light" pitchFamily="34" charset="-120"/>
              </a:rPr>
              <a:t>Class 9: +0.114</a:t>
            </a:r>
            <a:endParaRPr lang="en-US" sz="950" dirty="0"/>
          </a:p>
          <a:p>
            <a:pPr marL="0" indent="0">
              <a:lnSpc>
                <a:spcPct val="130000"/>
              </a:lnSpc>
              <a:buNone/>
            </a:pPr>
            <a:r>
              <a:rPr lang="en-US" sz="950" dirty="0">
                <a:solidFill>
                  <a:srgbClr val="1E2B38"/>
                </a:solidFill>
                <a:latin typeface="Calibri Light" pitchFamily="34" charset="0"/>
                <a:ea typeface="Calibri Light" pitchFamily="34" charset="-122"/>
                <a:cs typeface="Calibri Light" pitchFamily="34" charset="-120"/>
              </a:rPr>
              <a:t>direct 0.704 → distil 0.817</a:t>
            </a:r>
            <a:endParaRPr lang="en-US" sz="950" dirty="0"/>
          </a:p>
        </p:txBody>
      </p:sp>
      <p:sp>
        <p:nvSpPr>
          <p:cNvPr id="15" name="Text 11"/>
          <p:cNvSpPr/>
          <p:nvPr/>
        </p:nvSpPr>
        <p:spPr>
          <a:xfrm>
            <a:off x="6720840" y="4187952"/>
            <a:ext cx="2011680" cy="694944"/>
          </a:xfrm>
          <a:prstGeom prst="rect">
            <a:avLst/>
          </a:prstGeom>
          <a:noFill/>
          <a:ln/>
        </p:spPr>
        <p:txBody>
          <a:bodyPr wrap="square" rtlCol="0" anchor="ctr"/>
          <a:lstStyle/>
          <a:p>
            <a:pPr marL="0" indent="0">
              <a:lnSpc>
                <a:spcPct val="130000"/>
              </a:lnSpc>
              <a:buNone/>
            </a:pPr>
            <a:r>
              <a:rPr lang="en-US" sz="950" dirty="0">
                <a:solidFill>
                  <a:srgbClr val="1E2B38"/>
                </a:solidFill>
                <a:latin typeface="Calibri Light" pitchFamily="34" charset="0"/>
                <a:ea typeface="Calibri Light" pitchFamily="34" charset="-122"/>
                <a:cs typeface="Calibri Light" pitchFamily="34" charset="-120"/>
              </a:rPr>
              <a:t>Class 26: +0.178</a:t>
            </a:r>
            <a:endParaRPr lang="en-US" sz="950" dirty="0"/>
          </a:p>
          <a:p>
            <a:pPr marL="0" indent="0">
              <a:lnSpc>
                <a:spcPct val="130000"/>
              </a:lnSpc>
              <a:buNone/>
            </a:pPr>
            <a:r>
              <a:rPr lang="en-US" sz="950" dirty="0">
                <a:solidFill>
                  <a:srgbClr val="1E2B38"/>
                </a:solidFill>
                <a:latin typeface="Calibri Light" pitchFamily="34" charset="0"/>
                <a:ea typeface="Calibri Light" pitchFamily="34" charset="-122"/>
                <a:cs typeface="Calibri Light" pitchFamily="34" charset="-120"/>
              </a:rPr>
              <a:t>direct 0.503 → distil 0.681  (largest overall gain)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346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Text 1"/>
          <p:cNvSpPr/>
          <p:nvPr/>
        </p:nvSpPr>
        <p:spPr>
          <a:xfrm>
            <a:off x="365760" y="365760"/>
            <a:ext cx="2286000" cy="1645920"/>
          </a:xfrm>
          <a:prstGeom prst="rect">
            <a:avLst/>
          </a:prstGeom>
          <a:noFill/>
          <a:ln/>
        </p:spPr>
        <p:txBody>
          <a:bodyPr wrap="square" rtlCol="0" anchor="ctr"/>
          <a:lstStyle/>
          <a:p>
            <a:pPr marL="0" indent="0">
              <a:buNone/>
            </a:pPr>
            <a:r>
              <a:rPr lang="en-US" sz="8000" b="1" dirty="0">
                <a:solidFill>
                  <a:srgbClr val="FFFFFF">
                    <a:alpha val="78000"/>
                  </a:srgbClr>
                </a:solidFill>
                <a:latin typeface="Calibri" pitchFamily="34" charset="0"/>
                <a:ea typeface="Calibri" pitchFamily="34" charset="-122"/>
                <a:cs typeface="Calibri" pitchFamily="34" charset="-120"/>
              </a:rPr>
              <a:t>04</a:t>
            </a:r>
            <a:endParaRPr lang="en-US" sz="8000" dirty="0"/>
          </a:p>
        </p:txBody>
      </p:sp>
      <p:sp>
        <p:nvSpPr>
          <p:cNvPr id="4" name="Text 2"/>
          <p:cNvSpPr/>
          <p:nvPr/>
        </p:nvSpPr>
        <p:spPr>
          <a:xfrm>
            <a:off x="365760" y="2240280"/>
            <a:ext cx="832104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Why this works — the mechanism</a:t>
            </a:r>
            <a:endParaRPr lang="en-US" sz="2400" dirty="0"/>
          </a:p>
        </p:txBody>
      </p:sp>
      <p:sp>
        <p:nvSpPr>
          <p:cNvPr id="5" name="Text 3"/>
          <p:cNvSpPr/>
          <p:nvPr/>
        </p:nvSpPr>
        <p:spPr>
          <a:xfrm>
            <a:off x="365760" y="2944368"/>
            <a:ext cx="8321040" cy="457200"/>
          </a:xfrm>
          <a:prstGeom prst="rect">
            <a:avLst/>
          </a:prstGeom>
          <a:noFill/>
          <a:ln/>
        </p:spPr>
        <p:txBody>
          <a:bodyPr wrap="square" rtlCol="0" anchor="ctr"/>
          <a:lstStyle/>
          <a:p>
            <a:pPr marL="0" indent="0">
              <a:buNone/>
            </a:pPr>
            <a:r>
              <a:rPr lang="en-US" sz="1300" dirty="0">
                <a:solidFill>
                  <a:srgbClr val="C4B5FD"/>
                </a:solidFill>
                <a:latin typeface="Calibri Light" pitchFamily="34" charset="0"/>
                <a:ea typeface="Calibri Light" pitchFamily="34" charset="-122"/>
                <a:cs typeface="Calibri Light" pitchFamily="34" charset="-120"/>
              </a:rPr>
              <a:t>Teacher soft labels as implicit minority class augmentation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a:effectLst/>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How the teacher transfers minority class knowledge</a:t>
            </a:r>
            <a:endParaRPr lang="en-US" sz="2100" dirty="0"/>
          </a:p>
        </p:txBody>
      </p:sp>
      <p:sp>
        <p:nvSpPr>
          <p:cNvPr id="3" name="Shape 1"/>
          <p:cNvSpPr/>
          <p:nvPr/>
        </p:nvSpPr>
        <p:spPr>
          <a:xfrm>
            <a:off x="320040" y="841248"/>
            <a:ext cx="8366760" cy="859536"/>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4" name="Shape 2"/>
          <p:cNvSpPr/>
          <p:nvPr/>
        </p:nvSpPr>
        <p:spPr>
          <a:xfrm>
            <a:off x="320040" y="841248"/>
            <a:ext cx="64008" cy="859536"/>
          </a:xfrm>
          <a:prstGeom prst="rect">
            <a:avLst/>
          </a:prstGeom>
          <a:solidFill>
            <a:srgbClr val="7C3AED"/>
          </a:solidFill>
          <a:ln w="12700">
            <a:solidFill>
              <a:srgbClr val="7C3AED"/>
            </a:solidFill>
            <a:prstDash val="solid"/>
          </a:ln>
        </p:spPr>
      </p:sp>
      <p:sp>
        <p:nvSpPr>
          <p:cNvPr id="5" name="Text 3"/>
          <p:cNvSpPr/>
          <p:nvPr/>
        </p:nvSpPr>
        <p:spPr>
          <a:xfrm>
            <a:off x="457200" y="896112"/>
            <a:ext cx="384048" cy="347472"/>
          </a:xfrm>
          <a:prstGeom prst="rect">
            <a:avLst/>
          </a:prstGeom>
          <a:noFill/>
          <a:ln/>
        </p:spPr>
        <p:txBody>
          <a:bodyPr wrap="square" lIns="0" tIns="0" rIns="0" bIns="0" rtlCol="0" anchor="ctr"/>
          <a:lstStyle/>
          <a:p>
            <a:pPr marL="0" indent="0">
              <a:buNone/>
            </a:pPr>
            <a:r>
              <a:rPr lang="en-US" sz="1800" b="1" dirty="0">
                <a:solidFill>
                  <a:srgbClr val="7C3AED"/>
                </a:solidFill>
                <a:latin typeface="Calibri" pitchFamily="34" charset="0"/>
                <a:ea typeface="Calibri" pitchFamily="34" charset="-122"/>
                <a:cs typeface="Calibri" pitchFamily="34" charset="-120"/>
              </a:rPr>
              <a:t>01</a:t>
            </a:r>
            <a:endParaRPr lang="en-US" sz="1800" dirty="0"/>
          </a:p>
        </p:txBody>
      </p:sp>
      <p:sp>
        <p:nvSpPr>
          <p:cNvPr id="6" name="Text 4"/>
          <p:cNvSpPr/>
          <p:nvPr/>
        </p:nvSpPr>
        <p:spPr>
          <a:xfrm>
            <a:off x="932688" y="905256"/>
            <a:ext cx="758952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Soft labels encode full class similarity structure</a:t>
            </a:r>
            <a:endParaRPr lang="en-US" sz="1200" dirty="0"/>
          </a:p>
        </p:txBody>
      </p:sp>
      <p:sp>
        <p:nvSpPr>
          <p:cNvPr id="7" name="Text 5"/>
          <p:cNvSpPr/>
          <p:nvPr/>
        </p:nvSpPr>
        <p:spPr>
          <a:xfrm>
            <a:off x="932688" y="1225296"/>
            <a:ext cx="7589520" cy="420624"/>
          </a:xfrm>
          <a:prstGeom prst="rect">
            <a:avLst/>
          </a:prstGeom>
          <a:noFill/>
          <a:ln/>
        </p:spPr>
        <p:txBody>
          <a:bodyPr wrap="square" lIns="0" tIns="0" rIns="0" bIns="0" rtlCol="0" anchor="ctr"/>
          <a:lstStyle/>
          <a:p>
            <a:pPr marL="0" indent="0">
              <a:buNone/>
            </a:pPr>
            <a:r>
              <a:rPr lang="en-US" sz="1050" dirty="0">
                <a:solidFill>
                  <a:srgbClr val="1E2B38"/>
                </a:solidFill>
                <a:latin typeface="Calibri Light" pitchFamily="34" charset="0"/>
                <a:ea typeface="Calibri Light" pitchFamily="34" charset="-122"/>
                <a:cs typeface="Calibri Light" pitchFamily="34" charset="-120"/>
              </a:rPr>
              <a:t>When the teacher sees a cat image it assigns non-zero probability to similar cat breeds even when correctly predicting the true class. These inter-class probabilities encode "breed X looks like breed Y" — a signal learned from all training examples including the cat samples the student never saw.</a:t>
            </a:r>
            <a:endParaRPr lang="en-US" sz="1050" dirty="0"/>
          </a:p>
        </p:txBody>
      </p:sp>
      <p:sp>
        <p:nvSpPr>
          <p:cNvPr id="8" name="Shape 6"/>
          <p:cNvSpPr/>
          <p:nvPr/>
        </p:nvSpPr>
        <p:spPr>
          <a:xfrm>
            <a:off x="320040" y="1828800"/>
            <a:ext cx="8366760" cy="859536"/>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9" name="Shape 7"/>
          <p:cNvSpPr/>
          <p:nvPr/>
        </p:nvSpPr>
        <p:spPr>
          <a:xfrm>
            <a:off x="320040" y="1828800"/>
            <a:ext cx="64008" cy="859536"/>
          </a:xfrm>
          <a:prstGeom prst="rect">
            <a:avLst/>
          </a:prstGeom>
          <a:solidFill>
            <a:srgbClr val="028090"/>
          </a:solidFill>
          <a:ln w="12700">
            <a:solidFill>
              <a:srgbClr val="028090"/>
            </a:solidFill>
            <a:prstDash val="solid"/>
          </a:ln>
        </p:spPr>
      </p:sp>
      <p:sp>
        <p:nvSpPr>
          <p:cNvPr id="10" name="Text 8"/>
          <p:cNvSpPr/>
          <p:nvPr/>
        </p:nvSpPr>
        <p:spPr>
          <a:xfrm>
            <a:off x="457200" y="1883664"/>
            <a:ext cx="384048" cy="347472"/>
          </a:xfrm>
          <a:prstGeom prst="rect">
            <a:avLst/>
          </a:prstGeom>
          <a:noFill/>
          <a:ln/>
        </p:spPr>
        <p:txBody>
          <a:bodyPr wrap="square" lIns="0" tIns="0" rIns="0" bIns="0" rtlCol="0" anchor="ctr"/>
          <a:lstStyle/>
          <a:p>
            <a:pPr marL="0" indent="0">
              <a:buNone/>
            </a:pPr>
            <a:r>
              <a:rPr lang="en-US" sz="1800" b="1" dirty="0">
                <a:solidFill>
                  <a:srgbClr val="028090"/>
                </a:solidFill>
                <a:latin typeface="Calibri" pitchFamily="34" charset="0"/>
                <a:ea typeface="Calibri" pitchFamily="34" charset="-122"/>
                <a:cs typeface="Calibri" pitchFamily="34" charset="-120"/>
              </a:rPr>
              <a:t>02</a:t>
            </a:r>
            <a:endParaRPr lang="en-US" sz="1800" dirty="0"/>
          </a:p>
        </p:txBody>
      </p:sp>
      <p:sp>
        <p:nvSpPr>
          <p:cNvPr id="11" name="Text 9"/>
          <p:cNvSpPr/>
          <p:nvPr/>
        </p:nvSpPr>
        <p:spPr>
          <a:xfrm>
            <a:off x="932688" y="1892808"/>
            <a:ext cx="758952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KL divergence transfers the teacher's uncertainty distribution</a:t>
            </a:r>
            <a:endParaRPr lang="en-US" sz="1200" dirty="0"/>
          </a:p>
        </p:txBody>
      </p:sp>
      <p:sp>
        <p:nvSpPr>
          <p:cNvPr id="12" name="Text 10"/>
          <p:cNvSpPr/>
          <p:nvPr/>
        </p:nvSpPr>
        <p:spPr>
          <a:xfrm>
            <a:off x="932688" y="2212848"/>
            <a:ext cx="7589520" cy="420624"/>
          </a:xfrm>
          <a:prstGeom prst="rect">
            <a:avLst/>
          </a:prstGeom>
          <a:noFill/>
          <a:ln/>
        </p:spPr>
        <p:txBody>
          <a:bodyPr wrap="square" lIns="0" tIns="0" rIns="0" bIns="0" rtlCol="0" anchor="ctr"/>
          <a:lstStyle/>
          <a:p>
            <a:pPr marL="0" indent="0">
              <a:buNone/>
            </a:pPr>
            <a:r>
              <a:rPr lang="en-US" sz="1050" dirty="0">
                <a:solidFill>
                  <a:srgbClr val="1E2B38"/>
                </a:solidFill>
                <a:latin typeface="Calibri Light" pitchFamily="34" charset="0"/>
                <a:ea typeface="Calibri Light" pitchFamily="34" charset="-122"/>
                <a:cs typeface="Calibri Light" pitchFamily="34" charset="-120"/>
              </a:rPr>
              <a:t>The KL loss (weight 0.5) forces the student to match the teacher's full softmax distribution at temperature T=4. For a minority cat class, the teacher has calibrated uncertainty across other cat breeds. The student learns this uncertainty even without having seen those training examples itself.</a:t>
            </a:r>
            <a:endParaRPr lang="en-US" sz="1050" dirty="0"/>
          </a:p>
        </p:txBody>
      </p:sp>
      <p:sp>
        <p:nvSpPr>
          <p:cNvPr id="13" name="Shape 11"/>
          <p:cNvSpPr/>
          <p:nvPr/>
        </p:nvSpPr>
        <p:spPr>
          <a:xfrm>
            <a:off x="320040" y="2816352"/>
            <a:ext cx="8366760" cy="859536"/>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14" name="Shape 12"/>
          <p:cNvSpPr/>
          <p:nvPr/>
        </p:nvSpPr>
        <p:spPr>
          <a:xfrm>
            <a:off x="320040" y="2816352"/>
            <a:ext cx="64008" cy="859536"/>
          </a:xfrm>
          <a:prstGeom prst="rect">
            <a:avLst/>
          </a:prstGeom>
          <a:solidFill>
            <a:srgbClr val="0F766E"/>
          </a:solidFill>
          <a:ln w="12700">
            <a:solidFill>
              <a:srgbClr val="0F766E"/>
            </a:solidFill>
            <a:prstDash val="solid"/>
          </a:ln>
        </p:spPr>
      </p:sp>
      <p:sp>
        <p:nvSpPr>
          <p:cNvPr id="15" name="Text 13"/>
          <p:cNvSpPr/>
          <p:nvPr/>
        </p:nvSpPr>
        <p:spPr>
          <a:xfrm>
            <a:off x="457200" y="2871216"/>
            <a:ext cx="384048" cy="347472"/>
          </a:xfrm>
          <a:prstGeom prst="rect">
            <a:avLst/>
          </a:prstGeom>
          <a:noFill/>
          <a:ln/>
        </p:spPr>
        <p:txBody>
          <a:bodyPr wrap="square" lIns="0" tIns="0" rIns="0" bIns="0" rtlCol="0" anchor="ctr"/>
          <a:lstStyle/>
          <a:p>
            <a:pPr marL="0" indent="0">
              <a:buNone/>
            </a:pPr>
            <a:r>
              <a:rPr lang="en-US" sz="1800" b="1" dirty="0">
                <a:solidFill>
                  <a:srgbClr val="0F766E"/>
                </a:solidFill>
                <a:latin typeface="Calibri" pitchFamily="34" charset="0"/>
                <a:ea typeface="Calibri" pitchFamily="34" charset="-122"/>
                <a:cs typeface="Calibri" pitchFamily="34" charset="-120"/>
              </a:rPr>
              <a:t>03</a:t>
            </a:r>
            <a:endParaRPr lang="en-US" sz="1800" dirty="0"/>
          </a:p>
        </p:txBody>
      </p:sp>
      <p:sp>
        <p:nvSpPr>
          <p:cNvPr id="16" name="Text 14"/>
          <p:cNvSpPr/>
          <p:nvPr/>
        </p:nvSpPr>
        <p:spPr>
          <a:xfrm>
            <a:off x="932688" y="2880360"/>
            <a:ext cx="758952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Oversampling vs soft labels — a fundamental difference</a:t>
            </a:r>
            <a:endParaRPr lang="en-US" sz="1200" dirty="0"/>
          </a:p>
        </p:txBody>
      </p:sp>
      <p:sp>
        <p:nvSpPr>
          <p:cNvPr id="17" name="Text 15"/>
          <p:cNvSpPr/>
          <p:nvPr/>
        </p:nvSpPr>
        <p:spPr>
          <a:xfrm>
            <a:off x="932688" y="3200400"/>
            <a:ext cx="7589520" cy="420624"/>
          </a:xfrm>
          <a:prstGeom prst="rect">
            <a:avLst/>
          </a:prstGeom>
          <a:noFill/>
          <a:ln/>
        </p:spPr>
        <p:txBody>
          <a:bodyPr wrap="square" lIns="0" tIns="0" rIns="0" bIns="0" rtlCol="0" anchor="ctr"/>
          <a:lstStyle/>
          <a:p>
            <a:pPr marL="0" indent="0">
              <a:buNone/>
            </a:pPr>
            <a:r>
              <a:rPr lang="en-US" sz="1050" dirty="0">
                <a:solidFill>
                  <a:srgbClr val="1E2B38"/>
                </a:solidFill>
                <a:latin typeface="Calibri Light" pitchFamily="34" charset="0"/>
                <a:ea typeface="Calibri Light" pitchFamily="34" charset="-122"/>
                <a:cs typeface="Calibri Light" pitchFamily="34" charset="-120"/>
              </a:rPr>
              <a:t>Oversampling repeats the same few cat examples, which can cause overfitting to those specific instances. Soft labels synthesise new information by carrying the teacher's generalised knowledge of the cat class manifold, not just the minority samples themselves.</a:t>
            </a:r>
            <a:endParaRPr lang="en-US" sz="1050" dirty="0"/>
          </a:p>
        </p:txBody>
      </p:sp>
      <p:sp>
        <p:nvSpPr>
          <p:cNvPr id="18" name="Shape 16"/>
          <p:cNvSpPr/>
          <p:nvPr/>
        </p:nvSpPr>
        <p:spPr>
          <a:xfrm>
            <a:off x="320040" y="3803904"/>
            <a:ext cx="8366760" cy="859536"/>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sp>
      <p:sp>
        <p:nvSpPr>
          <p:cNvPr id="19" name="Shape 17"/>
          <p:cNvSpPr/>
          <p:nvPr/>
        </p:nvSpPr>
        <p:spPr>
          <a:xfrm>
            <a:off x="320040" y="3803904"/>
            <a:ext cx="64008" cy="859536"/>
          </a:xfrm>
          <a:prstGeom prst="rect">
            <a:avLst/>
          </a:prstGeom>
          <a:solidFill>
            <a:srgbClr val="B45309"/>
          </a:solidFill>
          <a:ln w="12700">
            <a:solidFill>
              <a:srgbClr val="B45309"/>
            </a:solidFill>
            <a:prstDash val="solid"/>
          </a:ln>
        </p:spPr>
      </p:sp>
      <p:sp>
        <p:nvSpPr>
          <p:cNvPr id="20" name="Text 18"/>
          <p:cNvSpPr/>
          <p:nvPr/>
        </p:nvSpPr>
        <p:spPr>
          <a:xfrm>
            <a:off x="457200" y="3858768"/>
            <a:ext cx="384048" cy="347472"/>
          </a:xfrm>
          <a:prstGeom prst="rect">
            <a:avLst/>
          </a:prstGeom>
          <a:noFill/>
          <a:ln/>
        </p:spPr>
        <p:txBody>
          <a:bodyPr wrap="square" lIns="0" tIns="0" rIns="0" bIns="0" rtlCol="0" anchor="ctr"/>
          <a:lstStyle/>
          <a:p>
            <a:pPr marL="0" indent="0">
              <a:buNone/>
            </a:pPr>
            <a:r>
              <a:rPr lang="en-US" sz="1800" b="1" dirty="0">
                <a:solidFill>
                  <a:srgbClr val="B45309"/>
                </a:solidFill>
                <a:latin typeface="Calibri" pitchFamily="34" charset="0"/>
                <a:ea typeface="Calibri" pitchFamily="34" charset="-122"/>
                <a:cs typeface="Calibri" pitchFamily="34" charset="-120"/>
              </a:rPr>
              <a:t>04</a:t>
            </a:r>
            <a:endParaRPr lang="en-US" sz="1800" dirty="0"/>
          </a:p>
        </p:txBody>
      </p:sp>
      <p:sp>
        <p:nvSpPr>
          <p:cNvPr id="21" name="Text 19"/>
          <p:cNvSpPr/>
          <p:nvPr/>
        </p:nvSpPr>
        <p:spPr>
          <a:xfrm>
            <a:off x="932688" y="3867912"/>
            <a:ext cx="758952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Why the gain is larger for cats than dogs</a:t>
            </a:r>
            <a:endParaRPr lang="en-US" sz="1200" dirty="0"/>
          </a:p>
        </p:txBody>
      </p:sp>
      <p:sp>
        <p:nvSpPr>
          <p:cNvPr id="22" name="Text 20"/>
          <p:cNvSpPr/>
          <p:nvPr/>
        </p:nvSpPr>
        <p:spPr>
          <a:xfrm>
            <a:off x="932688" y="4187952"/>
            <a:ext cx="7589520" cy="420624"/>
          </a:xfrm>
          <a:prstGeom prst="rect">
            <a:avLst/>
          </a:prstGeom>
          <a:noFill/>
          <a:ln/>
        </p:spPr>
        <p:txBody>
          <a:bodyPr wrap="square" lIns="0" tIns="0" rIns="0" bIns="0" rtlCol="0" anchor="ctr"/>
          <a:lstStyle/>
          <a:p>
            <a:pPr marL="0" indent="0">
              <a:buNone/>
            </a:pPr>
            <a:r>
              <a:rPr lang="en-US" sz="1050" dirty="0">
                <a:solidFill>
                  <a:srgbClr val="1E2B38"/>
                </a:solidFill>
                <a:latin typeface="Calibri Light" pitchFamily="34" charset="0"/>
                <a:ea typeface="Calibri Light" pitchFamily="34" charset="-122"/>
                <a:cs typeface="Calibri Light" pitchFamily="34" charset="-120"/>
              </a:rPr>
              <a:t>The information gap is larger for cats. The student has 80% fewer cat training examples than the teacher. The distillation signal fills a bigger deficit. Dogs already have near-parity — both student and teacher saw most dog examples — so the marginal benefit from teacher knowledge is smaller.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Text 1"/>
          <p:cNvSpPr/>
          <p:nvPr/>
        </p:nvSpPr>
        <p:spPr>
          <a:xfrm>
            <a:off x="457200" y="201168"/>
            <a:ext cx="8229600" cy="56692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Key findings</a:t>
            </a:r>
            <a:endParaRPr lang="en-US" sz="2400" dirty="0"/>
          </a:p>
        </p:txBody>
      </p:sp>
      <p:sp>
        <p:nvSpPr>
          <p:cNvPr id="4" name="Shape 2"/>
          <p:cNvSpPr/>
          <p:nvPr/>
        </p:nvSpPr>
        <p:spPr>
          <a:xfrm>
            <a:off x="411480" y="960120"/>
            <a:ext cx="8275320" cy="859536"/>
          </a:xfrm>
          <a:prstGeom prst="rect">
            <a:avLst/>
          </a:prstGeom>
          <a:solidFill>
            <a:srgbClr val="FFFFFF">
              <a:alpha val="9000"/>
            </a:srgbClr>
          </a:solidFill>
          <a:ln w="3810">
            <a:solidFill>
              <a:srgbClr val="FFFFFF">
                <a:alpha val="30000"/>
              </a:srgbClr>
            </a:solidFill>
            <a:prstDash val="solid"/>
          </a:ln>
        </p:spPr>
      </p:sp>
      <p:sp>
        <p:nvSpPr>
          <p:cNvPr id="5" name="Shape 3"/>
          <p:cNvSpPr/>
          <p:nvPr/>
        </p:nvSpPr>
        <p:spPr>
          <a:xfrm>
            <a:off x="411480" y="960120"/>
            <a:ext cx="64008" cy="859536"/>
          </a:xfrm>
          <a:prstGeom prst="rect">
            <a:avLst/>
          </a:prstGeom>
          <a:solidFill>
            <a:srgbClr val="C4B5FD"/>
          </a:solidFill>
          <a:ln w="12700">
            <a:solidFill>
              <a:srgbClr val="C4B5FD"/>
            </a:solidFill>
            <a:prstDash val="solid"/>
          </a:ln>
        </p:spPr>
      </p:sp>
      <p:sp>
        <p:nvSpPr>
          <p:cNvPr id="6" name="Text 4"/>
          <p:cNvSpPr/>
          <p:nvPr/>
        </p:nvSpPr>
        <p:spPr>
          <a:xfrm>
            <a:off x="548640" y="1005840"/>
            <a:ext cx="384048" cy="365760"/>
          </a:xfrm>
          <a:prstGeom prst="rect">
            <a:avLst/>
          </a:prstGeom>
          <a:noFill/>
          <a:ln/>
        </p:spPr>
        <p:txBody>
          <a:bodyPr wrap="square" lIns="0" tIns="0" rIns="0" bIns="0" rtlCol="0" anchor="ctr"/>
          <a:lstStyle/>
          <a:p>
            <a:pPr marL="0" indent="0">
              <a:buNone/>
            </a:pPr>
            <a:r>
              <a:rPr lang="en-US" sz="2000" b="1" dirty="0">
                <a:solidFill>
                  <a:srgbClr val="C4B5FD"/>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024128" y="1051560"/>
            <a:ext cx="7452360" cy="694944"/>
          </a:xfrm>
          <a:prstGeom prst="rect">
            <a:avLst/>
          </a:prstGeom>
          <a:noFill/>
          <a:ln/>
        </p:spPr>
        <p:txBody>
          <a:bodyPr wrap="square" rtlCol="0" anchor="ctr"/>
          <a:lstStyle/>
          <a:p>
            <a:pPr marL="0" indent="0">
              <a:lnSpc>
                <a:spcPct val="130000"/>
              </a:lnSpc>
              <a:buNone/>
            </a:pPr>
            <a:r>
              <a:rPr lang="en-US" sz="1150" dirty="0">
                <a:solidFill>
                  <a:srgbClr val="E8F4F8"/>
                </a:solidFill>
                <a:latin typeface="Calibri Light" pitchFamily="34" charset="0"/>
                <a:ea typeface="Calibri Light" pitchFamily="34" charset="-122"/>
                <a:cs typeface="Calibri Light" pitchFamily="34" charset="-120"/>
              </a:rPr>
              <a:t>Distillation from a balanced teacher outperforms direct finetuning with oversampling by +5.83pt accuracy and +6.14pt macro F1 — without a single class regressing. It is also 10.7 min faster to train.</a:t>
            </a:r>
            <a:endParaRPr lang="en-US" sz="1150" dirty="0"/>
          </a:p>
        </p:txBody>
      </p:sp>
      <p:sp>
        <p:nvSpPr>
          <p:cNvPr id="8" name="Shape 6"/>
          <p:cNvSpPr/>
          <p:nvPr/>
        </p:nvSpPr>
        <p:spPr>
          <a:xfrm>
            <a:off x="411480" y="1947672"/>
            <a:ext cx="8275320" cy="859536"/>
          </a:xfrm>
          <a:prstGeom prst="rect">
            <a:avLst/>
          </a:prstGeom>
          <a:solidFill>
            <a:srgbClr val="FFFFFF">
              <a:alpha val="9000"/>
            </a:srgbClr>
          </a:solidFill>
          <a:ln w="3810">
            <a:solidFill>
              <a:srgbClr val="FFFFFF">
                <a:alpha val="30000"/>
              </a:srgbClr>
            </a:solidFill>
            <a:prstDash val="solid"/>
          </a:ln>
        </p:spPr>
      </p:sp>
      <p:sp>
        <p:nvSpPr>
          <p:cNvPr id="9" name="Shape 7"/>
          <p:cNvSpPr/>
          <p:nvPr/>
        </p:nvSpPr>
        <p:spPr>
          <a:xfrm>
            <a:off x="411480" y="1947672"/>
            <a:ext cx="64008" cy="859536"/>
          </a:xfrm>
          <a:prstGeom prst="rect">
            <a:avLst/>
          </a:prstGeom>
          <a:solidFill>
            <a:srgbClr val="A78BFA"/>
          </a:solidFill>
          <a:ln w="12700">
            <a:solidFill>
              <a:srgbClr val="A78BFA"/>
            </a:solidFill>
            <a:prstDash val="solid"/>
          </a:ln>
        </p:spPr>
      </p:sp>
      <p:sp>
        <p:nvSpPr>
          <p:cNvPr id="10" name="Text 8"/>
          <p:cNvSpPr/>
          <p:nvPr/>
        </p:nvSpPr>
        <p:spPr>
          <a:xfrm>
            <a:off x="548640" y="1993392"/>
            <a:ext cx="384048" cy="365760"/>
          </a:xfrm>
          <a:prstGeom prst="rect">
            <a:avLst/>
          </a:prstGeom>
          <a:noFill/>
          <a:ln/>
        </p:spPr>
        <p:txBody>
          <a:bodyPr wrap="square" lIns="0" tIns="0" rIns="0" bIns="0" rtlCol="0" anchor="ctr"/>
          <a:lstStyle/>
          <a:p>
            <a:pPr marL="0" indent="0">
              <a:buNone/>
            </a:pPr>
            <a:r>
              <a:rPr lang="en-US" sz="2000" b="1" dirty="0">
                <a:solidFill>
                  <a:srgbClr val="A78BFA"/>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1024128" y="2039112"/>
            <a:ext cx="7452360" cy="694944"/>
          </a:xfrm>
          <a:prstGeom prst="rect">
            <a:avLst/>
          </a:prstGeom>
          <a:noFill/>
          <a:ln/>
        </p:spPr>
        <p:txBody>
          <a:bodyPr wrap="square" rtlCol="0" anchor="ctr"/>
          <a:lstStyle/>
          <a:p>
            <a:pPr marL="0" indent="0">
              <a:lnSpc>
                <a:spcPct val="130000"/>
              </a:lnSpc>
              <a:buNone/>
            </a:pPr>
            <a:r>
              <a:rPr lang="en-US" sz="1150" dirty="0">
                <a:solidFill>
                  <a:srgbClr val="E8F4F8"/>
                </a:solidFill>
                <a:latin typeface="Calibri Light" pitchFamily="34" charset="0"/>
                <a:ea typeface="Calibri Light" pitchFamily="34" charset="-122"/>
                <a:cs typeface="Calibri Light" pitchFamily="34" charset="-120"/>
              </a:rPr>
              <a:t>Cat classes (minority, 20% training data) gain 1.65× more than dog classes (majority, 100% training data). The mean cat-class F1 rises from 0.721 to 0.805 — a +8.4pt lift on the underrepresented species.</a:t>
            </a:r>
            <a:endParaRPr lang="en-US" sz="1150" dirty="0"/>
          </a:p>
        </p:txBody>
      </p:sp>
      <p:sp>
        <p:nvSpPr>
          <p:cNvPr id="12" name="Shape 10"/>
          <p:cNvSpPr/>
          <p:nvPr/>
        </p:nvSpPr>
        <p:spPr>
          <a:xfrm>
            <a:off x="411480" y="2935224"/>
            <a:ext cx="8275320" cy="859536"/>
          </a:xfrm>
          <a:prstGeom prst="rect">
            <a:avLst/>
          </a:prstGeom>
          <a:solidFill>
            <a:srgbClr val="FFFFFF">
              <a:alpha val="9000"/>
            </a:srgbClr>
          </a:solidFill>
          <a:ln w="3810">
            <a:solidFill>
              <a:srgbClr val="FFFFFF">
                <a:alpha val="30000"/>
              </a:srgbClr>
            </a:solidFill>
            <a:prstDash val="solid"/>
          </a:ln>
        </p:spPr>
      </p:sp>
      <p:sp>
        <p:nvSpPr>
          <p:cNvPr id="13" name="Shape 11"/>
          <p:cNvSpPr/>
          <p:nvPr/>
        </p:nvSpPr>
        <p:spPr>
          <a:xfrm>
            <a:off x="411480" y="2935224"/>
            <a:ext cx="64008" cy="859536"/>
          </a:xfrm>
          <a:prstGeom prst="rect">
            <a:avLst/>
          </a:prstGeom>
          <a:solidFill>
            <a:srgbClr val="7DD3FC"/>
          </a:solidFill>
          <a:ln w="12700">
            <a:solidFill>
              <a:srgbClr val="7DD3FC"/>
            </a:solidFill>
            <a:prstDash val="solid"/>
          </a:ln>
        </p:spPr>
      </p:sp>
      <p:sp>
        <p:nvSpPr>
          <p:cNvPr id="14" name="Text 12"/>
          <p:cNvSpPr/>
          <p:nvPr/>
        </p:nvSpPr>
        <p:spPr>
          <a:xfrm>
            <a:off x="548640" y="2980944"/>
            <a:ext cx="384048" cy="365760"/>
          </a:xfrm>
          <a:prstGeom prst="rect">
            <a:avLst/>
          </a:prstGeom>
          <a:noFill/>
          <a:ln/>
        </p:spPr>
        <p:txBody>
          <a:bodyPr wrap="square" lIns="0" tIns="0" rIns="0" bIns="0" rtlCol="0" anchor="ctr"/>
          <a:lstStyle/>
          <a:p>
            <a:pPr marL="0" indent="0">
              <a:buNone/>
            </a:pPr>
            <a:r>
              <a:rPr lang="en-US" sz="2000" b="1" dirty="0">
                <a:solidFill>
                  <a:srgbClr val="7DD3FC"/>
                </a:solidFill>
                <a:latin typeface="Calibri" pitchFamily="34" charset="0"/>
                <a:ea typeface="Calibri" pitchFamily="34" charset="-122"/>
                <a:cs typeface="Calibri" pitchFamily="34" charset="-120"/>
              </a:rPr>
              <a:t>3</a:t>
            </a:r>
            <a:endParaRPr lang="en-US" sz="2000" dirty="0"/>
          </a:p>
        </p:txBody>
      </p:sp>
      <p:sp>
        <p:nvSpPr>
          <p:cNvPr id="15" name="Text 13"/>
          <p:cNvSpPr/>
          <p:nvPr/>
        </p:nvSpPr>
        <p:spPr>
          <a:xfrm>
            <a:off x="1024128" y="3026664"/>
            <a:ext cx="7452360" cy="694944"/>
          </a:xfrm>
          <a:prstGeom prst="rect">
            <a:avLst/>
          </a:prstGeom>
          <a:noFill/>
          <a:ln/>
        </p:spPr>
        <p:txBody>
          <a:bodyPr wrap="square" rtlCol="0" anchor="ctr"/>
          <a:lstStyle/>
          <a:p>
            <a:pPr marL="0" indent="0">
              <a:lnSpc>
                <a:spcPct val="130000"/>
              </a:lnSpc>
              <a:buNone/>
            </a:pPr>
            <a:r>
              <a:rPr lang="en-US" sz="1150" dirty="0">
                <a:solidFill>
                  <a:srgbClr val="E8F4F8"/>
                </a:solidFill>
                <a:latin typeface="Calibri Light" pitchFamily="34" charset="0"/>
                <a:ea typeface="Calibri Light" pitchFamily="34" charset="-122"/>
                <a:cs typeface="Calibri Light" pitchFamily="34" charset="-120"/>
              </a:rPr>
              <a:t>The mechanism is the teacher's soft label distribution: it encodes calibrated uncertainty across similar minority breeds that the student never saw in training. KL divergence transfers this implicit knowledge.</a:t>
            </a:r>
            <a:endParaRPr lang="en-US" sz="1150" dirty="0"/>
          </a:p>
        </p:txBody>
      </p:sp>
      <p:sp>
        <p:nvSpPr>
          <p:cNvPr id="16" name="Shape 14"/>
          <p:cNvSpPr/>
          <p:nvPr/>
        </p:nvSpPr>
        <p:spPr>
          <a:xfrm>
            <a:off x="411480" y="3922776"/>
            <a:ext cx="8275320" cy="859536"/>
          </a:xfrm>
          <a:prstGeom prst="rect">
            <a:avLst/>
          </a:prstGeom>
          <a:solidFill>
            <a:srgbClr val="FFFFFF">
              <a:alpha val="9000"/>
            </a:srgbClr>
          </a:solidFill>
          <a:ln w="3810">
            <a:solidFill>
              <a:srgbClr val="FFFFFF">
                <a:alpha val="30000"/>
              </a:srgbClr>
            </a:solidFill>
            <a:prstDash val="solid"/>
          </a:ln>
        </p:spPr>
      </p:sp>
      <p:sp>
        <p:nvSpPr>
          <p:cNvPr id="17" name="Shape 15"/>
          <p:cNvSpPr/>
          <p:nvPr/>
        </p:nvSpPr>
        <p:spPr>
          <a:xfrm>
            <a:off x="411480" y="3922776"/>
            <a:ext cx="64008" cy="859536"/>
          </a:xfrm>
          <a:prstGeom prst="rect">
            <a:avLst/>
          </a:prstGeom>
          <a:solidFill>
            <a:srgbClr val="6EE7B7"/>
          </a:solidFill>
          <a:ln w="12700">
            <a:solidFill>
              <a:srgbClr val="6EE7B7"/>
            </a:solidFill>
            <a:prstDash val="solid"/>
          </a:ln>
        </p:spPr>
      </p:sp>
      <p:sp>
        <p:nvSpPr>
          <p:cNvPr id="18" name="Text 16"/>
          <p:cNvSpPr/>
          <p:nvPr/>
        </p:nvSpPr>
        <p:spPr>
          <a:xfrm>
            <a:off x="548640" y="3968496"/>
            <a:ext cx="384048" cy="365760"/>
          </a:xfrm>
          <a:prstGeom prst="rect">
            <a:avLst/>
          </a:prstGeom>
          <a:noFill/>
          <a:ln/>
        </p:spPr>
        <p:txBody>
          <a:bodyPr wrap="square" lIns="0" tIns="0" rIns="0" bIns="0" rtlCol="0" anchor="ctr"/>
          <a:lstStyle/>
          <a:p>
            <a:pPr marL="0" indent="0">
              <a:buNone/>
            </a:pPr>
            <a:r>
              <a:rPr lang="en-US" sz="2000" b="1" dirty="0">
                <a:solidFill>
                  <a:srgbClr val="6EE7B7"/>
                </a:solidFill>
                <a:latin typeface="Calibri" pitchFamily="34" charset="0"/>
                <a:ea typeface="Calibri" pitchFamily="34" charset="-122"/>
                <a:cs typeface="Calibri" pitchFamily="34" charset="-120"/>
              </a:rPr>
              <a:t>4</a:t>
            </a:r>
            <a:endParaRPr lang="en-US" sz="2000" dirty="0"/>
          </a:p>
        </p:txBody>
      </p:sp>
      <p:sp>
        <p:nvSpPr>
          <p:cNvPr id="19" name="Text 17"/>
          <p:cNvSpPr/>
          <p:nvPr/>
        </p:nvSpPr>
        <p:spPr>
          <a:xfrm>
            <a:off x="1024128" y="4014216"/>
            <a:ext cx="7452360" cy="694944"/>
          </a:xfrm>
          <a:prstGeom prst="rect">
            <a:avLst/>
          </a:prstGeom>
          <a:noFill/>
          <a:ln/>
        </p:spPr>
        <p:txBody>
          <a:bodyPr wrap="square" rtlCol="0" anchor="ctr"/>
          <a:lstStyle/>
          <a:p>
            <a:pPr marL="0" indent="0">
              <a:lnSpc>
                <a:spcPct val="130000"/>
              </a:lnSpc>
              <a:buNone/>
            </a:pPr>
            <a:r>
              <a:rPr lang="en-US" sz="1150" dirty="0">
                <a:solidFill>
                  <a:srgbClr val="E8F4F8"/>
                </a:solidFill>
                <a:latin typeface="Calibri Light" pitchFamily="34" charset="0"/>
                <a:ea typeface="Calibri Light" pitchFamily="34" charset="-122"/>
                <a:cs typeface="Calibri Light" pitchFamily="34" charset="-120"/>
              </a:rPr>
              <a:t>This demonstrates that knowledge distillation is not merely a compression technique — it is an effective strategy for minority class recovery when a balanced teacher is available, outperforming standard oversampling.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1045</Words>
  <Application>Microsoft Office PowerPoint</Application>
  <PresentationFormat>On-screen Show (16:9)</PresentationFormat>
  <Paragraphs>126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Bhaswat Raj</cp:lastModifiedBy>
  <cp:revision>2</cp:revision>
  <dcterms:created xsi:type="dcterms:W3CDTF">2026-05-10T08:12:52Z</dcterms:created>
  <dcterms:modified xsi:type="dcterms:W3CDTF">2026-05-10T08:18:51Z</dcterms:modified>
</cp:coreProperties>
</file>