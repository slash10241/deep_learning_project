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0.xml" ContentType="application/vnd.openxmlformats-officedocument.presentationml.notesSlide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382-476D-9FEC-6B73077B42C3}"/>
              </c:ext>
            </c:extLst>
          </c:dPt>
          <c:dPt>
            <c:idx val="1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382-476D-9FEC-6B73077B42C3}"/>
              </c:ext>
            </c:extLst>
          </c:dPt>
          <c:dPt>
            <c:idx val="2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382-476D-9FEC-6B73077B42C3}"/>
              </c:ext>
            </c:extLst>
          </c:dPt>
          <c:dPt>
            <c:idx val="3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D382-476D-9FEC-6B73077B42C3}"/>
              </c:ext>
            </c:extLst>
          </c:dPt>
          <c:dPt>
            <c:idx val="4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D382-476D-9FEC-6B73077B42C3}"/>
              </c:ext>
            </c:extLst>
          </c:dPt>
          <c:dPt>
            <c:idx val="5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D382-476D-9FEC-6B73077B42C3}"/>
              </c:ext>
            </c:extLst>
          </c:dPt>
          <c:dPt>
            <c:idx val="6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D382-476D-9FEC-6B73077B42C3}"/>
              </c:ext>
            </c:extLst>
          </c:dPt>
          <c:dPt>
            <c:idx val="7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D382-476D-9FEC-6B73077B42C3}"/>
              </c:ext>
            </c:extLst>
          </c:dPt>
          <c:dPt>
            <c:idx val="8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D382-476D-9FEC-6B73077B42C3}"/>
              </c:ext>
            </c:extLst>
          </c:dPt>
          <c:dPt>
            <c:idx val="9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D382-476D-9FEC-6B73077B42C3}"/>
              </c:ext>
            </c:extLst>
          </c:dPt>
          <c:dPt>
            <c:idx val="10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D382-476D-9FEC-6B73077B42C3}"/>
              </c:ext>
            </c:extLst>
          </c:dPt>
          <c:dPt>
            <c:idx val="11"/>
            <c:invertIfNegative val="0"/>
            <c:bubble3D val="0"/>
            <c:spPr>
              <a:solidFill>
                <a:srgbClr val="93C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D382-476D-9FEC-6B73077B42C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erasing+jitter+mix-high</c:v>
                </c:pt>
                <c:pt idx="1">
                  <c:v>cutmix_low_alpha</c:v>
                </c:pt>
                <c:pt idx="2">
                  <c:v>erasing_high_prob</c:v>
                </c:pt>
                <c:pt idx="3">
                  <c:v>cutmix_moderate_alpha</c:v>
                </c:pt>
                <c:pt idx="4">
                  <c:v>jitter_only</c:v>
                </c:pt>
                <c:pt idx="5">
                  <c:v>mixup_moderate_alpha</c:v>
                </c:pt>
                <c:pt idx="6">
                  <c:v>erasing_low_prob</c:v>
                </c:pt>
                <c:pt idx="7">
                  <c:v>basic_augs</c:v>
                </c:pt>
                <c:pt idx="8">
                  <c:v>erasing+jitter+mix-low</c:v>
                </c:pt>
                <c:pt idx="9">
                  <c:v>mixup+cutmix</c:v>
                </c:pt>
                <c:pt idx="10">
                  <c:v>mixup_low_alpha</c:v>
                </c:pt>
                <c:pt idx="11">
                  <c:v>no_augs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92.04</c:v>
                </c:pt>
                <c:pt idx="1">
                  <c:v>91.82</c:v>
                </c:pt>
                <c:pt idx="2">
                  <c:v>91.71</c:v>
                </c:pt>
                <c:pt idx="3">
                  <c:v>91.71</c:v>
                </c:pt>
                <c:pt idx="4">
                  <c:v>91.69</c:v>
                </c:pt>
                <c:pt idx="5">
                  <c:v>91.66</c:v>
                </c:pt>
                <c:pt idx="6">
                  <c:v>91.63</c:v>
                </c:pt>
                <c:pt idx="7">
                  <c:v>91.61</c:v>
                </c:pt>
                <c:pt idx="8">
                  <c:v>91.5</c:v>
                </c:pt>
                <c:pt idx="9">
                  <c:v>91.44</c:v>
                </c:pt>
                <c:pt idx="10">
                  <c:v>91.31</c:v>
                </c:pt>
                <c:pt idx="11">
                  <c:v>91.2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D382-476D-9FEC-6B73077B42C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.5"/>
          <c:min val="90.5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 Blocks Unfrozen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92.07</c:v>
                </c:pt>
                <c:pt idx="1">
                  <c:v>92.86</c:v>
                </c:pt>
                <c:pt idx="2">
                  <c:v>92.97</c:v>
                </c:pt>
                <c:pt idx="3">
                  <c:v>92.37</c:v>
                </c:pt>
                <c:pt idx="4">
                  <c:v>92.75</c:v>
                </c:pt>
                <c:pt idx="5">
                  <c:v>92.89</c:v>
                </c:pt>
                <c:pt idx="6">
                  <c:v>92.86</c:v>
                </c:pt>
                <c:pt idx="7">
                  <c:v>92.59</c:v>
                </c:pt>
                <c:pt idx="8">
                  <c:v>92.7</c:v>
                </c:pt>
                <c:pt idx="9">
                  <c:v>92.53</c:v>
                </c:pt>
                <c:pt idx="10">
                  <c:v>92.58</c:v>
                </c:pt>
                <c:pt idx="11">
                  <c:v>92.78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E9-4BCE-B601-FD86FC3CB7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 Blocks Unfrozen</c:v>
                </c:pt>
              </c:strCache>
            </c:strRef>
          </c:tx>
          <c:spPr>
            <a:solidFill>
              <a:srgbClr val="06B6D4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92.75</c:v>
                </c:pt>
                <c:pt idx="1">
                  <c:v>92.35</c:v>
                </c:pt>
                <c:pt idx="2">
                  <c:v>92.34</c:v>
                </c:pt>
                <c:pt idx="3">
                  <c:v>92.62</c:v>
                </c:pt>
                <c:pt idx="4">
                  <c:v>92.66</c:v>
                </c:pt>
                <c:pt idx="5">
                  <c:v>92.41</c:v>
                </c:pt>
                <c:pt idx="6">
                  <c:v>92.71</c:v>
                </c:pt>
                <c:pt idx="7">
                  <c:v>92.42</c:v>
                </c:pt>
                <c:pt idx="8">
                  <c:v>92.5</c:v>
                </c:pt>
                <c:pt idx="9">
                  <c:v>92.67</c:v>
                </c:pt>
                <c:pt idx="10">
                  <c:v>92.54</c:v>
                </c:pt>
                <c:pt idx="11">
                  <c:v>92.78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0E9-4BCE-B601-FD86FC3CB77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 Blocks Unfrozen</c:v>
                </c:pt>
              </c:strCache>
            </c:strRef>
          </c:tx>
          <c:spPr>
            <a:solidFill>
              <a:srgbClr val="67E8F9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basic_augs</c:v>
                </c:pt>
                <c:pt idx="2">
                  <c:v>erasing_low</c:v>
                </c:pt>
                <c:pt idx="3">
                  <c:v>erasing_high</c:v>
                </c:pt>
                <c:pt idx="4">
                  <c:v>jitter_only</c:v>
                </c:pt>
                <c:pt idx="5">
                  <c:v>mixup_low</c:v>
                </c:pt>
                <c:pt idx="6">
                  <c:v>mixup_mod</c:v>
                </c:pt>
                <c:pt idx="7">
                  <c:v>cutmix_low</c:v>
                </c:pt>
                <c:pt idx="8">
                  <c:v>cutmix_mod</c:v>
                </c:pt>
                <c:pt idx="9">
                  <c:v>mix+cut</c:v>
                </c:pt>
                <c:pt idx="10">
                  <c:v>full_low</c:v>
                </c:pt>
                <c:pt idx="11">
                  <c:v>full_high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92.52</c:v>
                </c:pt>
                <c:pt idx="1">
                  <c:v>92.55</c:v>
                </c:pt>
                <c:pt idx="2">
                  <c:v>92.33</c:v>
                </c:pt>
                <c:pt idx="3">
                  <c:v>92.86</c:v>
                </c:pt>
                <c:pt idx="4">
                  <c:v>92.47</c:v>
                </c:pt>
                <c:pt idx="5">
                  <c:v>92.37</c:v>
                </c:pt>
                <c:pt idx="6">
                  <c:v>92.5</c:v>
                </c:pt>
                <c:pt idx="7">
                  <c:v>92.34</c:v>
                </c:pt>
                <c:pt idx="8">
                  <c:v>92.35</c:v>
                </c:pt>
                <c:pt idx="9">
                  <c:v>92.34</c:v>
                </c:pt>
                <c:pt idx="10">
                  <c:v>92.8</c:v>
                </c:pt>
                <c:pt idx="11">
                  <c:v>92.67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0E9-4BCE-B601-FD86FC3CB7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5"/>
          <c:min val="91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r>
              <a:rPr sz="900" b="0" i="0" u="none" strike="noStrike">
                <a:solidFill>
                  <a:srgbClr val="475569"/>
                </a:solidFill>
                <a:latin typeface="Arial"/>
              </a:rPr>
              <a:t>Avg Accuracy by Unfrozen Block Count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Accuracy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8C4-42D1-9768-571182258F62}"/>
              </c:ext>
            </c:extLst>
          </c:dPt>
          <c:dPt>
            <c:idx val="1"/>
            <c:invertIfNegative val="0"/>
            <c:bubble3D val="0"/>
            <c:spPr>
              <a:solidFill>
                <a:srgbClr val="06B6D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8C4-42D1-9768-571182258F62}"/>
              </c:ext>
            </c:extLst>
          </c:dPt>
          <c:dPt>
            <c:idx val="2"/>
            <c:invertIfNegative val="0"/>
            <c:bubble3D val="0"/>
            <c:spPr>
              <a:solidFill>
                <a:srgbClr val="67E8F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8C4-42D1-9768-571182258F6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 Blocks</c:v>
                </c:pt>
                <c:pt idx="1">
                  <c:v>4 Blocks</c:v>
                </c:pt>
                <c:pt idx="2">
                  <c:v>6 Blocks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92.61</c:v>
                </c:pt>
                <c:pt idx="1">
                  <c:v>92.4</c:v>
                </c:pt>
                <c:pt idx="2">
                  <c:v>92.38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C4-42D1-9768-571182258F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.8"/>
          <c:min val="92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Avg Accuracy by # Block Groups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Accuracy (%)</c:v>
                </c:pt>
              </c:strCache>
            </c:strRef>
          </c:tx>
          <c:spPr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1 block</c:v>
                </c:pt>
                <c:pt idx="1">
                  <c:v>2 blocks</c:v>
                </c:pt>
                <c:pt idx="2">
                  <c:v>3 blocks</c:v>
                </c:pt>
                <c:pt idx="3">
                  <c:v>5 blocks</c:v>
                </c:pt>
                <c:pt idx="4">
                  <c:v>6 blocks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92.1</c:v>
                </c:pt>
                <c:pt idx="1">
                  <c:v>92.33</c:v>
                </c:pt>
                <c:pt idx="2">
                  <c:v>92.53</c:v>
                </c:pt>
                <c:pt idx="3">
                  <c:v>92.26</c:v>
                </c:pt>
                <c:pt idx="4">
                  <c:v>92.25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0E9-41BD-9ECE-F56C01D01E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2.8"/>
          <c:min val="91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Best Accuracy per Experiment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Accuracy (%)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495-45B6-87F6-893166EACBD4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495-45B6-87F6-893166EACBD4}"/>
              </c:ext>
            </c:extLst>
          </c:dPt>
          <c:dPt>
            <c:idx val="2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495-45B6-87F6-893166EACBD4}"/>
              </c:ext>
            </c:extLst>
          </c:dPt>
          <c:dPt>
            <c:idx val="3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495-45B6-87F6-893166EACBD4}"/>
              </c:ext>
            </c:extLst>
          </c:dPt>
          <c:dPt>
            <c:idx val="4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495-45B6-87F6-893166EACBD4}"/>
              </c:ext>
            </c:extLst>
          </c:dPt>
          <c:dPt>
            <c:idx val="5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495-45B6-87F6-893166EACBD4}"/>
              </c:ext>
            </c:extLst>
          </c:dPt>
          <c:dPt>
            <c:idx val="6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495-45B6-87F6-893166EACBD4}"/>
              </c:ext>
            </c:extLst>
          </c:dPt>
          <c:dPt>
            <c:idx val="7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495-45B6-87F6-893166EACBD4}"/>
              </c:ext>
            </c:extLst>
          </c:dPt>
          <c:dPt>
            <c:idx val="8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495-45B6-87F6-893166EACBD4}"/>
              </c:ext>
            </c:extLst>
          </c:dPt>
          <c:dPt>
            <c:idx val="9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495-45B6-87F6-893166EACBD4}"/>
              </c:ext>
            </c:extLst>
          </c:dPt>
          <c:dPt>
            <c:idx val="10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5495-45B6-87F6-893166EACBD4}"/>
              </c:ext>
            </c:extLst>
          </c:dPt>
          <c:dPt>
            <c:idx val="11"/>
            <c:invertIfNegative val="0"/>
            <c:bubble3D val="0"/>
            <c:spPr>
              <a:solidFill>
                <a:srgbClr val="C4B5F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5495-45B6-87F6-893166EACBD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no_augs</c:v>
                </c:pt>
                <c:pt idx="1">
                  <c:v>erasing+jitter+low</c:v>
                </c:pt>
                <c:pt idx="2">
                  <c:v>mixup+cutmix</c:v>
                </c:pt>
                <c:pt idx="3">
                  <c:v>jitter_only</c:v>
                </c:pt>
                <c:pt idx="4">
                  <c:v>erasing+jitter+high</c:v>
                </c:pt>
                <c:pt idx="5">
                  <c:v>basic_augs</c:v>
                </c:pt>
                <c:pt idx="6">
                  <c:v>erasing_low_prob</c:v>
                </c:pt>
                <c:pt idx="7">
                  <c:v>cutmix_moderate</c:v>
                </c:pt>
                <c:pt idx="8">
                  <c:v>erasing_high_prob</c:v>
                </c:pt>
                <c:pt idx="9">
                  <c:v>mixup_moderate</c:v>
                </c:pt>
                <c:pt idx="10">
                  <c:v>cutmix_low</c:v>
                </c:pt>
                <c:pt idx="11">
                  <c:v>mixup_low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93.16</c:v>
                </c:pt>
                <c:pt idx="1">
                  <c:v>93</c:v>
                </c:pt>
                <c:pt idx="2">
                  <c:v>92.83</c:v>
                </c:pt>
                <c:pt idx="3">
                  <c:v>92.72</c:v>
                </c:pt>
                <c:pt idx="4">
                  <c:v>92.72</c:v>
                </c:pt>
                <c:pt idx="5">
                  <c:v>92.7</c:v>
                </c:pt>
                <c:pt idx="6">
                  <c:v>92.7</c:v>
                </c:pt>
                <c:pt idx="7">
                  <c:v>92.59</c:v>
                </c:pt>
                <c:pt idx="8">
                  <c:v>92.56</c:v>
                </c:pt>
                <c:pt idx="9">
                  <c:v>92.5</c:v>
                </c:pt>
                <c:pt idx="10">
                  <c:v>92.34</c:v>
                </c:pt>
                <c:pt idx="11">
                  <c:v>92.26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8-5495-45B6-87F6-893166EACBD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4"/>
          <c:min val="91.8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Best Accuracy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 Probe</c:v>
                </c:pt>
                <c:pt idx="1">
                  <c:v>Sim Unfreeze (L=2)</c:v>
                </c:pt>
                <c:pt idx="2">
                  <c:v>Sim Unfreeze (L=4)</c:v>
                </c:pt>
                <c:pt idx="3">
                  <c:v>Sim Unfreeze (L=6)</c:v>
                </c:pt>
                <c:pt idx="4">
                  <c:v>Gradual (1 blk)</c:v>
                </c:pt>
                <c:pt idx="5">
                  <c:v>Gradual (2 blk)</c:v>
                </c:pt>
                <c:pt idx="6">
                  <c:v>Gradual (3 blk)</c:v>
                </c:pt>
                <c:pt idx="7">
                  <c:v>Gradual (5 blk)</c:v>
                </c:pt>
                <c:pt idx="8">
                  <c:v>Gradual (6 blk)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92.04</c:v>
                </c:pt>
                <c:pt idx="1">
                  <c:v>92.97</c:v>
                </c:pt>
                <c:pt idx="2">
                  <c:v>92.78</c:v>
                </c:pt>
                <c:pt idx="3">
                  <c:v>92.86</c:v>
                </c:pt>
                <c:pt idx="4">
                  <c:v>92.64</c:v>
                </c:pt>
                <c:pt idx="5">
                  <c:v>92.72</c:v>
                </c:pt>
                <c:pt idx="6">
                  <c:v>93</c:v>
                </c:pt>
                <c:pt idx="7">
                  <c:v>93.16</c:v>
                </c:pt>
                <c:pt idx="8">
                  <c:v>92.78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B8E-4891-BBB7-43CC79B903D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Average Accuracy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F172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Linear Probe</c:v>
                </c:pt>
                <c:pt idx="1">
                  <c:v>Sim Unfreeze (L=2)</c:v>
                </c:pt>
                <c:pt idx="2">
                  <c:v>Sim Unfreeze (L=4)</c:v>
                </c:pt>
                <c:pt idx="3">
                  <c:v>Sim Unfreeze (L=6)</c:v>
                </c:pt>
                <c:pt idx="4">
                  <c:v>Gradual (1 blk)</c:v>
                </c:pt>
                <c:pt idx="5">
                  <c:v>Gradual (2 blk)</c:v>
                </c:pt>
                <c:pt idx="6">
                  <c:v>Gradual (3 blk)</c:v>
                </c:pt>
                <c:pt idx="7">
                  <c:v>Gradual (5 blk)</c:v>
                </c:pt>
                <c:pt idx="8">
                  <c:v>Gradual (6 blk)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91.61</c:v>
                </c:pt>
                <c:pt idx="1">
                  <c:v>92.61</c:v>
                </c:pt>
                <c:pt idx="2">
                  <c:v>92.4</c:v>
                </c:pt>
                <c:pt idx="3">
                  <c:v>92.38</c:v>
                </c:pt>
                <c:pt idx="4">
                  <c:v>92.1</c:v>
                </c:pt>
                <c:pt idx="5">
                  <c:v>92.33</c:v>
                </c:pt>
                <c:pt idx="6">
                  <c:v>92.53</c:v>
                </c:pt>
                <c:pt idx="7">
                  <c:v>92.26</c:v>
                </c:pt>
                <c:pt idx="8">
                  <c:v>92.25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B8E-4891-BBB7-43CC79B903D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5"/>
          <c:min val="90.5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Accuracy per Augmentation Config across Training Methods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Linear Probe</c:v>
                </c:pt>
              </c:strCache>
            </c:strRef>
          </c:tx>
          <c:spPr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91.2</c:v>
                </c:pt>
                <c:pt idx="1">
                  <c:v>91.61</c:v>
                </c:pt>
                <c:pt idx="2">
                  <c:v>91.63</c:v>
                </c:pt>
                <c:pt idx="3">
                  <c:v>91.71</c:v>
                </c:pt>
                <c:pt idx="4">
                  <c:v>91.69</c:v>
                </c:pt>
                <c:pt idx="5">
                  <c:v>91.31</c:v>
                </c:pt>
                <c:pt idx="6">
                  <c:v>91.66</c:v>
                </c:pt>
                <c:pt idx="7">
                  <c:v>91.82</c:v>
                </c:pt>
                <c:pt idx="8">
                  <c:v>91.71</c:v>
                </c:pt>
                <c:pt idx="9">
                  <c:v>91.44</c:v>
                </c:pt>
                <c:pt idx="10">
                  <c:v>91.5</c:v>
                </c:pt>
                <c:pt idx="11">
                  <c:v>92.04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86B-4E45-A131-C3EAE2E2CC2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 Unfreeze (best)</c:v>
                </c:pt>
              </c:strCache>
            </c:strRef>
          </c:tx>
          <c:spPr>
            <a:ln w="31750" cap="flat">
              <a:solidFill>
                <a:srgbClr val="0D948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D9488"/>
              </a:solidFill>
              <a:ln w="9525" cap="flat">
                <a:solidFill>
                  <a:srgbClr val="0D9488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92.07</c:v>
                </c:pt>
                <c:pt idx="1">
                  <c:v>92.86</c:v>
                </c:pt>
                <c:pt idx="2">
                  <c:v>92.97</c:v>
                </c:pt>
                <c:pt idx="3">
                  <c:v>92.86</c:v>
                </c:pt>
                <c:pt idx="4">
                  <c:v>92.75</c:v>
                </c:pt>
                <c:pt idx="5">
                  <c:v>92.89</c:v>
                </c:pt>
                <c:pt idx="6">
                  <c:v>92.86</c:v>
                </c:pt>
                <c:pt idx="7">
                  <c:v>92.59</c:v>
                </c:pt>
                <c:pt idx="8">
                  <c:v>92.7</c:v>
                </c:pt>
                <c:pt idx="9">
                  <c:v>92.67</c:v>
                </c:pt>
                <c:pt idx="10">
                  <c:v>92.8</c:v>
                </c:pt>
                <c:pt idx="11">
                  <c:v>92.78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86B-4E45-A131-C3EAE2E2CC2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Gradual Unfreeze</c:v>
                </c:pt>
              </c:strCache>
            </c:strRef>
          </c:tx>
          <c:spPr>
            <a:ln w="31750" cap="flat">
              <a:solidFill>
                <a:srgbClr val="7C3AED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No Aug</c:v>
                </c:pt>
                <c:pt idx="1">
                  <c:v>Basic</c:v>
                </c:pt>
                <c:pt idx="2">
                  <c:v>Erasing Low</c:v>
                </c:pt>
                <c:pt idx="3">
                  <c:v>Erasing High</c:v>
                </c:pt>
                <c:pt idx="4">
                  <c:v>Jitter Only</c:v>
                </c:pt>
                <c:pt idx="5">
                  <c:v>MixUp Low</c:v>
                </c:pt>
                <c:pt idx="6">
                  <c:v>MixUp Mod</c:v>
                </c:pt>
                <c:pt idx="7">
                  <c:v>CutMix Low</c:v>
                </c:pt>
                <c:pt idx="8">
                  <c:v>CutMix Mod</c:v>
                </c:pt>
                <c:pt idx="9">
                  <c:v>Mix+Cut</c:v>
                </c:pt>
                <c:pt idx="10">
                  <c:v>Full (low)</c:v>
                </c:pt>
                <c:pt idx="11">
                  <c:v>Full (high)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93.16</c:v>
                </c:pt>
                <c:pt idx="1">
                  <c:v>92.7</c:v>
                </c:pt>
                <c:pt idx="2">
                  <c:v>92.7</c:v>
                </c:pt>
                <c:pt idx="3">
                  <c:v>92.56</c:v>
                </c:pt>
                <c:pt idx="4">
                  <c:v>92.72</c:v>
                </c:pt>
                <c:pt idx="5">
                  <c:v>92.26</c:v>
                </c:pt>
                <c:pt idx="6">
                  <c:v>92.5</c:v>
                </c:pt>
                <c:pt idx="7">
                  <c:v>92.34</c:v>
                </c:pt>
                <c:pt idx="8">
                  <c:v>92.59</c:v>
                </c:pt>
                <c:pt idx="9">
                  <c:v>92.83</c:v>
                </c:pt>
                <c:pt idx="10">
                  <c:v>93</c:v>
                </c:pt>
                <c:pt idx="11">
                  <c:v>92.72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D86B-4E45-A131-C3EAE2E2CC2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93.5"/>
          <c:min val="90.8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9548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3200400"/>
            <a:ext cx="2286000" cy="1943100"/>
          </a:xfrm>
          <a:prstGeom prst="rect">
            <a:avLst/>
          </a:prstGeom>
          <a:solidFill>
            <a:srgbClr val="0D1B35"/>
          </a:solidFill>
          <a:ln w="12700">
            <a:solidFill>
              <a:srgbClr val="0D1B3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0"/>
            <a:ext cx="2286000" cy="3200400"/>
          </a:xfrm>
          <a:prstGeom prst="rect">
            <a:avLst/>
          </a:prstGeom>
          <a:solidFill>
            <a:srgbClr val="162040"/>
          </a:solidFill>
          <a:ln w="12700">
            <a:solidFill>
              <a:srgbClr val="162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95160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32904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70648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08392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46136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83880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21624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59368" y="27432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95160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32904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0648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08392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46136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21624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59368" y="77724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95160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32904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70648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08392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46136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83880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21624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59368" y="128016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995160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232904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70648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08392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946136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421624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59368" y="178308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95160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232904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470648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708392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46136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83880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421624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659368" y="2286000"/>
            <a:ext cx="64008" cy="64008"/>
          </a:xfrm>
          <a:prstGeom prst="ellipse">
            <a:avLst/>
          </a:prstGeom>
          <a:solidFill>
            <a:srgbClr val="3B82F6">
              <a:alpha val="40000"/>
            </a:srgbClr>
          </a:solidFill>
          <a:ln w="12700">
            <a:solidFill>
              <a:srgbClr val="3B82F6">
                <a:alpha val="4000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2920" y="7315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ViT Fine-Tuning</a:t>
            </a:r>
            <a:endParaRPr lang="en-US" sz="3800" dirty="0"/>
          </a:p>
        </p:txBody>
      </p:sp>
      <p:sp>
        <p:nvSpPr>
          <p:cNvPr id="46" name="Text 44"/>
          <p:cNvSpPr/>
          <p:nvPr/>
        </p:nvSpPr>
        <p:spPr>
          <a:xfrm>
            <a:off x="502920" y="146304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BEAFE"/>
                </a:solidFill>
              </a:rPr>
              <a:t>Oxford-IIIT Pet Dataset</a:t>
            </a:r>
            <a:endParaRPr lang="en-US" sz="2200" dirty="0"/>
          </a:p>
        </p:txBody>
      </p:sp>
      <p:sp>
        <p:nvSpPr>
          <p:cNvPr id="47" name="Shape 45"/>
          <p:cNvSpPr/>
          <p:nvPr/>
        </p:nvSpPr>
        <p:spPr>
          <a:xfrm>
            <a:off x="502920" y="2103120"/>
            <a:ext cx="137160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2286000"/>
            <a:ext cx="6217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</a:rPr>
              <a:t>Comparing Three Transfer Learning Strategies with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4A3B8"/>
                </a:solidFill>
              </a:rPr>
              <a:t>Augmentation Experiments on 37-Class Breed Classification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502920" y="324612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32461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</a:rPr>
              <a:t>Linear Probe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514600" y="324612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14600" y="32461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</a:rPr>
              <a:t>Simultaneous Unfreeze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26280" y="3246120"/>
            <a:ext cx="1828800" cy="347472"/>
          </a:xfrm>
          <a:prstGeom prst="roundRect">
            <a:avLst>
              <a:gd name="adj" fmla="val 21053"/>
            </a:avLst>
          </a:prstGeom>
          <a:solidFill>
            <a:srgbClr val="2563EB">
              <a:alpha val="3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26280" y="32461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BEAFE"/>
                </a:solidFill>
              </a:rPr>
              <a:t>Gradual Unfreeze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0292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Model: vit_base_patch16_224  |  37 Breeds  |  Batch 64  |  Up to 50 Epochs  |  ImageNet Weights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Dataset &amp; Experimental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2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41148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411480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2296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Oxford-IIIT Pet Dataset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9844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2984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37 breeds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691640" y="129844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25 cat + 12 dog breeds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180136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80136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~7,400 images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180136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trainval.txt split 80/20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230428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~3,700 images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91640" y="230428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official test.txt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280720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28072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Dual labels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691640" y="280720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Species (cat/dog) + breed class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31012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331012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Image size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31012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224 × 224 px (ViT standard)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3813048"/>
            <a:ext cx="1280160" cy="329184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381304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563EB"/>
                </a:solidFill>
              </a:rPr>
              <a:t>Normalisation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91640" y="3813048"/>
            <a:ext cx="2468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ImageNet mean / std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822960"/>
            <a:ext cx="43434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0" y="822960"/>
            <a:ext cx="434340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Shared Training Configuration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0" y="1261872"/>
            <a:ext cx="434340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261872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Batch size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1261872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64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0" y="1700784"/>
            <a:ext cx="4343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0" y="1700784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Max epochs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75120" y="1700784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50 (early stopping)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0" y="2139696"/>
            <a:ext cx="434340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13969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LR scheduler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75120" y="2139696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ReduceLROnPlateau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0" y="2578608"/>
            <a:ext cx="4343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2578608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LR patience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75120" y="2578608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3 epochs → ×0.1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0" y="3017520"/>
            <a:ext cx="434340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63440" y="3017520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Min LR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675120" y="3017520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1e-6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0" y="3456432"/>
            <a:ext cx="4343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0" y="3456432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ES patience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675120" y="3456432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6 epochs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895344"/>
            <a:ext cx="4343400" cy="43891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63440" y="3895344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Loss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675120" y="3895344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CrossEntropy + label smooth 0.1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572000" y="4334256"/>
            <a:ext cx="4343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63440" y="4334256"/>
            <a:ext cx="2011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75569"/>
                </a:solidFill>
              </a:rPr>
              <a:t>Weight decay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675120" y="4334256"/>
            <a:ext cx="21488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F172A"/>
                </a:solidFill>
              </a:rPr>
              <a:t>1e-4  (Adam)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Three Fine-Tuning Strategies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3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852928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2852928" cy="4572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0467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Linear Probe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77440" y="80467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LR = 1e-3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92608" y="1353312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All transformer blocks are fully frozen. Only the newly added classification head is trained. The pretrained features remain fixed — fast, low VRAM.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2404872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" y="2350008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Frozen: all 12 transformer blocks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807208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Trainable: head only (~37K params)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3209544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" y="3154680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LR = 1e-3  |  Adam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611880"/>
            <a:ext cx="109728" cy="10972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3557016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12 augmentation experiments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172968" y="804672"/>
            <a:ext cx="2852928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72968" y="804672"/>
            <a:ext cx="2852928" cy="4572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64408" y="80467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Simultaneous Unfreeze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67528" y="80467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LR = 1e-4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282696" y="1353312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The last L transformer blocks are unfrozen all at once alongside the head. Tested with L ∈ {2, 4, 6}. Lower LR prevents disrupting pretrained weights.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10128" y="2404872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4720" y="2350008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Unfrozen: last 2 / 4 / 6 blocks + head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10128" y="2807208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4720" y="2752344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All unfrozen layers trained from epoch 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10128" y="3209544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474720" y="3154680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LR = 1e-4  |  Adam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10128" y="3611880"/>
            <a:ext cx="109728" cy="10972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74720" y="3557016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36 total runs (3 × 12 aug exps)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63056" y="804672"/>
            <a:ext cx="2852928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63056" y="804672"/>
            <a:ext cx="2852928" cy="4572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54496" y="804672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Gradual Unfreeze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357616" y="80467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FFFFFF"/>
                </a:solidFill>
              </a:rPr>
              <a:t>LR = 1e-3 → 1e-4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72784" y="1353312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</a:rPr>
              <a:t>Blocks are unfrozen progressively in phases. Phase 1 trains only the head, then each subsequent phase unfreezes one more block group. Tested with 1–6 block groups.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00216" y="2404872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4808" y="2350008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Phase 1: head only (LR=1e-3)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0216" y="2807208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752344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Phase 2+: unlock next block group (LR=1e-4)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300216" y="3209544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64808" y="3154680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num_blocks ∈ {1,2,3,5,6}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300216" y="3611880"/>
            <a:ext cx="109728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64808" y="3557016"/>
            <a:ext cx="24871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60 total runs (5 × 12 aug exps)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Augmentation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4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0292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89611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563EB"/>
                </a:solidFill>
              </a:rPr>
              <a:t>Spatial Transforms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4754880" cy="384048"/>
          </a:xfrm>
          <a:prstGeom prst="rect">
            <a:avLst/>
          </a:prstGeom>
          <a:solidFill>
            <a:srgbClr val="E0F2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1344168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1325880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21792" y="123444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Resize 256×256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487168" y="123444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Always applied first (train + eval)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1682496"/>
            <a:ext cx="475488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" y="179222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4048" y="1773936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21792" y="168249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Random Horizontal Flip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487168" y="1682496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p=0.5, geometric invariance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" y="2130552"/>
            <a:ext cx="4754880" cy="384048"/>
          </a:xfrm>
          <a:prstGeom prst="rect">
            <a:avLst/>
          </a:prstGeom>
          <a:solidFill>
            <a:srgbClr val="EDE9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224028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" y="2221992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" y="213055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Random Rotation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487168" y="2130552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0–20° range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0040" y="2578608"/>
            <a:ext cx="4754880" cy="384048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048" y="2688336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" y="267004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4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" y="2578608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Random Resized Crop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487168" y="2578608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scale (0.85–1.0), ratio (0.9–1.1) → 224px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20040" y="3026664"/>
            <a:ext cx="4754880" cy="384048"/>
          </a:xfrm>
          <a:prstGeom prst="rect">
            <a:avLst/>
          </a:prstGeom>
          <a:solidFill>
            <a:srgbClr val="FEF9C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048" y="3136392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3118104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5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" y="3026664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487168" y="3026664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brightness 0.3, contrast 0.3, saturation 0.2, hue 0.05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0040" y="3474720"/>
            <a:ext cx="4754880" cy="384048"/>
          </a:xfrm>
          <a:prstGeom prst="rect">
            <a:avLst/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048" y="3584448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3566160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21792" y="347472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Random Grayscale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487168" y="3474720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p=0.05, robustness to colour dropout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0040" y="3922776"/>
            <a:ext cx="475488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048" y="4032504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84048" y="4014216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21792" y="3922776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Normalize (ImageNet)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487168" y="3922776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μ=(0.485,0.456,0.406) σ=(0.229,0.224,0.225)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0040" y="4370832"/>
            <a:ext cx="4754880" cy="384048"/>
          </a:xfrm>
          <a:prstGeom prst="rect">
            <a:avLst/>
          </a:prstGeom>
          <a:solidFill>
            <a:srgbClr val="FD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4048" y="4480560"/>
            <a:ext cx="164592" cy="16459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84048" y="4462272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8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21792" y="437083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172A"/>
                </a:solidFill>
              </a:rPr>
              <a:t>Random Erasing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487168" y="4370832"/>
            <a:ext cx="2514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75569"/>
                </a:solidFill>
              </a:rPr>
              <a:t>p=0.2–0.5, scale (0.02–0.10)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0" y="822960"/>
            <a:ext cx="342900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5486400" y="822960"/>
            <a:ext cx="3429000" cy="34747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77840" y="822960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Batch-Level Augmentation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577840" y="1298448"/>
            <a:ext cx="32461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0" y="13441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MixUp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498080" y="134416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</a:rPr>
              <a:t>α ∈ {0.2, 0.4}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669280" y="1618488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Linearly blends two images and their labels. Alpha controls mix strength. Low alpha = mild blend.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577840" y="2350008"/>
            <a:ext cx="32461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669280" y="23957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CutMix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498080" y="239572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</a:rPr>
              <a:t>α ∈ {0.5, 1.0}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669280" y="2670048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Pastes a rectangular crop from one image into another. Labels weighted by patch area.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577840" y="3401568"/>
            <a:ext cx="3246120" cy="96012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69280" y="34472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MixUp + CutMix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7498080" y="344728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75569"/>
                </a:solidFill>
              </a:rPr>
              <a:t>50/50 rand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5669280" y="3721608"/>
            <a:ext cx="3063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Randomly applies either technique per batch for combined regularisation.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577840" y="4462272"/>
            <a:ext cx="3246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Apply probability: 20% per batch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Augmentation Experiment Configurations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5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682752"/>
            <a:ext cx="27432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682752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Experiment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99816" y="682752"/>
            <a:ext cx="210312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45536" y="68275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Spatial Augs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9512" y="682752"/>
            <a:ext cx="91440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85232" y="68275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Erasing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90488" y="682752"/>
            <a:ext cx="82296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36208" y="68275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Jitter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50024" y="682752"/>
            <a:ext cx="1554480" cy="347472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95744" y="68275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Batch Aug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085088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085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no_augs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99816" y="1085088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45536" y="108508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239512" y="108508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85232" y="108508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190488" y="1085088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6208" y="108508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050024" y="1085088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95744" y="108508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1423416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142341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basic_augs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099816" y="1423416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5536" y="142341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239512" y="1423416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85232" y="142341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90488" y="1423416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142341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050024" y="1423416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95744" y="142341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20040" y="1761744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176174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erasing_only_low_prob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099816" y="1761744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45536" y="176174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239512" y="1761744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85232" y="176174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90488" y="1761744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236208" y="176174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7050024" y="1761744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95744" y="176174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0040" y="2100072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21000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erasing_only_high_prob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99816" y="2100072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5536" y="210007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5239512" y="2100072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85232" y="210007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6190488" y="2100072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236208" y="21000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7050024" y="2100072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95744" y="210007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" y="2438400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24384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jitter_only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099816" y="2438400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145536" y="2438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239512" y="2438400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85232" y="243840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90488" y="2438400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36208" y="243840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050024" y="2438400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95744" y="24384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20040" y="2776728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5760" y="27767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mixup_only_low_alpha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099816" y="2776728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45536" y="27767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239512" y="2776728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285232" y="2776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6190488" y="2776728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236208" y="277672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7050024" y="2776728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95744" y="2776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α=0.2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320040" y="3115056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5760" y="311505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mixup_only_moderate_alpha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3099816" y="3115056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3145536" y="311505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239512" y="3115056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285232" y="311505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6190488" y="3115056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36208" y="311505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7050024" y="3115056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095744" y="311505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α=0.4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320040" y="3453384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365760" y="3453384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cutmix_only_low_alpha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3099816" y="3453384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145536" y="345338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5239512" y="3453384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5232" y="345338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91" name="Shape 89"/>
          <p:cNvSpPr/>
          <p:nvPr/>
        </p:nvSpPr>
        <p:spPr>
          <a:xfrm>
            <a:off x="6190488" y="3453384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236208" y="3453384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7050024" y="3453384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095744" y="3453384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α=0.5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320040" y="3791712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65760" y="37917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cutmix_only_moderate_alpha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3099816" y="3791712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145536" y="379171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5239512" y="3791712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285232" y="3791712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6190488" y="3791712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236208" y="37917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7050024" y="3791712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095744" y="37917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α=1.0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320040" y="4130040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5760" y="41300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mixup_cutmix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3099816" y="4130040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145536" y="4130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5239512" y="4130040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285232" y="413004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6190488" y="4130040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236208" y="413004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—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7050024" y="4130040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095744" y="41300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Both α=0.4/1.0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320040" y="4468368"/>
            <a:ext cx="27432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65760" y="446836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erasing_jitter_mixup_cutmix_low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3099816" y="4468368"/>
            <a:ext cx="210312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145536" y="446836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5239512" y="4468368"/>
            <a:ext cx="91440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285232" y="446836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4468368"/>
            <a:ext cx="82296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36208" y="4468368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123" name="Shape 121"/>
          <p:cNvSpPr/>
          <p:nvPr/>
        </p:nvSpPr>
        <p:spPr>
          <a:xfrm>
            <a:off x="7050024" y="4468368"/>
            <a:ext cx="155448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095744" y="446836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p=0.2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320040" y="4806696"/>
            <a:ext cx="27432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365760" y="480669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563EB"/>
                </a:solidFill>
              </a:rPr>
              <a:t>erasing_jitter_mixup_cutmix_high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3099816" y="4806696"/>
            <a:ext cx="210312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3145536" y="480669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Flip+Rot+Crop+Gray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5239512" y="4806696"/>
            <a:ext cx="91440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285232" y="480669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6190488" y="4806696"/>
            <a:ext cx="82296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236208" y="4806696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950" dirty="0">
                <a:solidFill>
                  <a:srgbClr val="0F172A"/>
                </a:solidFill>
              </a:rPr>
              <a:t>Color Jitter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7050024" y="4806696"/>
            <a:ext cx="15544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095744" y="4806696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F172A"/>
                </a:solidFill>
              </a:rPr>
              <a:t>p=0.5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Learning Rate Strategy &amp; Training Engine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6 / 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512064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512064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2296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Learning Rate Schedule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1148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Start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LR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1148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1e-3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(LP/Phase 1)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41732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4592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64592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Plateau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Detect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4592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3 epochs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no improve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65176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88036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88036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LR × 0.1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88036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reduce by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factor 10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886200" y="1463040"/>
            <a:ext cx="228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563EB"/>
                </a:solidFill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114800" y="1298448"/>
            <a:ext cx="1005840" cy="640080"/>
          </a:xfrm>
          <a:prstGeom prst="rect">
            <a:avLst/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114800" y="131673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Min LR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</a:rPr>
              <a:t>Floor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14800" y="1591056"/>
            <a:ext cx="1005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1e-6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475569"/>
                </a:solidFill>
              </a:rPr>
              <a:t>(stop decay)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20040" y="2103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</a:rPr>
              <a:t>Gradual Unfreeze Phase Scheduling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4231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Phase 1:</a:t>
            </a:r>
            <a:r>
              <a:rPr lang="en-US" sz="1000" dirty="0">
                <a:solidFill>
                  <a:srgbClr val="0F172A"/>
                </a:solidFill>
              </a:rPr>
              <a:t>  Train head only — LR 1e-3, up to 20 epochs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272491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</a:rPr>
              <a:t>Phase 2+:</a:t>
            </a:r>
            <a:r>
              <a:rPr lang="en-US" sz="1000" dirty="0">
                <a:solidFill>
                  <a:srgbClr val="0F172A"/>
                </a:solidFill>
              </a:rPr>
              <a:t>  Unfreeze next block group — LR 1e-4, up to 20 epochs each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0040" y="3108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C2626"/>
                </a:solidFill>
              </a:rPr>
              <a:t>Early Stopping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38912" y="345643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4015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Patience = 6 epochs (no val_loss improvement)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38912" y="373075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6758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Delta threshold = 1e-4 (minimum meaningful gain)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8912" y="400507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3950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Best checkpoint saved on every improvement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38912" y="4279392"/>
            <a:ext cx="73152" cy="7315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75569"/>
                </a:solidFill>
              </a:rPr>
              <a:t>Applied per training phase in gradual unfreeze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577840" y="822960"/>
            <a:ext cx="333756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577840" y="822960"/>
            <a:ext cx="33375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0" y="822960"/>
            <a:ext cx="3154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TrainingEngine Features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577840" y="1298448"/>
            <a:ext cx="333756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0" y="134416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⚡ Mixed Precision (AMP)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669280" y="160934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torch.autocast + GradScaler for CUDA. Scheduler step skipped on overflow.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577840" y="2167128"/>
            <a:ext cx="33375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69280" y="221284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📊 sklearn Macro Metrics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669280" y="247802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Precision, Recall, F1 computed end-of-epoch over full prediction set.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577840" y="3035808"/>
            <a:ext cx="3337560" cy="804672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0" y="308152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🔀 Batch Augmentation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669280" y="334670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CutMix / MixUp applied after DataLoader yields. Soft one-hot labels for mixed samples.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577840" y="3904488"/>
            <a:ext cx="333756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669280" y="3950208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9488"/>
                </a:solidFill>
              </a:rPr>
              <a:t>⏱ tqdm Progress Bars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5669280" y="4215384"/>
            <a:ext cx="31546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</a:rPr>
              <a:t>Live loss + acc tracking per batch. Separate colour per phase (green=train, blue=eval).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— Linear Probe (Head-Only Training)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7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5943600" cy="4069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6309360" y="804672"/>
            <a:ext cx="260604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09360" y="804672"/>
            <a:ext cx="2606040" cy="34747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0" y="804672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 Stats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09360" y="1261872"/>
            <a:ext cx="2606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26187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Accuracy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589520" y="1261872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92.04%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09360" y="1709928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0" y="17099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Exp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589520" y="170992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2563EB"/>
                </a:solidFill>
              </a:rPr>
              <a:t>erasing+jitter</a:t>
            </a:r>
            <a:endParaRPr lang="en-US" sz="1000" dirty="0"/>
          </a:p>
          <a:p>
            <a:pPr marL="0" indent="0" algn="r">
              <a:buNone/>
            </a:pPr>
            <a:r>
              <a:rPr lang="en-US" sz="1000" b="1" dirty="0">
                <a:solidFill>
                  <a:srgbClr val="2563EB"/>
                </a:solidFill>
              </a:rPr>
              <a:t>+cutmix (high)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309360" y="2157984"/>
            <a:ext cx="2606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0" y="215798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Range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589520" y="215798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91.20 – 92.04%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309360" y="2606040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260604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Δ (no aug → best)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589520" y="2606040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+0.84 pp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309360" y="3054096"/>
            <a:ext cx="2606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0" y="305409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Accuracy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589520" y="3054096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91.61%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309360" y="3502152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0" y="35021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Macro F1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589520" y="3502152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91.88%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309360" y="3950208"/>
            <a:ext cx="2606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400800" y="395020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LR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589520" y="3950208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1e-3  (head only)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6309360" y="4398264"/>
            <a:ext cx="26060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0" y="439826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Frozen Blocks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589520" y="4398264"/>
            <a:ext cx="1234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7706"/>
                </a:solidFill>
              </a:rPr>
              <a:t>All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— Simultaneous Unfreeze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8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603504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182880" y="3840480"/>
          <a:ext cx="6035040" cy="1051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6446520" y="804672"/>
            <a:ext cx="2468880" cy="4087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6446520" y="804672"/>
            <a:ext cx="246888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37960" y="80467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 Stats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46520" y="1261872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37960" y="126187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Accuracy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7635240" y="126187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92.97%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46520" y="1709928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37960" y="1709928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Experiment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7635240" y="17099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erasing_low_prob</a:t>
            </a:r>
            <a:endParaRPr lang="en-US" sz="1000" dirty="0"/>
          </a:p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(2 layers)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446520" y="2157984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37960" y="2157984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Range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7635240" y="215798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92.07 – 92.97%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6446520" y="2606040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537960" y="2606040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Linear Probe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7635240" y="260604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+0.93 pp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446520" y="3054096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537960" y="3054096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(2 blocks)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635240" y="3054096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92.61%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6446520" y="3502152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537960" y="3502152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(4 blocks)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7635240" y="35021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92.40%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446520" y="3950208"/>
            <a:ext cx="24688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537960" y="3950208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Avg (6 blocks)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7635240" y="395020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92.38%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6446520" y="4398264"/>
            <a:ext cx="24688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6537960" y="4398264"/>
            <a:ext cx="1097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Sweet spot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635240" y="4398264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7706"/>
                </a:solidFill>
              </a:rPr>
              <a:t>L = 2 blocks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Results — Gradual Unfreeze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9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182880" y="3200400"/>
          <a:ext cx="3931920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4343400" y="804672"/>
            <a:ext cx="4526280" cy="40873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343400" y="804672"/>
            <a:ext cx="4526280" cy="34747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434840" y="804672"/>
            <a:ext cx="4343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 Stats &amp; Observations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43400" y="1261872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34840" y="126187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Accuracy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263640" y="1261872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93.16%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43400" y="1709928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434840" y="170992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Best Config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263640" y="1709928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7C3AED"/>
                </a:solidFill>
              </a:rPr>
              <a:t>no_augs + 5 block groups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343400" y="2157984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434840" y="215798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Runner-Up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6263640" y="2157984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93.00% (erasing+jitter low)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343400" y="2606040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434840" y="2606040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Range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6263640" y="2606040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475569"/>
                </a:solidFill>
              </a:rPr>
              <a:t>92.26 – 93.16%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343400" y="3054096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434840" y="3054096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Linear Probe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6263640" y="3054096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59669"/>
                </a:solidFill>
              </a:rPr>
              <a:t>+1.96 pp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343400" y="3502152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434840" y="3502152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vs Sim Unfreeze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3502152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9488"/>
                </a:solidFill>
              </a:rPr>
              <a:t>+0.19 pp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343400" y="3950208"/>
            <a:ext cx="45262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434840" y="3950208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Sweet spot blocks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6263640" y="3950208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97706"/>
                </a:solidFill>
              </a:rPr>
              <a:t>3 blocks (avg 92.53%)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343400" y="4398264"/>
            <a:ext cx="45262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4434840" y="4398264"/>
            <a:ext cx="1828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75569"/>
                </a:solidFill>
              </a:rPr>
              <a:t>Worst config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6263640" y="4398264"/>
            <a:ext cx="2514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DC2626"/>
                </a:solidFill>
              </a:rPr>
              <a:t>mixup_low_alpha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Cross-Method Performance Comparison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10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87782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82880" y="4160520"/>
            <a:ext cx="2743200" cy="7498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4187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Linear Probe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74320" y="44439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92.04% best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600200" y="44439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</a:rPr>
              <a:t>91.61% avg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08960" y="4160520"/>
            <a:ext cx="2743200" cy="74980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00400" y="4187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Unfreeze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44439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92.97% best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26280" y="44439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</a:rPr>
              <a:t>92.46% avg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035040" y="4160520"/>
            <a:ext cx="2743200" cy="74980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26480" y="4187952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Gradual Unfreeze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126480" y="4443984"/>
            <a:ext cx="1325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93.16% best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452360" y="4443984"/>
            <a:ext cx="1234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</a:rPr>
              <a:t>92.30% avg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Augmentation Impact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0" y="0"/>
            <a:ext cx="1508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DBEAFE"/>
                </a:solidFill>
              </a:rPr>
              <a:t>11 / 12</a:t>
            </a:r>
            <a:endParaRPr lang="en-US" sz="11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182880" y="804672"/>
          <a:ext cx="87782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182880" y="411480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274320" y="41148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LP is most sensitive to aug type — range of 0.84pp. Best: combined erasing+jitter+cutmix (high prob).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82880" y="4114800"/>
            <a:ext cx="64008" cy="43891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17720" y="411480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709160" y="411480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Sim Unfreeze benefits most from spatial augs (erasing, basic). Batch augs (MixUp alone) are less helpful.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17720" y="4114800"/>
            <a:ext cx="64008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2880" y="461772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74320" y="4617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Gradual Unfreeze is surprisingly robust — even no_augs hits 93.16%, the overall best result.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880" y="4617720"/>
            <a:ext cx="64008" cy="43891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17720" y="4617720"/>
            <a:ext cx="4297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709160" y="461772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F172A"/>
                </a:solidFill>
              </a:rPr>
              <a:t>MixUp alone tends to underperform across all methods. CutMix and combined strategies are more reliable.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617720" y="4617720"/>
            <a:ext cx="64008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371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Conclusions &amp; Recommendations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841248"/>
            <a:ext cx="4023360" cy="987552"/>
          </a:xfrm>
          <a:prstGeom prst="rect">
            <a:avLst/>
          </a:prstGeom>
          <a:solidFill>
            <a:srgbClr val="162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12648" y="1069848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2648" y="10698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69848" y="914400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C3AED"/>
                </a:solidFill>
              </a:rPr>
              <a:t>Gradual Unfreeze achieves peak performance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69848" y="1207008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BD5E1"/>
                </a:solidFill>
              </a:rPr>
              <a:t>93.16% accuracy — best overall. Progressive layer unfreezing with LR decay is the most effective strategy for this dataset, outperforming both linear probe and simultaneous unfreeze.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846320" y="841248"/>
            <a:ext cx="4023360" cy="987552"/>
          </a:xfrm>
          <a:prstGeom prst="rect">
            <a:avLst/>
          </a:prstGeom>
          <a:solidFill>
            <a:srgbClr val="1620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56048" y="1069848"/>
            <a:ext cx="365760" cy="36576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56048" y="10698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914400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9488"/>
                </a:solidFill>
              </a:rPr>
              <a:t>More unfrozen layers ≠ better performance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13248" y="1207008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BD5E1"/>
                </a:solidFill>
              </a:rPr>
              <a:t>Both Sim Unfreeze (L=2 wins) and Gradual Unfreeze (3 blocks optimal) show diminishing returns beyond a moderate unfreeze depth. Over-unfreezing can hurt consistency.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1938528"/>
            <a:ext cx="4023360" cy="987552"/>
          </a:xfrm>
          <a:prstGeom prst="rect">
            <a:avLst/>
          </a:prstGeom>
          <a:solidFill>
            <a:srgbClr val="162040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" y="2167128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" y="2167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69848" y="2011680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Augmentation impact is method-dependent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69848" y="2304288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BD5E1"/>
                </a:solidFill>
              </a:rPr>
              <a:t>Spatial augmentations (erasing, crop, flip) consistently help Sim Unfreeze. Gradual Unfreeze is robust — even no_augs achieves the global best. LP benefits most from combined strategies.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46320" y="1938528"/>
            <a:ext cx="4023360" cy="987552"/>
          </a:xfrm>
          <a:prstGeom prst="rect">
            <a:avLst/>
          </a:prstGeom>
          <a:solidFill>
            <a:srgbClr val="162040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56048" y="2167128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56048" y="2167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13248" y="2011680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</a:rPr>
              <a:t>MixUp alone is a risky choice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13248" y="2304288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BD5E1"/>
                </a:solidFill>
              </a:rPr>
              <a:t>Across all three methods, MixUp with low alpha consistently underperforms other augmentation strategies. CutMix or combined erasing+jitter+cutmix are safer defaults.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035808"/>
            <a:ext cx="8412480" cy="868680"/>
          </a:xfrm>
          <a:prstGeom prst="rect">
            <a:avLst/>
          </a:prstGeom>
          <a:solidFill>
            <a:srgbClr val="162040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" y="3264408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" y="3264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69848" y="3108960"/>
            <a:ext cx="77358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</a:rPr>
              <a:t>Recommended configuration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69848" y="3401568"/>
            <a:ext cx="773582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BD5E1"/>
                </a:solidFill>
              </a:rPr>
              <a:t>Gradual Unfreeze with 3 block groups, erasing+jitter+cutmix (low prob) augmentation, LR 1e-3 → 1e-4 decay, ES patience 6. Expected accuracy: ≥ 93.0% on Oxford-IIIT Pet.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1477</Words>
  <Application>Microsoft Office PowerPoint</Application>
  <PresentationFormat>On-screen Show (16:9)</PresentationFormat>
  <Paragraphs>314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 Fine-Tuning on Oxford-IIIT Pet Dataset</dc:title>
  <dc:subject>PptxGenJS Presentation</dc:subject>
  <dc:creator>PptxGenJS</dc:creator>
  <cp:lastModifiedBy>Bhaswat Raj</cp:lastModifiedBy>
  <cp:revision>2</cp:revision>
  <dcterms:created xsi:type="dcterms:W3CDTF">2026-05-06T16:39:59Z</dcterms:created>
  <dcterms:modified xsi:type="dcterms:W3CDTF">2026-05-10T15:27:41Z</dcterms:modified>
</cp:coreProperties>
</file>