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erasing+jitter+mix-high</c:v>
                  </c:pt>
                  <c:pt idx="1">
                    <c:v>cutmix_low_alpha</c:v>
                  </c:pt>
                  <c:pt idx="2">
                    <c:v>erasing_high_prob</c:v>
                  </c:pt>
                  <c:pt idx="3">
                    <c:v>cutmix_moderate_alpha</c:v>
                  </c:pt>
                  <c:pt idx="4">
                    <c:v>jitter_only</c:v>
                  </c:pt>
                  <c:pt idx="5">
                    <c:v>mixup_moderate_alpha</c:v>
                  </c:pt>
                  <c:pt idx="6">
                    <c:v>erasing_low_prob</c:v>
                  </c:pt>
                  <c:pt idx="7">
                    <c:v>basic_augs</c:v>
                  </c:pt>
                  <c:pt idx="8">
                    <c:v>erasing+jitter+mix-low</c:v>
                  </c:pt>
                  <c:pt idx="9">
                    <c:v>mixup+cutmix</c:v>
                  </c:pt>
                  <c:pt idx="10">
                    <c:v>mixup_low_alpha</c:v>
                  </c:pt>
                  <c:pt idx="11">
                    <c:v>no_augs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92.04</c:v>
                </c:pt>
                <c:pt idx="1">
                  <c:v>91.82</c:v>
                </c:pt>
                <c:pt idx="2">
                  <c:v>91.71</c:v>
                </c:pt>
                <c:pt idx="3">
                  <c:v>91.71</c:v>
                </c:pt>
                <c:pt idx="4">
                  <c:v>91.69</c:v>
                </c:pt>
                <c:pt idx="5">
                  <c:v>91.66</c:v>
                </c:pt>
                <c:pt idx="6">
                  <c:v>91.63</c:v>
                </c:pt>
                <c:pt idx="7">
                  <c:v>91.61</c:v>
                </c:pt>
                <c:pt idx="8">
                  <c:v>91.5</c:v>
                </c:pt>
                <c:pt idx="9">
                  <c:v>91.44</c:v>
                </c:pt>
                <c:pt idx="10">
                  <c:v>91.31</c:v>
                </c:pt>
                <c:pt idx="11">
                  <c:v>91.2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.5"/>
          <c:min val="90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 Blocks Unfrozen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no_augs</c:v>
                  </c:pt>
                  <c:pt idx="1">
                    <c:v>basic_augs</c:v>
                  </c:pt>
                  <c:pt idx="2">
                    <c:v>erasing_low</c:v>
                  </c:pt>
                  <c:pt idx="3">
                    <c:v>erasing_high</c:v>
                  </c:pt>
                  <c:pt idx="4">
                    <c:v>jitter_only</c:v>
                  </c:pt>
                  <c:pt idx="5">
                    <c:v>mixup_low</c:v>
                  </c:pt>
                  <c:pt idx="6">
                    <c:v>mixup_mod</c:v>
                  </c:pt>
                  <c:pt idx="7">
                    <c:v>cutmix_low</c:v>
                  </c:pt>
                  <c:pt idx="8">
                    <c:v>cutmix_mod</c:v>
                  </c:pt>
                  <c:pt idx="9">
                    <c:v>mix+cut</c:v>
                  </c:pt>
                  <c:pt idx="10">
                    <c:v>full_low</c:v>
                  </c:pt>
                  <c:pt idx="11">
                    <c:v>full_high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92.07</c:v>
                </c:pt>
                <c:pt idx="1">
                  <c:v>92.86</c:v>
                </c:pt>
                <c:pt idx="2">
                  <c:v>92.97</c:v>
                </c:pt>
                <c:pt idx="3">
                  <c:v>92.37</c:v>
                </c:pt>
                <c:pt idx="4">
                  <c:v>92.75</c:v>
                </c:pt>
                <c:pt idx="5">
                  <c:v>92.89</c:v>
                </c:pt>
                <c:pt idx="6">
                  <c:v>92.86</c:v>
                </c:pt>
                <c:pt idx="7">
                  <c:v>92.59</c:v>
                </c:pt>
                <c:pt idx="8">
                  <c:v>92.7</c:v>
                </c:pt>
                <c:pt idx="9">
                  <c:v>92.53</c:v>
                </c:pt>
                <c:pt idx="10">
                  <c:v>92.58</c:v>
                </c:pt>
                <c:pt idx="11">
                  <c:v>92.78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Blocks Unfrozen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no_augs</c:v>
                  </c:pt>
                  <c:pt idx="1">
                    <c:v>basic_augs</c:v>
                  </c:pt>
                  <c:pt idx="2">
                    <c:v>erasing_low</c:v>
                  </c:pt>
                  <c:pt idx="3">
                    <c:v>erasing_high</c:v>
                  </c:pt>
                  <c:pt idx="4">
                    <c:v>jitter_only</c:v>
                  </c:pt>
                  <c:pt idx="5">
                    <c:v>mixup_low</c:v>
                  </c:pt>
                  <c:pt idx="6">
                    <c:v>mixup_mod</c:v>
                  </c:pt>
                  <c:pt idx="7">
                    <c:v>cutmix_low</c:v>
                  </c:pt>
                  <c:pt idx="8">
                    <c:v>cutmix_mod</c:v>
                  </c:pt>
                  <c:pt idx="9">
                    <c:v>mix+cut</c:v>
                  </c:pt>
                  <c:pt idx="10">
                    <c:v>full_low</c:v>
                  </c:pt>
                  <c:pt idx="11">
                    <c:v>full_high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92.75</c:v>
                </c:pt>
                <c:pt idx="1">
                  <c:v>92.35</c:v>
                </c:pt>
                <c:pt idx="2">
                  <c:v>92.34</c:v>
                </c:pt>
                <c:pt idx="3">
                  <c:v>92.62</c:v>
                </c:pt>
                <c:pt idx="4">
                  <c:v>92.66</c:v>
                </c:pt>
                <c:pt idx="5">
                  <c:v>92.41</c:v>
                </c:pt>
                <c:pt idx="6">
                  <c:v>92.71</c:v>
                </c:pt>
                <c:pt idx="7">
                  <c:v>92.42</c:v>
                </c:pt>
                <c:pt idx="8">
                  <c:v>92.5</c:v>
                </c:pt>
                <c:pt idx="9">
                  <c:v>92.67</c:v>
                </c:pt>
                <c:pt idx="10">
                  <c:v>92.54</c:v>
                </c:pt>
                <c:pt idx="11">
                  <c:v>92.78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 Blocks Unfrozen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no_augs</c:v>
                  </c:pt>
                  <c:pt idx="1">
                    <c:v>basic_augs</c:v>
                  </c:pt>
                  <c:pt idx="2">
                    <c:v>erasing_low</c:v>
                  </c:pt>
                  <c:pt idx="3">
                    <c:v>erasing_high</c:v>
                  </c:pt>
                  <c:pt idx="4">
                    <c:v>jitter_only</c:v>
                  </c:pt>
                  <c:pt idx="5">
                    <c:v>mixup_low</c:v>
                  </c:pt>
                  <c:pt idx="6">
                    <c:v>mixup_mod</c:v>
                  </c:pt>
                  <c:pt idx="7">
                    <c:v>cutmix_low</c:v>
                  </c:pt>
                  <c:pt idx="8">
                    <c:v>cutmix_mod</c:v>
                  </c:pt>
                  <c:pt idx="9">
                    <c:v>mix+cut</c:v>
                  </c:pt>
                  <c:pt idx="10">
                    <c:v>full_low</c:v>
                  </c:pt>
                  <c:pt idx="11">
                    <c:v>full_high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92.52</c:v>
                </c:pt>
                <c:pt idx="1">
                  <c:v>92.55</c:v>
                </c:pt>
                <c:pt idx="2">
                  <c:v>92.33</c:v>
                </c:pt>
                <c:pt idx="3">
                  <c:v>92.86</c:v>
                </c:pt>
                <c:pt idx="4">
                  <c:v>92.47</c:v>
                </c:pt>
                <c:pt idx="5">
                  <c:v>92.37</c:v>
                </c:pt>
                <c:pt idx="6">
                  <c:v>92.5</c:v>
                </c:pt>
                <c:pt idx="7">
                  <c:v>92.34</c:v>
                </c:pt>
                <c:pt idx="8">
                  <c:v>92.35</c:v>
                </c:pt>
                <c:pt idx="9">
                  <c:v>92.34</c:v>
                </c:pt>
                <c:pt idx="10">
                  <c:v>92.8</c:v>
                </c:pt>
                <c:pt idx="11">
                  <c:v>92.67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3.5"/>
          <c:min val="91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900" b="0" i="0" u="none" strike="noStrike">
                <a:solidFill>
                  <a:srgbClr val="475569"/>
                </a:solidFill>
                <a:latin typeface="Arial"/>
              </a:rPr>
              <a:t>Avg Accuracy by Unfrozen Block Count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Accuracy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7E8F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 Blocks</c:v>
                  </c:pt>
                  <c:pt idx="1">
                    <c:v>4 Blocks</c:v>
                  </c:pt>
                  <c:pt idx="2">
                    <c:v>6 Blocks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92.61</c:v>
                </c:pt>
                <c:pt idx="1">
                  <c:v>92.4</c:v>
                </c:pt>
                <c:pt idx="2">
                  <c:v>92.38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.8"/>
          <c:min val="9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Avg Accuracy by # Block Groups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Accuracy (%)</c:v>
                </c:pt>
              </c:strCache>
            </c:strRef>
          </c:tx>
          <c:spPr>
            <a:solidFill>
              <a:srgbClr val="7C3AED"/>
            </a:solidFill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 block</c:v>
                  </c:pt>
                  <c:pt idx="1">
                    <c:v>2 blocks</c:v>
                  </c:pt>
                  <c:pt idx="2">
                    <c:v>3 blocks</c:v>
                  </c:pt>
                  <c:pt idx="3">
                    <c:v>5 blocks</c:v>
                  </c:pt>
                  <c:pt idx="4">
                    <c:v>6 blocks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92.1</c:v>
                </c:pt>
                <c:pt idx="1">
                  <c:v>92.33</c:v>
                </c:pt>
                <c:pt idx="2">
                  <c:v>92.53</c:v>
                </c:pt>
                <c:pt idx="3">
                  <c:v>92.26</c:v>
                </c:pt>
                <c:pt idx="4">
                  <c:v>92.25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.8"/>
          <c:min val="91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Best Accuracy per Experiment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Accuracy (%)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no_augs</c:v>
                  </c:pt>
                  <c:pt idx="1">
                    <c:v>erasing+jitter+low</c:v>
                  </c:pt>
                  <c:pt idx="2">
                    <c:v>mixup+cutmix</c:v>
                  </c:pt>
                  <c:pt idx="3">
                    <c:v>jitter_only</c:v>
                  </c:pt>
                  <c:pt idx="4">
                    <c:v>erasing+jitter+high</c:v>
                  </c:pt>
                  <c:pt idx="5">
                    <c:v>basic_augs</c:v>
                  </c:pt>
                  <c:pt idx="6">
                    <c:v>erasing_low_prob</c:v>
                  </c:pt>
                  <c:pt idx="7">
                    <c:v>cutmix_moderate</c:v>
                  </c:pt>
                  <c:pt idx="8">
                    <c:v>erasing_high_prob</c:v>
                  </c:pt>
                  <c:pt idx="9">
                    <c:v>mixup_moderate</c:v>
                  </c:pt>
                  <c:pt idx="10">
                    <c:v>cutmix_low</c:v>
                  </c:pt>
                  <c:pt idx="11">
                    <c:v>mixup_low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93.16</c:v>
                </c:pt>
                <c:pt idx="1">
                  <c:v>93</c:v>
                </c:pt>
                <c:pt idx="2">
                  <c:v>92.83</c:v>
                </c:pt>
                <c:pt idx="3">
                  <c:v>92.72</c:v>
                </c:pt>
                <c:pt idx="4">
                  <c:v>92.72</c:v>
                </c:pt>
                <c:pt idx="5">
                  <c:v>92.7</c:v>
                </c:pt>
                <c:pt idx="6">
                  <c:v>92.7</c:v>
                </c:pt>
                <c:pt idx="7">
                  <c:v>92.59</c:v>
                </c:pt>
                <c:pt idx="8">
                  <c:v>92.56</c:v>
                </c:pt>
                <c:pt idx="9">
                  <c:v>92.5</c:v>
                </c:pt>
                <c:pt idx="10">
                  <c:v>92.34</c:v>
                </c:pt>
                <c:pt idx="11">
                  <c:v>92.26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3.4"/>
          <c:min val="91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Accuracy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Linear Probe</c:v>
                  </c:pt>
                  <c:pt idx="1">
                    <c:v>Sim Unfreeze (L=2)</c:v>
                  </c:pt>
                  <c:pt idx="2">
                    <c:v>Sim Unfreeze (L=4)</c:v>
                  </c:pt>
                  <c:pt idx="3">
                    <c:v>Sim Unfreeze (L=6)</c:v>
                  </c:pt>
                  <c:pt idx="4">
                    <c:v>Gradual (1 blk)</c:v>
                  </c:pt>
                  <c:pt idx="5">
                    <c:v>Gradual (2 blk)</c:v>
                  </c:pt>
                  <c:pt idx="6">
                    <c:v>Gradual (3 blk)</c:v>
                  </c:pt>
                  <c:pt idx="7">
                    <c:v>Gradual (5 blk)</c:v>
                  </c:pt>
                  <c:pt idx="8">
                    <c:v>Gradual (6 blk)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92.04</c:v>
                </c:pt>
                <c:pt idx="1">
                  <c:v>92.97</c:v>
                </c:pt>
                <c:pt idx="2">
                  <c:v>92.78</c:v>
                </c:pt>
                <c:pt idx="3">
                  <c:v>92.86</c:v>
                </c:pt>
                <c:pt idx="4">
                  <c:v>92.64</c:v>
                </c:pt>
                <c:pt idx="5">
                  <c:v>92.72</c:v>
                </c:pt>
                <c:pt idx="6">
                  <c:v>93</c:v>
                </c:pt>
                <c:pt idx="7">
                  <c:v>93.16</c:v>
                </c:pt>
                <c:pt idx="8">
                  <c:v>92.78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Accuracy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Linear Probe</c:v>
                  </c:pt>
                  <c:pt idx="1">
                    <c:v>Sim Unfreeze (L=2)</c:v>
                  </c:pt>
                  <c:pt idx="2">
                    <c:v>Sim Unfreeze (L=4)</c:v>
                  </c:pt>
                  <c:pt idx="3">
                    <c:v>Sim Unfreeze (L=6)</c:v>
                  </c:pt>
                  <c:pt idx="4">
                    <c:v>Gradual (1 blk)</c:v>
                  </c:pt>
                  <c:pt idx="5">
                    <c:v>Gradual (2 blk)</c:v>
                  </c:pt>
                  <c:pt idx="6">
                    <c:v>Gradual (3 blk)</c:v>
                  </c:pt>
                  <c:pt idx="7">
                    <c:v>Gradual (5 blk)</c:v>
                  </c:pt>
                  <c:pt idx="8">
                    <c:v>Gradual (6 blk)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91.61</c:v>
                </c:pt>
                <c:pt idx="1">
                  <c:v>92.61</c:v>
                </c:pt>
                <c:pt idx="2">
                  <c:v>92.4</c:v>
                </c:pt>
                <c:pt idx="3">
                  <c:v>92.38</c:v>
                </c:pt>
                <c:pt idx="4">
                  <c:v>92.1</c:v>
                </c:pt>
                <c:pt idx="5">
                  <c:v>92.33</c:v>
                </c:pt>
                <c:pt idx="6">
                  <c:v>92.53</c:v>
                </c:pt>
                <c:pt idx="7">
                  <c:v>92.26</c:v>
                </c:pt>
                <c:pt idx="8">
                  <c:v>92.25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3.5"/>
          <c:min val="90.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Accuracy per Augmentation Config across Training Methods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Probe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 Aug</c:v>
                  </c:pt>
                  <c:pt idx="1">
                    <c:v>Basic</c:v>
                  </c:pt>
                  <c:pt idx="2">
                    <c:v>Erasing Low</c:v>
                  </c:pt>
                  <c:pt idx="3">
                    <c:v>Erasing High</c:v>
                  </c:pt>
                  <c:pt idx="4">
                    <c:v>Jitter Only</c:v>
                  </c:pt>
                  <c:pt idx="5">
                    <c:v>MixUp Low</c:v>
                  </c:pt>
                  <c:pt idx="6">
                    <c:v>MixUp Mod</c:v>
                  </c:pt>
                  <c:pt idx="7">
                    <c:v>CutMix Low</c:v>
                  </c:pt>
                  <c:pt idx="8">
                    <c:v>CutMix Mod</c:v>
                  </c:pt>
                  <c:pt idx="9">
                    <c:v>Mix+Cut</c:v>
                  </c:pt>
                  <c:pt idx="10">
                    <c:v>Full (low)</c:v>
                  </c:pt>
                  <c:pt idx="11">
                    <c:v>Full (high)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91.2</c:v>
                </c:pt>
                <c:pt idx="1">
                  <c:v>91.61</c:v>
                </c:pt>
                <c:pt idx="2">
                  <c:v>91.63</c:v>
                </c:pt>
                <c:pt idx="3">
                  <c:v>91.71</c:v>
                </c:pt>
                <c:pt idx="4">
                  <c:v>91.69</c:v>
                </c:pt>
                <c:pt idx="5">
                  <c:v>91.31</c:v>
                </c:pt>
                <c:pt idx="6">
                  <c:v>91.66</c:v>
                </c:pt>
                <c:pt idx="7">
                  <c:v>91.82</c:v>
                </c:pt>
                <c:pt idx="8">
                  <c:v>91.71</c:v>
                </c:pt>
                <c:pt idx="9">
                  <c:v>91.44</c:v>
                </c:pt>
                <c:pt idx="10">
                  <c:v>91.5</c:v>
                </c:pt>
                <c:pt idx="11">
                  <c:v>92.04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 Unfreeze (best)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 Aug</c:v>
                  </c:pt>
                  <c:pt idx="1">
                    <c:v>Basic</c:v>
                  </c:pt>
                  <c:pt idx="2">
                    <c:v>Erasing Low</c:v>
                  </c:pt>
                  <c:pt idx="3">
                    <c:v>Erasing High</c:v>
                  </c:pt>
                  <c:pt idx="4">
                    <c:v>Jitter Only</c:v>
                  </c:pt>
                  <c:pt idx="5">
                    <c:v>MixUp Low</c:v>
                  </c:pt>
                  <c:pt idx="6">
                    <c:v>MixUp Mod</c:v>
                  </c:pt>
                  <c:pt idx="7">
                    <c:v>CutMix Low</c:v>
                  </c:pt>
                  <c:pt idx="8">
                    <c:v>CutMix Mod</c:v>
                  </c:pt>
                  <c:pt idx="9">
                    <c:v>Mix+Cut</c:v>
                  </c:pt>
                  <c:pt idx="10">
                    <c:v>Full (low)</c:v>
                  </c:pt>
                  <c:pt idx="11">
                    <c:v>Full (high)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92.07</c:v>
                </c:pt>
                <c:pt idx="1">
                  <c:v>92.86</c:v>
                </c:pt>
                <c:pt idx="2">
                  <c:v>92.97</c:v>
                </c:pt>
                <c:pt idx="3">
                  <c:v>92.86</c:v>
                </c:pt>
                <c:pt idx="4">
                  <c:v>92.75</c:v>
                </c:pt>
                <c:pt idx="5">
                  <c:v>92.89</c:v>
                </c:pt>
                <c:pt idx="6">
                  <c:v>92.86</c:v>
                </c:pt>
                <c:pt idx="7">
                  <c:v>92.59</c:v>
                </c:pt>
                <c:pt idx="8">
                  <c:v>92.7</c:v>
                </c:pt>
                <c:pt idx="9">
                  <c:v>92.67</c:v>
                </c:pt>
                <c:pt idx="10">
                  <c:v>92.8</c:v>
                </c:pt>
                <c:pt idx="11">
                  <c:v>92.78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Gradual Unfreeze</c:v>
                </c:pt>
              </c:strCache>
            </c:strRef>
          </c:tx>
          <c:spPr>
            <a:solidFill>
              <a:srgbClr val="7C3AED"/>
            </a:solidFill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No Aug</c:v>
                  </c:pt>
                  <c:pt idx="1">
                    <c:v>Basic</c:v>
                  </c:pt>
                  <c:pt idx="2">
                    <c:v>Erasing Low</c:v>
                  </c:pt>
                  <c:pt idx="3">
                    <c:v>Erasing High</c:v>
                  </c:pt>
                  <c:pt idx="4">
                    <c:v>Jitter Only</c:v>
                  </c:pt>
                  <c:pt idx="5">
                    <c:v>MixUp Low</c:v>
                  </c:pt>
                  <c:pt idx="6">
                    <c:v>MixUp Mod</c:v>
                  </c:pt>
                  <c:pt idx="7">
                    <c:v>CutMix Low</c:v>
                  </c:pt>
                  <c:pt idx="8">
                    <c:v>CutMix Mod</c:v>
                  </c:pt>
                  <c:pt idx="9">
                    <c:v>Mix+Cut</c:v>
                  </c:pt>
                  <c:pt idx="10">
                    <c:v>Full (low)</c:v>
                  </c:pt>
                  <c:pt idx="11">
                    <c:v>Full (high)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93.16</c:v>
                </c:pt>
                <c:pt idx="1">
                  <c:v>92.7</c:v>
                </c:pt>
                <c:pt idx="2">
                  <c:v>92.7</c:v>
                </c:pt>
                <c:pt idx="3">
                  <c:v>92.56</c:v>
                </c:pt>
                <c:pt idx="4">
                  <c:v>92.72</c:v>
                </c:pt>
                <c:pt idx="5">
                  <c:v>92.26</c:v>
                </c:pt>
                <c:pt idx="6">
                  <c:v>92.5</c:v>
                </c:pt>
                <c:pt idx="7">
                  <c:v>92.34</c:v>
                </c:pt>
                <c:pt idx="8">
                  <c:v>92.59</c:v>
                </c:pt>
                <c:pt idx="9">
                  <c:v>92.83</c:v>
                </c:pt>
                <c:pt idx="10">
                  <c:v>93</c:v>
                </c:pt>
                <c:pt idx="11">
                  <c:v>92.72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3.5"/>
          <c:min val="9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32004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0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2904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0648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08392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46136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1624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59368" y="27432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7772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32904" y="7772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0648" y="7772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8392" y="7772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46136" y="7772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7772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21624" y="7772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9368" y="77724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32904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0648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46136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21624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9368" y="128016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5160" y="17830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32904" y="17830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0648" y="17830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08392" y="17830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46136" y="17830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17830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21624" y="17830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59368" y="178308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95160" y="22860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32904" y="22860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70648" y="22860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08392" y="22860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46136" y="22860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22860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21624" y="22860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59368" y="2286000"/>
            <a:ext cx="64008" cy="64008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731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ViT Fine-Tuning</a:t>
            </a:r>
            <a:endParaRPr lang="en-US" sz="3800" dirty="0"/>
          </a:p>
        </p:txBody>
      </p:sp>
      <p:sp>
        <p:nvSpPr>
          <p:cNvPr id="46" name="Text 44"/>
          <p:cNvSpPr/>
          <p:nvPr/>
        </p:nvSpPr>
        <p:spPr>
          <a:xfrm>
            <a:off x="502920" y="1463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</a:rPr>
              <a:t>Oxford-IIIT Pet Dataset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502920" y="2103120"/>
            <a:ext cx="1371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22860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Comparing Three Transfer Learning Strategies with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Augmentation Experiments on 37-Class Breed Classification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02920" y="324612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Linear Probe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14600" y="324612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1460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Simultaneous Unfreeze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26280" y="324612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Gradual Unfreeze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Model: vit_base_patch16_224  |  37 Breeds  |  Batch 64  |  Up to 50 Epochs  |  ImageNet Weights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&amp; Experimental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2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148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1148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Oxford-IIIT Pet Dataset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12801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37 breeds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298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25 cat + 12 dog breeds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01368"/>
            <a:ext cx="12801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013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~7,400 images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18013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trainval.txt split 80/20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04288"/>
            <a:ext cx="12801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042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~3,700 images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3042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official test.txt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07208"/>
            <a:ext cx="12801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07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Dual labels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8072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Species (cat/dog) + breed class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12801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101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Image size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3101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224 × 224 px (ViT standard)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13048"/>
            <a:ext cx="12801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13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Normalisation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38130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ImageNet mean / std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822960"/>
            <a:ext cx="4343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822960"/>
            <a:ext cx="43434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8229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Shared Training Configuration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1261872"/>
            <a:ext cx="4343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2618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Batch size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126187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64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1700784"/>
            <a:ext cx="4343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7007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Max epochs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170078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50 (early stopping)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139696"/>
            <a:ext cx="4343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1396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LR scheduler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75120" y="2139696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ReduceLROnPlateau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2578608"/>
            <a:ext cx="4343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5786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LR patience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75120" y="257860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3 epochs → ×0.1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3017520"/>
            <a:ext cx="4343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0175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Min LR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75120" y="301752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1e-6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3456432"/>
            <a:ext cx="4343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4564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ES patience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75120" y="345643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6 epochs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895344"/>
            <a:ext cx="43434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89534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Loss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75120" y="389534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CrossEntropy + label smooth 0.1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0" y="4334256"/>
            <a:ext cx="4343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33425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Weight decay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75120" y="4334256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1e-4  (Adam)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Fine-Tuning Strategies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3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852928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04672"/>
            <a:ext cx="285292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Linear Probe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80467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LR = 1e-3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353312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All transformer blocks are fully frozen. Only the newly added classification head is trained. The pretrained features remain fixed — fast, low VRAM.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04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35000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Frozen: all 12 transformer blocks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5234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Trainable: head only (~37K params)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20954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154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LR = 1e-3  |  Adam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55701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12 augmentation experiments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72968" y="804672"/>
            <a:ext cx="2852928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804672"/>
            <a:ext cx="285292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804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Simultaneous Unfreeze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67528" y="80467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LR = 1e-4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82696" y="1353312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The last L transformer blocks are unfrozen all at once alongside the head. Tested with L ∈ {2, 4, 6}. Lower LR prevents disrupting pretrained weights.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240487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Unfrozen: last 2 / 4 / 6 blocks + head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28072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75234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All unfrozen layers trained from epoch 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320954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154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LR = 1e-4  |  Adam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0128" y="36118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55701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36 total runs (3 × 12 aug exps)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63056" y="804672"/>
            <a:ext cx="2852928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804672"/>
            <a:ext cx="285292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804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Gradual Unfreeze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57616" y="80467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LR = 1e-3 → 1e-4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72784" y="1353312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Blocks are unfrozen progressively in phases. Phase 1 trains only the head, then each subsequent phase unfreezes one more block group. Tested with 1–6 block groups.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0216" y="24048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235000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Phase 1: head only (LR=1e-3)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0216" y="280720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275234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Phase 2+: unlock next block group (LR=1e-4)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0216" y="320954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64808" y="3154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num_blocks ∈ {1,2,3,5,6}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00216" y="361188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4808" y="355701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60 total runs (5 × 12 aug exps)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Augmentation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4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0292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Spatial Transforms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75488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4416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2588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Resize 256×256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87168" y="1234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Always applied first (train + eval)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682496"/>
            <a:ext cx="47548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79222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" y="16824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Random Horizontal Flip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7168" y="168249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p=0.5, geometric invariance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130552"/>
            <a:ext cx="475488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2402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2199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" y="21305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Random Rotation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87168" y="21305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0–20° range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47548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68833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67004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" y="25786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Random Resized Crop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87168" y="25786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scale (0.85–1.0), ratio (0.9–1.1) → 224px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026664"/>
            <a:ext cx="475488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13639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118104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" y="30266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Color Jitter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87168" y="302666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brightness 0.3, contrast 0.3, saturation 0.2, hue 0.05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474720"/>
            <a:ext cx="475488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58444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56616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Random Grayscale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87168" y="34747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p=0.05, robustness to colour dropout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922776"/>
            <a:ext cx="47548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403250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01421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" y="39227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Normalize (ImageNet)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487168" y="392277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μ=(0.485,0.456,0.406) σ=(0.229,0.224,0.225)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370832"/>
            <a:ext cx="4754880" cy="384048"/>
          </a:xfrm>
          <a:prstGeom prst="rect">
            <a:avLst/>
          </a:prstGeom>
          <a:solidFill>
            <a:srgbClr val="FD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448056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462272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792" y="4370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Random Erasing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487168" y="437083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p=0.2–0.5, scale (0.02–0.10)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0" y="822960"/>
            <a:ext cx="34290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86400" y="822960"/>
            <a:ext cx="34290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8229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Batch-Level Augmentation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577840" y="1298448"/>
            <a:ext cx="32461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1344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MixUp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498080" y="13441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α ∈ {0.2, 0.4}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69280" y="161848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Linearly blends two images and their labels. Alpha controls mix strength. Low alpha = mild blend.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577840" y="2350008"/>
            <a:ext cx="32461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0" y="2395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CutMix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98080" y="23957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α ∈ {0.5, 1.0}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69280" y="267004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Pastes a rectangular crop from one image into another. Labels weighted by patch area.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577840" y="3401568"/>
            <a:ext cx="32461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3447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MixUp + CutMix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498080" y="34472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50/50 rand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69280" y="372160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Randomly applies either technique per batch for combined regularisation.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77840" y="44622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Apply probability: 20% per batch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Augmentation Experiment Configurations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5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7432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62656" y="804672"/>
            <a:ext cx="21031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8376" y="804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Spatial Augs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02352" y="804672"/>
            <a:ext cx="9144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8072" y="8046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Erasing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53328" y="804672"/>
            <a:ext cx="8229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9048" y="80467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Jitter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12864" y="804672"/>
            <a:ext cx="155448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58584" y="8046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Batch Aug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207008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2070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no_augs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62656" y="1207008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08376" y="1207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02352" y="1207008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8072" y="120700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53328" y="120700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120700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12864" y="120700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58584" y="12070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1545336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5453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basic_augs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62656" y="1545336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08376" y="1545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02352" y="1545336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8072" y="15453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53328" y="1545336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154533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12864" y="1545336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58584" y="15453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1883664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18836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erasing_only_low_prob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62656" y="1883664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08376" y="18836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02352" y="1883664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072" y="188366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p=0.2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53328" y="1883664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9048" y="188366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12864" y="1883664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18836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82880" y="2221992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221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erasing_only_high_prob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962656" y="2221992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08376" y="22219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102352" y="2221992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48072" y="2221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p=0.5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053328" y="2221992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99048" y="22219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12864" y="2221992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58584" y="22219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2880" y="256032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jitter_only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962656" y="2560320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08376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102352" y="256032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48072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53328" y="256032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99048" y="2560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Color Jitter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912864" y="2560320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58584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82880" y="2898648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8600" y="28986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mixup_only_low_alpha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962656" y="2898648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08376" y="2898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102352" y="2898648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48072" y="28986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053328" y="2898648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99048" y="28986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912864" y="2898648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58584" y="28986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α=0.2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82880" y="3236976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32369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mixup_only_moderate_alpha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962656" y="3236976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008376" y="32369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102352" y="3236976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48072" y="32369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053328" y="3236976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99048" y="32369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912864" y="3236976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58584" y="32369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α=0.4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2880" y="3575304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8600" y="35753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cutmix_only_low_alpha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962656" y="3575304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008376" y="35753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102352" y="3575304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48072" y="357530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053328" y="3575304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99048" y="35753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912864" y="3575304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58584" y="35753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α=0.5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82880" y="3913632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600" y="3913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cutmix_only_moderate_alpha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962656" y="3913632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008376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102352" y="3913632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48072" y="39136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053328" y="3913632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99048" y="39136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912864" y="3913632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58584" y="3913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α=1.0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182880" y="4251960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28600" y="4251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mixup_cutmix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962656" y="425196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008376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102352" y="4251960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48072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6053328" y="4251960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099048" y="4251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6912864" y="4251960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958584" y="4251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Both α=0.4/1.0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182880" y="4590288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28600" y="4590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erasing_jitter_mixup_cutmix_low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962656" y="4590288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008376" y="4590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5102352" y="4590288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48072" y="45902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p=0.2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6053328" y="459028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099048" y="45902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6912864" y="459028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958584" y="45902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p=0.2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182880" y="4928616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28600" y="49286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erasing_jitter_mixup_cutmix_high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2962656" y="4928616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008376" y="49286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5102352" y="4928616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148072" y="492861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p=0.5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6053328" y="4928616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099048" y="49286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6912864" y="4928616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958584" y="49286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p=0.5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Learning Rate Strategy &amp; Training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6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51206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Learning Rate Schedule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10058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316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Start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LR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1e-3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(LP/Phase 1)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45920" y="1298448"/>
            <a:ext cx="10058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1316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Plateau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Detect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1591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 epochs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no improve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176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80360" y="1298448"/>
            <a:ext cx="10058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80360" y="1316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LR × 0.1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1591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reduce by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factor 10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8620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1298448"/>
            <a:ext cx="10058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0" y="1316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Min LR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Floor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1591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1e-6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(stop decay)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2103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Gradual Unfreeze Phase Scheduling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2423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Phase 1: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  Train head only — LR 1e-3, up to 20 epochs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724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Phase 2+: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  Unfreeze next block group — LR 1e-4, up to 20 epochs each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108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Early Stopping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" y="3456432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Patience = 6 epochs (no val_loss improvement)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" y="3730752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675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Delta threshold = 1e-4 (minimum meaningful gain)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" y="4005072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950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Best checkpoint saved on every improvement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" y="4279392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Applied per training phase in gradual unfreeze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822960"/>
            <a:ext cx="33375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822960"/>
            <a:ext cx="3337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8229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TrainingEngine Features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77840" y="1298448"/>
            <a:ext cx="333756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13441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⚡ Mixed Precision (AMP)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160934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torch.autocast + GradScaler for CUDA. Scheduler step skipped on overflow.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2167128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22128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📊 sklearn Macro Metrics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0" y="247802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Precision, Recall, F1 computed end-of-epoch over full prediction set.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77840" y="3035808"/>
            <a:ext cx="333756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30815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🔀 Batch Augmentation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0" y="334670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CutMix / MixUp applied after DataLoader yields. Soft one-hot labels for mixed samples.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77840" y="3904488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3950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⏱ tqdm Progress Bars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69280" y="421538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Live loss + acc tracking per batch. Separate colour per phase (green=train, blue=eval).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Linear Probe (Head-Only Training)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7 / 12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804672"/>
          <a:ext cx="5943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804672"/>
            <a:ext cx="260604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09360" y="804672"/>
            <a:ext cx="26060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80467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Stats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261872"/>
            <a:ext cx="2606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2618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89520" y="126187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92.04%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1709928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17099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Exp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170992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erasing+jitter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+cutmix (high)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09360" y="2157984"/>
            <a:ext cx="2606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1579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Range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589520" y="215798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91.20 – 92.04%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09360" y="2606040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26060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Δ (no aug → best)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589520" y="260604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+0.84 pp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09360" y="3054096"/>
            <a:ext cx="2606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05409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Avg Accuracy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589520" y="305409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91.61%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09360" y="3502152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35021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Macro F1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589520" y="3502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91.88%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09360" y="3950208"/>
            <a:ext cx="2606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395020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LR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589520" y="395020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1e-3  (head only)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309360" y="4398264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439826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Frozen Blocks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589520" y="439826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All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Simultaneous Unfreeze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8 / 12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804672"/>
          <a:ext cx="6035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182880" y="3840480"/>
          <a:ext cx="603504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46520" y="804672"/>
            <a:ext cx="2468880" cy="4087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46520" y="804672"/>
            <a:ext cx="2468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7960" y="8046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Stats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46520" y="1261872"/>
            <a:ext cx="24688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37960" y="126187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635240" y="12618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92.97%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46520" y="1709928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37960" y="170992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Experiment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635240" y="17099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erasing_low_prob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(2 layers)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46520" y="2157984"/>
            <a:ext cx="24688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37960" y="215798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Range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635240" y="21579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92.07 – 92.97%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46520" y="2606040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260604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vs Linear Probe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635240" y="26060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+0.93 pp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46520" y="3054096"/>
            <a:ext cx="24688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305409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Avg (2 blocks)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35240" y="305409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92.61%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446520" y="3502152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37960" y="350215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Avg (4 blocks)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635240" y="35021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92.40%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446520" y="3950208"/>
            <a:ext cx="24688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37960" y="395020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Avg (6 blocks)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635240" y="395020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92.38%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446520" y="4398264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37960" y="439826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Sweet spot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635240" y="439826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L = 2 blocks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Gradual Unfreeze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9 / 12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804672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182880" y="3200400"/>
          <a:ext cx="39319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343400" y="804672"/>
            <a:ext cx="4526280" cy="4087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343400" y="804672"/>
            <a:ext cx="45262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34840" y="80467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Stats &amp; Observations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43400" y="1261872"/>
            <a:ext cx="4526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34840" y="12618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263640" y="126187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93.16%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43400" y="1709928"/>
            <a:ext cx="4526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34840" y="17099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Config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263640" y="170992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no_augs + 5 block groups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43400" y="2157984"/>
            <a:ext cx="4526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34840" y="215798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Runner-Up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263640" y="215798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93.00% (erasing+jitter low)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343400" y="2606040"/>
            <a:ext cx="4526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4840" y="26060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Range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263640" y="26060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92.26 – 93.16%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343400" y="3054096"/>
            <a:ext cx="4526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34840" y="305409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vs Linear Probe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263640" y="305409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+1.96 pp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343400" y="3502152"/>
            <a:ext cx="4526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434840" y="35021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vs Sim Unfreeze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263640" y="35021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+0.19 pp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343400" y="3950208"/>
            <a:ext cx="4526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434840" y="39502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Sweet spot blocks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263640" y="395020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3 blocks (avg 92.53%)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343400" y="4398264"/>
            <a:ext cx="4526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434840" y="439826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Worst config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263640" y="439826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mixup_low_alpha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Cross-Method Performance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10 / 12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804672"/>
          <a:ext cx="8778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4160520"/>
            <a:ext cx="27432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1879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Linear Probe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92.04% best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00200" y="444398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91.61% avg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4160520"/>
            <a:ext cx="27432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0" y="41879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 Unfreeze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0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92.97% best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444398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92.46% avg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4160520"/>
            <a:ext cx="27432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879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Gradual Unfreeze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93.16% best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52360" y="444398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92.30% avg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Augmentation Impact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11 / 12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804672"/>
          <a:ext cx="8778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4114800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1148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LP is most sensitive to aug type — range of 0.84pp. Best: combined erasing+jitter+cutmix (high prob).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4114800"/>
            <a:ext cx="6400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4114800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41148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Sim Unfreeze benefits most from spatial augs (erasing, basic). Batch augs (MixUp alone) are less helpful.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7720" y="4114800"/>
            <a:ext cx="6400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" y="4617720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" y="46177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Gradual Unfreeze is surprisingly robust — even no_augs hits 93.16%, the overall best result.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880" y="4617720"/>
            <a:ext cx="6400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4617720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46177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MixUp alone tends to underperform across all methods. CutMix and combined strategies are more reliable.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17720" y="4617720"/>
            <a:ext cx="6400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4023360" cy="987552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06984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9848" y="91440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Gradual Unfreeze achieves peak performance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1207008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93.16% accuracy — best overall. Progressive layer unfreezing with LR decay is the most effective strategy for this dataset, outperforming both linear probe and simultaneous unfreeze.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841248"/>
            <a:ext cx="4023360" cy="987552"/>
          </a:xfrm>
          <a:prstGeom prst="rect">
            <a:avLst/>
          </a:prstGeom>
          <a:solidFill>
            <a:srgbClr val="162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56048" y="106984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13248" y="91440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More unfrozen layers ≠ better 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13248" y="1207008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Both Sim Unfreeze (L=2 wins) and Gradual Unfreeze (3 blocks optimal) show diminishing returns beyond a moderate unfreeze depth. Over-unfreezing can hurt consistency.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938528"/>
            <a:ext cx="4023360" cy="987552"/>
          </a:xfrm>
          <a:prstGeom prst="rect">
            <a:avLst/>
          </a:prstGeom>
          <a:solidFill>
            <a:srgbClr val="1620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9848" y="201168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Augmentation impact is method-dependent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9848" y="2304288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Spatial augmentations (erasing, crop, flip) consistently help Sim Unfreeze. Gradual Unfreeze is robust — even no_augs achieves the global best. LP benefits most from combined strategies.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938528"/>
            <a:ext cx="4023360" cy="987552"/>
          </a:xfrm>
          <a:prstGeom prst="rect">
            <a:avLst/>
          </a:prstGeom>
          <a:solidFill>
            <a:srgbClr val="1620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216712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13248" y="201168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MixUp alone is a risky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13248" y="2304288"/>
            <a:ext cx="3346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Across all three methods, MixUp with low alpha consistently underperforms other augmentation strategies. CutMix or combined erasing+jitter+cutmix are safer defaults.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035808"/>
            <a:ext cx="8412480" cy="868680"/>
          </a:xfrm>
          <a:prstGeom prst="rect">
            <a:avLst/>
          </a:prstGeom>
          <a:solidFill>
            <a:srgbClr val="16204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" y="3264408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69848" y="3108960"/>
            <a:ext cx="7735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Recommended configuration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401568"/>
            <a:ext cx="7735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Gradual Unfreeze with 3 block groups, erasing+jitter+cutmix (low prob) augmentation, LR 1e-3 → 1e-4 decay, ES patience 6. Expected accuracy: ≥ 93.0% on Oxford-IIIT Pet.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 Fine-Tuning on Oxford-IIIT Pet Dataset</dc:title>
  <dc:subject>PptxGenJS Presentation</dc:subject>
  <dc:creator>PptxGenJS</dc:creator>
  <cp:lastModifiedBy>PptxGenJS</cp:lastModifiedBy>
  <cp:revision>1</cp:revision>
  <dcterms:created xsi:type="dcterms:W3CDTF">2026-05-06T16:39:59Z</dcterms:created>
  <dcterms:modified xsi:type="dcterms:W3CDTF">2026-05-06T16:39:59Z</dcterms:modified>
</cp:coreProperties>
</file>