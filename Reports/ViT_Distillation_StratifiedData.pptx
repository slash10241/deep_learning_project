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Finetune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B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10%</c:v>
                </c:pt>
                <c:pt idx="1">
                  <c:v>25%</c:v>
                </c:pt>
                <c:pt idx="2">
                  <c:v>100%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65.63</c:v>
                </c:pt>
                <c:pt idx="1">
                  <c:v>74.27</c:v>
                </c:pt>
                <c:pt idx="2">
                  <c:v>84.46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76-41B7-80FC-025A6A69FE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Distillation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B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10%</c:v>
                </c:pt>
                <c:pt idx="1">
                  <c:v>25%</c:v>
                </c:pt>
                <c:pt idx="2">
                  <c:v>100%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75.010000000000005</c:v>
                </c:pt>
                <c:pt idx="1">
                  <c:v>83.07</c:v>
                </c:pt>
                <c:pt idx="2">
                  <c:v>87.54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76-41B7-80FC-025A6A69FE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Finetune</c:v>
                </c:pt>
              </c:strCache>
            </c:strRef>
          </c:tx>
          <c:spPr>
            <a:ln w="31750" cap="flat">
              <a:solidFill>
                <a:srgbClr val="E651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10%</c:v>
                </c:pt>
                <c:pt idx="1">
                  <c:v>25%</c:v>
                </c:pt>
                <c:pt idx="2">
                  <c:v>100%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65.63</c:v>
                </c:pt>
                <c:pt idx="1">
                  <c:v>74.27</c:v>
                </c:pt>
                <c:pt idx="2">
                  <c:v>84.46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E5-41CA-BF9E-FC8E3CEE8D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Distillation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10%</c:v>
                </c:pt>
                <c:pt idx="1">
                  <c:v>25%</c:v>
                </c:pt>
                <c:pt idx="2">
                  <c:v>100%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75.010000000000005</c:v>
                </c:pt>
                <c:pt idx="1">
                  <c:v>83.07</c:v>
                </c:pt>
                <c:pt idx="2">
                  <c:v>87.54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E5-41CA-BF9E-FC8E3CEE8D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100%</c:v>
                </c:pt>
              </c:strCache>
            </c:strRef>
          </c:tx>
          <c:spPr>
            <a:ln w="22860" cap="flat">
              <a:solidFill>
                <a:srgbClr val="E651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0.8629</c:v>
                </c:pt>
                <c:pt idx="1">
                  <c:v>0.74590000000000001</c:v>
                </c:pt>
                <c:pt idx="2">
                  <c:v>0.56140000000000001</c:v>
                </c:pt>
                <c:pt idx="3">
                  <c:v>0.84650000000000003</c:v>
                </c:pt>
                <c:pt idx="4">
                  <c:v>0.76439999999999997</c:v>
                </c:pt>
                <c:pt idx="5">
                  <c:v>0.84619999999999995</c:v>
                </c:pt>
                <c:pt idx="6">
                  <c:v>0.75</c:v>
                </c:pt>
                <c:pt idx="7">
                  <c:v>0.94920000000000004</c:v>
                </c:pt>
                <c:pt idx="8">
                  <c:v>0.81859999999999999</c:v>
                </c:pt>
                <c:pt idx="9">
                  <c:v>0.83079999999999998</c:v>
                </c:pt>
                <c:pt idx="10">
                  <c:v>0.7399</c:v>
                </c:pt>
                <c:pt idx="11">
                  <c:v>0.88300000000000001</c:v>
                </c:pt>
                <c:pt idx="12">
                  <c:v>0.82930000000000004</c:v>
                </c:pt>
                <c:pt idx="13">
                  <c:v>0.82050000000000001</c:v>
                </c:pt>
                <c:pt idx="14">
                  <c:v>0.88790000000000002</c:v>
                </c:pt>
                <c:pt idx="15">
                  <c:v>0.88319999999999999</c:v>
                </c:pt>
                <c:pt idx="16">
                  <c:v>0.92079999999999995</c:v>
                </c:pt>
                <c:pt idx="17">
                  <c:v>0.89</c:v>
                </c:pt>
                <c:pt idx="18">
                  <c:v>0.94530000000000003</c:v>
                </c:pt>
                <c:pt idx="19">
                  <c:v>0.94530000000000003</c:v>
                </c:pt>
                <c:pt idx="20">
                  <c:v>0.81769999999999998</c:v>
                </c:pt>
                <c:pt idx="21">
                  <c:v>0.84819999999999995</c:v>
                </c:pt>
                <c:pt idx="22">
                  <c:v>0.91459999999999997</c:v>
                </c:pt>
                <c:pt idx="23">
                  <c:v>0.81969999999999998</c:v>
                </c:pt>
                <c:pt idx="24">
                  <c:v>0.87570000000000003</c:v>
                </c:pt>
                <c:pt idx="25">
                  <c:v>0.95830000000000004</c:v>
                </c:pt>
                <c:pt idx="26">
                  <c:v>0.73799999999999999</c:v>
                </c:pt>
                <c:pt idx="27">
                  <c:v>0.84689999999999999</c:v>
                </c:pt>
                <c:pt idx="28">
                  <c:v>0.87</c:v>
                </c:pt>
                <c:pt idx="29">
                  <c:v>0.88039999999999996</c:v>
                </c:pt>
                <c:pt idx="30">
                  <c:v>0.92459999999999998</c:v>
                </c:pt>
                <c:pt idx="31">
                  <c:v>0.91349999999999998</c:v>
                </c:pt>
                <c:pt idx="32">
                  <c:v>0.86270000000000002</c:v>
                </c:pt>
                <c:pt idx="33">
                  <c:v>0.86729999999999996</c:v>
                </c:pt>
                <c:pt idx="34">
                  <c:v>0.52439999999999998</c:v>
                </c:pt>
                <c:pt idx="35">
                  <c:v>0.8629</c:v>
                </c:pt>
                <c:pt idx="36">
                  <c:v>0.91920000000000002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9C-455E-B1CA-30C2C792B3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Distilled 100%</c:v>
                </c:pt>
              </c:strCache>
            </c:strRef>
          </c:tx>
          <c:spPr>
            <a:ln w="2286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0.87760000000000005</c:v>
                </c:pt>
                <c:pt idx="1">
                  <c:v>0.74039999999999995</c:v>
                </c:pt>
                <c:pt idx="2">
                  <c:v>0.58750000000000002</c:v>
                </c:pt>
                <c:pt idx="3">
                  <c:v>0.87439999999999996</c:v>
                </c:pt>
                <c:pt idx="4">
                  <c:v>0.84789999999999999</c:v>
                </c:pt>
                <c:pt idx="5">
                  <c:v>0.83330000000000004</c:v>
                </c:pt>
                <c:pt idx="6">
                  <c:v>0.79049999999999998</c:v>
                </c:pt>
                <c:pt idx="7">
                  <c:v>0.94510000000000005</c:v>
                </c:pt>
                <c:pt idx="8">
                  <c:v>0.86539999999999995</c:v>
                </c:pt>
                <c:pt idx="9">
                  <c:v>0.87760000000000005</c:v>
                </c:pt>
                <c:pt idx="10">
                  <c:v>0.82679999999999998</c:v>
                </c:pt>
                <c:pt idx="11">
                  <c:v>0.88770000000000004</c:v>
                </c:pt>
                <c:pt idx="12">
                  <c:v>0.8821</c:v>
                </c:pt>
                <c:pt idx="13">
                  <c:v>0.89690000000000003</c:v>
                </c:pt>
                <c:pt idx="14">
                  <c:v>0.89910000000000001</c:v>
                </c:pt>
                <c:pt idx="15">
                  <c:v>0.91790000000000005</c:v>
                </c:pt>
                <c:pt idx="16">
                  <c:v>0.91</c:v>
                </c:pt>
                <c:pt idx="17">
                  <c:v>0.90100000000000002</c:v>
                </c:pt>
                <c:pt idx="18">
                  <c:v>0.96909999999999996</c:v>
                </c:pt>
                <c:pt idx="19">
                  <c:v>0.94059999999999999</c:v>
                </c:pt>
                <c:pt idx="20">
                  <c:v>0.86699999999999999</c:v>
                </c:pt>
                <c:pt idx="21">
                  <c:v>0.90159999999999996</c:v>
                </c:pt>
                <c:pt idx="22">
                  <c:v>0.93069999999999997</c:v>
                </c:pt>
                <c:pt idx="23">
                  <c:v>0.86339999999999995</c:v>
                </c:pt>
                <c:pt idx="24">
                  <c:v>0.92779999999999996</c:v>
                </c:pt>
                <c:pt idx="25">
                  <c:v>0.96909999999999996</c:v>
                </c:pt>
                <c:pt idx="26">
                  <c:v>0.80210000000000004</c:v>
                </c:pt>
                <c:pt idx="27">
                  <c:v>0.8901</c:v>
                </c:pt>
                <c:pt idx="28">
                  <c:v>0.88349999999999995</c:v>
                </c:pt>
                <c:pt idx="29">
                  <c:v>0.91259999999999997</c:v>
                </c:pt>
                <c:pt idx="30">
                  <c:v>0.95</c:v>
                </c:pt>
                <c:pt idx="31">
                  <c:v>0.91349999999999998</c:v>
                </c:pt>
                <c:pt idx="32">
                  <c:v>0.89659999999999995</c:v>
                </c:pt>
                <c:pt idx="33">
                  <c:v>0.91869999999999996</c:v>
                </c:pt>
                <c:pt idx="34">
                  <c:v>0.58330000000000004</c:v>
                </c:pt>
                <c:pt idx="35">
                  <c:v>0.89</c:v>
                </c:pt>
                <c:pt idx="36">
                  <c:v>0.94850000000000001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9C-455E-B1CA-30C2C792B3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Distilled 100%</c:v>
                </c:pt>
              </c:strCache>
            </c:strRef>
          </c:tx>
          <c:spPr>
            <a:ln w="2286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0.87760000000000005</c:v>
                </c:pt>
                <c:pt idx="1">
                  <c:v>0.74039999999999995</c:v>
                </c:pt>
                <c:pt idx="2">
                  <c:v>0.58750000000000002</c:v>
                </c:pt>
                <c:pt idx="3">
                  <c:v>0.87439999999999996</c:v>
                </c:pt>
                <c:pt idx="4">
                  <c:v>0.84789999999999999</c:v>
                </c:pt>
                <c:pt idx="5">
                  <c:v>0.83330000000000004</c:v>
                </c:pt>
                <c:pt idx="6">
                  <c:v>0.79049999999999998</c:v>
                </c:pt>
                <c:pt idx="7">
                  <c:v>0.94510000000000005</c:v>
                </c:pt>
                <c:pt idx="8">
                  <c:v>0.86539999999999995</c:v>
                </c:pt>
                <c:pt idx="9">
                  <c:v>0.87760000000000005</c:v>
                </c:pt>
                <c:pt idx="10">
                  <c:v>0.82679999999999998</c:v>
                </c:pt>
                <c:pt idx="11">
                  <c:v>0.88770000000000004</c:v>
                </c:pt>
                <c:pt idx="12">
                  <c:v>0.8821</c:v>
                </c:pt>
                <c:pt idx="13">
                  <c:v>0.89690000000000003</c:v>
                </c:pt>
                <c:pt idx="14">
                  <c:v>0.89910000000000001</c:v>
                </c:pt>
                <c:pt idx="15">
                  <c:v>0.91790000000000005</c:v>
                </c:pt>
                <c:pt idx="16">
                  <c:v>0.91</c:v>
                </c:pt>
                <c:pt idx="17">
                  <c:v>0.90100000000000002</c:v>
                </c:pt>
                <c:pt idx="18">
                  <c:v>0.96909999999999996</c:v>
                </c:pt>
                <c:pt idx="19">
                  <c:v>0.94059999999999999</c:v>
                </c:pt>
                <c:pt idx="20">
                  <c:v>0.86699999999999999</c:v>
                </c:pt>
                <c:pt idx="21">
                  <c:v>0.90159999999999996</c:v>
                </c:pt>
                <c:pt idx="22">
                  <c:v>0.93069999999999997</c:v>
                </c:pt>
                <c:pt idx="23">
                  <c:v>0.86339999999999995</c:v>
                </c:pt>
                <c:pt idx="24">
                  <c:v>0.92779999999999996</c:v>
                </c:pt>
                <c:pt idx="25">
                  <c:v>0.96909999999999996</c:v>
                </c:pt>
                <c:pt idx="26">
                  <c:v>0.80210000000000004</c:v>
                </c:pt>
                <c:pt idx="27">
                  <c:v>0.8901</c:v>
                </c:pt>
                <c:pt idx="28">
                  <c:v>0.88349999999999995</c:v>
                </c:pt>
                <c:pt idx="29">
                  <c:v>0.91259999999999997</c:v>
                </c:pt>
                <c:pt idx="30">
                  <c:v>0.95</c:v>
                </c:pt>
                <c:pt idx="31">
                  <c:v>0.91349999999999998</c:v>
                </c:pt>
                <c:pt idx="32">
                  <c:v>0.89659999999999995</c:v>
                </c:pt>
                <c:pt idx="33">
                  <c:v>0.91869999999999996</c:v>
                </c:pt>
                <c:pt idx="34">
                  <c:v>0.58330000000000004</c:v>
                </c:pt>
                <c:pt idx="35">
                  <c:v>0.89</c:v>
                </c:pt>
                <c:pt idx="36">
                  <c:v>0.94850000000000001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AD-4BF7-9D7D-E5A53159AD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Distilled 25%</c:v>
                </c:pt>
              </c:strCache>
            </c:strRef>
          </c:tx>
          <c:spPr>
            <a:ln w="22860" cap="flat">
              <a:solidFill>
                <a:srgbClr val="3A5F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A5FA0"/>
              </a:solidFill>
              <a:ln w="9525" cap="flat">
                <a:solidFill>
                  <a:srgbClr val="3A5FA0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0.84970000000000001</c:v>
                </c:pt>
                <c:pt idx="1">
                  <c:v>0.69169999999999998</c:v>
                </c:pt>
                <c:pt idx="2">
                  <c:v>0.42470000000000002</c:v>
                </c:pt>
                <c:pt idx="3">
                  <c:v>0.81740000000000002</c:v>
                </c:pt>
                <c:pt idx="4">
                  <c:v>0.71199999999999997</c:v>
                </c:pt>
                <c:pt idx="5">
                  <c:v>0.82</c:v>
                </c:pt>
                <c:pt idx="6">
                  <c:v>0.7087</c:v>
                </c:pt>
                <c:pt idx="7">
                  <c:v>0.92310000000000003</c:v>
                </c:pt>
                <c:pt idx="8">
                  <c:v>0.78820000000000001</c:v>
                </c:pt>
                <c:pt idx="9">
                  <c:v>0.80810000000000004</c:v>
                </c:pt>
                <c:pt idx="10">
                  <c:v>0.75280000000000002</c:v>
                </c:pt>
                <c:pt idx="11">
                  <c:v>0.86870000000000003</c:v>
                </c:pt>
                <c:pt idx="12">
                  <c:v>0.78069999999999995</c:v>
                </c:pt>
                <c:pt idx="13">
                  <c:v>0.76439999999999997</c:v>
                </c:pt>
                <c:pt idx="14">
                  <c:v>0.88680000000000003</c:v>
                </c:pt>
                <c:pt idx="15">
                  <c:v>0.88890000000000002</c:v>
                </c:pt>
                <c:pt idx="16">
                  <c:v>0.85309999999999997</c:v>
                </c:pt>
                <c:pt idx="17">
                  <c:v>0.85289999999999999</c:v>
                </c:pt>
                <c:pt idx="18">
                  <c:v>0.9798</c:v>
                </c:pt>
                <c:pt idx="19">
                  <c:v>0.93069999999999997</c:v>
                </c:pt>
                <c:pt idx="20">
                  <c:v>0.81410000000000005</c:v>
                </c:pt>
                <c:pt idx="21">
                  <c:v>0.84419999999999995</c:v>
                </c:pt>
                <c:pt idx="22">
                  <c:v>0.90820000000000001</c:v>
                </c:pt>
                <c:pt idx="23">
                  <c:v>0.84150000000000003</c:v>
                </c:pt>
                <c:pt idx="24">
                  <c:v>0.94469999999999998</c:v>
                </c:pt>
                <c:pt idx="25">
                  <c:v>0.92230000000000001</c:v>
                </c:pt>
                <c:pt idx="26">
                  <c:v>0.74629999999999996</c:v>
                </c:pt>
                <c:pt idx="27">
                  <c:v>0.81679999999999997</c:v>
                </c:pt>
                <c:pt idx="28">
                  <c:v>0.8629</c:v>
                </c:pt>
                <c:pt idx="29">
                  <c:v>0.91710000000000003</c:v>
                </c:pt>
                <c:pt idx="30">
                  <c:v>0.92390000000000005</c:v>
                </c:pt>
                <c:pt idx="31">
                  <c:v>0.88780000000000003</c:v>
                </c:pt>
                <c:pt idx="32">
                  <c:v>0.83250000000000002</c:v>
                </c:pt>
                <c:pt idx="33">
                  <c:v>0.90380000000000005</c:v>
                </c:pt>
                <c:pt idx="34">
                  <c:v>0.55169999999999997</c:v>
                </c:pt>
                <c:pt idx="35">
                  <c:v>0.90620000000000001</c:v>
                </c:pt>
                <c:pt idx="36">
                  <c:v>0.92779999999999996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AD-4BF7-9D7D-E5A53159AD2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Distilled 10%</c:v>
                </c:pt>
              </c:strCache>
            </c:strRef>
          </c:tx>
          <c:spPr>
            <a:ln w="22860" cap="flat">
              <a:solidFill>
                <a:srgbClr val="4FC3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C3F7"/>
              </a:solidFill>
              <a:ln w="9525" cap="flat">
                <a:solidFill>
                  <a:srgbClr val="4FC3F7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Sheet1!$D$2:$D$38</c:f>
              <c:numCache>
                <c:formatCode>General</c:formatCode>
                <c:ptCount val="37"/>
                <c:pt idx="0">
                  <c:v>0.75</c:v>
                </c:pt>
                <c:pt idx="1">
                  <c:v>0.65129999999999999</c:v>
                </c:pt>
                <c:pt idx="2">
                  <c:v>0.38219999999999998</c:v>
                </c:pt>
                <c:pt idx="3">
                  <c:v>0.70399999999999996</c:v>
                </c:pt>
                <c:pt idx="4">
                  <c:v>0.48</c:v>
                </c:pt>
                <c:pt idx="5">
                  <c:v>0.79479999999999995</c:v>
                </c:pt>
                <c:pt idx="6">
                  <c:v>0.57140000000000002</c:v>
                </c:pt>
                <c:pt idx="7">
                  <c:v>0.88139999999999996</c:v>
                </c:pt>
                <c:pt idx="8">
                  <c:v>0.77549999999999997</c:v>
                </c:pt>
                <c:pt idx="9">
                  <c:v>0.71189999999999998</c:v>
                </c:pt>
                <c:pt idx="10">
                  <c:v>0.58679999999999999</c:v>
                </c:pt>
                <c:pt idx="11">
                  <c:v>0.80469999999999997</c:v>
                </c:pt>
                <c:pt idx="12">
                  <c:v>0.77159999999999995</c:v>
                </c:pt>
                <c:pt idx="13">
                  <c:v>0.7016</c:v>
                </c:pt>
                <c:pt idx="14">
                  <c:v>0.83330000000000004</c:v>
                </c:pt>
                <c:pt idx="15">
                  <c:v>0.8</c:v>
                </c:pt>
                <c:pt idx="16">
                  <c:v>0.70530000000000004</c:v>
                </c:pt>
                <c:pt idx="17">
                  <c:v>0.75270000000000004</c:v>
                </c:pt>
                <c:pt idx="18">
                  <c:v>0.93269999999999997</c:v>
                </c:pt>
                <c:pt idx="19">
                  <c:v>0.87250000000000005</c:v>
                </c:pt>
                <c:pt idx="20">
                  <c:v>0.75949999999999995</c:v>
                </c:pt>
                <c:pt idx="21">
                  <c:v>0.80210000000000004</c:v>
                </c:pt>
                <c:pt idx="22">
                  <c:v>0.81030000000000002</c:v>
                </c:pt>
                <c:pt idx="23">
                  <c:v>0.82869999999999999</c:v>
                </c:pt>
                <c:pt idx="24">
                  <c:v>0.86029999999999995</c:v>
                </c:pt>
                <c:pt idx="25">
                  <c:v>0.88080000000000003</c:v>
                </c:pt>
                <c:pt idx="26">
                  <c:v>0.58620000000000005</c:v>
                </c:pt>
                <c:pt idx="27">
                  <c:v>0.74629999999999996</c:v>
                </c:pt>
                <c:pt idx="28">
                  <c:v>0.78720000000000001</c:v>
                </c:pt>
                <c:pt idx="29">
                  <c:v>0.84509999999999996</c:v>
                </c:pt>
                <c:pt idx="30">
                  <c:v>0.79139999999999999</c:v>
                </c:pt>
                <c:pt idx="31">
                  <c:v>0.82830000000000004</c:v>
                </c:pt>
                <c:pt idx="32">
                  <c:v>0.75449999999999995</c:v>
                </c:pt>
                <c:pt idx="33">
                  <c:v>0.83040000000000003</c:v>
                </c:pt>
                <c:pt idx="34">
                  <c:v>0.48620000000000002</c:v>
                </c:pt>
                <c:pt idx="35">
                  <c:v>0.73370000000000002</c:v>
                </c:pt>
                <c:pt idx="36">
                  <c:v>0.87560000000000004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3AD-4BF7-9D7D-E5A53159A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70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vs Direct Finetuning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Training Data Size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ViT-Tiny · Oxford-IIIT Pet · 37 Breeds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A5F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comparing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3931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3931920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Finetuning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ViT-Tiny  ·  5.7M params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Gradual unfreeze (all 12 blocks)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teacher — trains from labels only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Data: 10%  /  25%  /  100% of training 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868680"/>
            <a:ext cx="3931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868680"/>
            <a:ext cx="393192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389888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Teacher: ViT-Base (86M, frozen)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Student: ViT-Tiny (5.7M)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Gradual unfreeze + soft-label KL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Data: 10%  /  25%  /  100% of training 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5544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8366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154680"/>
            <a:ext cx="8366760" cy="64008"/>
          </a:xfrm>
          <a:prstGeom prst="rect">
            <a:avLst/>
          </a:prstGeom>
          <a:solidFill>
            <a:srgbClr val="3A5FA0"/>
          </a:solidFill>
          <a:ln w="12700">
            <a:solidFill>
              <a:srgbClr val="3A5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setup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Model: ViT-Tiny patch16 224    |    Dataset: Oxford-IIIT Pet (37 breeds)    |    Stratified splits at 10% and 25%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Batch size: 64    |    Augmentation: erasing + jitter + MixUp + CutMix    |    Early stopping patience: 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5F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F1 across data fractions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accuracy at each data fraction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%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36192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99232" y="914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Acc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53712" y="914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50992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14032" y="914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F1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84124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36192" y="13898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65.63%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99232" y="13898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75.01%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53712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+9.38pt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50992" y="13898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65.38%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14032" y="13898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74.78%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011680"/>
            <a:ext cx="8412480" cy="658368"/>
          </a:xfrm>
          <a:prstGeom prst="rect">
            <a:avLst/>
          </a:prstGeom>
          <a:solidFill>
            <a:srgbClr val="EEF4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103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36192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74.27%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99232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83.07%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53712" y="2103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+8.80pt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50992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74.04%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14032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82.85%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724912"/>
            <a:ext cx="84124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81635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36192" y="28163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84.46%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99232" y="281635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87.54%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53712" y="281635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+3.08pt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50992" y="28163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84.23%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14032" y="281635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87.35%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246120"/>
            <a:ext cx="39776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246120"/>
            <a:ext cx="397764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383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+9.4pt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02920" y="3950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largest gain at 10%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Distillation benefits most when labelled data is scarce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246120"/>
            <a:ext cx="3931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246120"/>
            <a:ext cx="393192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383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+3.1pt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4937760" y="3950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 at 100%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 narrows as labelled data grows, but distillation still wins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 — direct vs distillation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868680"/>
          <a:ext cx="84124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efficiency — what does distillation 'buy' you?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14400"/>
            <a:ext cx="26974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data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Distillation at 25% (83.1%)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≈ Direct finetuning at 100% (84.5%)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needs ~4× less labelled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914400"/>
            <a:ext cx="2697480" cy="64008"/>
          </a:xfrm>
          <a:prstGeom prst="rect">
            <a:avLst/>
          </a:prstGeom>
          <a:solidFill>
            <a:srgbClr val="3A5FA0"/>
          </a:solidFill>
          <a:ln w="12700">
            <a:solidFill>
              <a:srgbClr val="3A5F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0789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data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37560" y="1664208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Distillation at 10% (75.0%)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≈ Direct finetuning at 25% (74.3%)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needs ~2.5× less labelled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91440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0760" y="914400"/>
            <a:ext cx="269748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0789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→ 25%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664208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Adding 25% more data improves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distillation by +8.1pt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 direct: +8.6pt — similar slope</a:t>
            </a:r>
            <a:endParaRPr lang="en-US" sz="11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365760" y="3429000"/>
          <a:ext cx="84124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5F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analysis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— direct vs distillation at 100% data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14400"/>
          <a:ext cx="84124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— distillation across data fractions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640015431"/>
              </p:ext>
            </p:extLst>
          </p:nvPr>
        </p:nvGraphicFramePr>
        <p:xfrm>
          <a:off x="365760" y="914400"/>
          <a:ext cx="84124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A5F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 &amp; conclusions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 vs accuracy — all configurations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029200" cy="566928"/>
          </a:xfrm>
          <a:prstGeom prst="rect">
            <a:avLst/>
          </a:prstGeom>
          <a:solidFill>
            <a:srgbClr val="FFF3EE"/>
          </a:solidFill>
          <a:ln w="508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4864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3327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 10%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0332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19.4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77640" y="10332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65.6%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5029200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27632"/>
            <a:ext cx="5486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007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Distilled 10%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7007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21.9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77640" y="17007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95144"/>
            <a:ext cx="5029200" cy="566928"/>
          </a:xfrm>
          <a:prstGeom prst="rect">
            <a:avLst/>
          </a:prstGeom>
          <a:solidFill>
            <a:srgbClr val="FFF3EE"/>
          </a:solidFill>
          <a:ln w="5080">
            <a:solidFill>
              <a:srgbClr val="E651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95144"/>
            <a:ext cx="54864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682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 25%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36829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33.4 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77640" y="236829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962656"/>
            <a:ext cx="5029200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962656"/>
            <a:ext cx="5486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3580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Distilled 25%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30358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40.6 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77640" y="30358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630168"/>
            <a:ext cx="5029200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630168"/>
            <a:ext cx="5486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033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Distilled 100%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37033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111.2 min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77640" y="37033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297680"/>
            <a:ext cx="5029200" cy="566928"/>
          </a:xfrm>
          <a:prstGeom prst="rect">
            <a:avLst/>
          </a:prstGeom>
          <a:solidFill>
            <a:srgbClr val="FFF3EE"/>
          </a:solidFill>
          <a:ln w="5080">
            <a:solidFill>
              <a:srgbClr val="E651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297680"/>
            <a:ext cx="54864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708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 100%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0" y="43708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142.6 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77640" y="43708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94960" y="960120"/>
            <a:ext cx="33832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94960" y="960120"/>
            <a:ext cx="33832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11247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+13.4pt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5532120" y="1709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more accuracy from distillation at 10%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 direct — for only +2.5 min training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94960" y="2331720"/>
            <a:ext cx="33832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94960" y="2331720"/>
            <a:ext cx="338328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24963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532120" y="3081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25% (33min, 74.3%)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Distilled 10% (22min, 75.0%) — faster AND better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94960" y="3703320"/>
            <a:ext cx="33832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94960" y="3703320"/>
            <a:ext cx="3383280" cy="64008"/>
          </a:xfrm>
          <a:prstGeom prst="rect">
            <a:avLst/>
          </a:prstGeom>
          <a:solidFill>
            <a:srgbClr val="3A5FA0"/>
          </a:solidFill>
          <a:ln w="12700">
            <a:solidFill>
              <a:srgbClr val="3A5F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38679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data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5532120" y="44531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Distilled (111min, 87.5%) vs Direct (143min, 84.5%)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Faster training AND higher accuracy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8412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424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8992" y="109728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Distillation consistently outperforms direct finetuning at every data fraction — by +9.4pt at 10%, +8.8pt at 25%, and +3.1pt at 100%. The gap is largest when data is scarce.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8229600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93392"/>
            <a:ext cx="64008" cy="8412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2996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08483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Distillation at 25% data (83.1%) matches direct finetuning at 100% data (84.5%), achieving equivalent accuracy with 4× fewer labelled examples.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980944"/>
            <a:ext cx="8229600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80944"/>
            <a:ext cx="64008" cy="841248"/>
          </a:xfrm>
          <a:prstGeom prst="rect">
            <a:avLst/>
          </a:prstGeom>
          <a:solidFill>
            <a:srgbClr val="80DEEA"/>
          </a:solidFill>
          <a:ln w="12700">
            <a:solidFill>
              <a:srgbClr val="80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17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8992" y="3072384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Training time advantage: distilled at 100% (111 min, 87.5%) is faster AND more accurate than direct at 100% (143 min, 84.5%) — the teacher provides a more efficient learning signal.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8229600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968496"/>
            <a:ext cx="64008" cy="841248"/>
          </a:xfrm>
          <a:prstGeom prst="rect">
            <a:avLst/>
          </a:prstGeom>
          <a:solidFill>
            <a:srgbClr val="B2EBF2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050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78992" y="4059936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Per-class F1 shows distillation is especially effective on ambiguous breeds (classes 2, 34). Teacher soft-label knowledge transfers class similarity structure that hard labels cannot provide.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612</Words>
  <Application>Microsoft Office PowerPoint</Application>
  <PresentationFormat>On-screen Show (16:9)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Bhaswat Raj</cp:lastModifiedBy>
  <cp:revision>2</cp:revision>
  <dcterms:created xsi:type="dcterms:W3CDTF">2026-05-09T21:55:19Z</dcterms:created>
  <dcterms:modified xsi:type="dcterms:W3CDTF">2026-05-09T22:22:21Z</dcterms:modified>
</cp:coreProperties>
</file>